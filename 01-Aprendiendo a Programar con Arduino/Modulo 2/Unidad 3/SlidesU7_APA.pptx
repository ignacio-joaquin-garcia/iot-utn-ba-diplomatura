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0b1f351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0b1f351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0b1f351f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f0b1f351f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f0b1f351f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f0b1f351f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f0b1f351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f0b1f351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f579fa3c0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f579fa3c0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70c7c52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70c7c52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579fa3c0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f579fa3c0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f0b1f351f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f0b1f351f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579fa3c0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f579fa3c0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f5903827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f5903827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59038279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f59038279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579fa3c0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579fa3c0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f59038279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f59038279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59038279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f59038279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f59038279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f59038279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f59038279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f59038279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59038279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59038279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59038279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f59038279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0C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329375" y="2629150"/>
            <a:ext cx="2863200" cy="19086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La comunicación serie consiste en enviar un bit de start, una serie de bits de datos y finalmente un bit de stop.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El manejo de USART se hace a través de registros. Estos registros están mapeados en la memoria.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4229125" y="2629150"/>
            <a:ext cx="4509900" cy="169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#include SoftwareSerial.h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SoftwareSerial puertoSW(4,5) // rx: 4 tx: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Void setup()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	puertoSW.begin(9600);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Void loop{}</a:t>
            </a:r>
            <a:endParaRPr/>
          </a:p>
        </p:txBody>
      </p:sp>
      <p:sp>
        <p:nvSpPr>
          <p:cNvPr id="76" name="Google Shape;76;p17"/>
          <p:cNvSpPr txBox="1"/>
          <p:nvPr/>
        </p:nvSpPr>
        <p:spPr>
          <a:xfrm>
            <a:off x="2944050" y="126700"/>
            <a:ext cx="325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 u="sng">
                <a:solidFill>
                  <a:schemeClr val="lt1"/>
                </a:solidFill>
              </a:rPr>
              <a:t>Comunicación</a:t>
            </a:r>
            <a:r>
              <a:rPr b="1" i="1" lang="en-GB" sz="1600" u="sng">
                <a:solidFill>
                  <a:schemeClr val="lt1"/>
                </a:solidFill>
              </a:rPr>
              <a:t> Serial</a:t>
            </a:r>
            <a:endParaRPr b="1" i="1" sz="1600" u="sng">
              <a:solidFill>
                <a:schemeClr val="lt1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329375" y="886800"/>
            <a:ext cx="2863200" cy="1262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USART (Universal Synchronus and Asynchronus serial Reciever and Transmitter) es un dispositivo para realizar comunicaciones serie.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5875825" y="886800"/>
            <a:ext cx="2863200" cy="1262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La USART enviará datos en formato TTL compatible serie. Esta señas utiliza, generalmente, los pines 0 y 1 de la mayoría de las placas.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9" name="Google Shape;79;p17"/>
          <p:cNvCxnSpPr>
            <a:stCxn id="76" idx="2"/>
            <a:endCxn id="77" idx="0"/>
          </p:cNvCxnSpPr>
          <p:nvPr/>
        </p:nvCxnSpPr>
        <p:spPr>
          <a:xfrm flipH="1">
            <a:off x="1761000" y="557800"/>
            <a:ext cx="2811000" cy="3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7"/>
          <p:cNvCxnSpPr>
            <a:stCxn id="76" idx="2"/>
            <a:endCxn id="78" idx="0"/>
          </p:cNvCxnSpPr>
          <p:nvPr/>
        </p:nvCxnSpPr>
        <p:spPr>
          <a:xfrm>
            <a:off x="4572000" y="557800"/>
            <a:ext cx="2735400" cy="3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7"/>
          <p:cNvSpPr txBox="1"/>
          <p:nvPr/>
        </p:nvSpPr>
        <p:spPr>
          <a:xfrm>
            <a:off x="4229125" y="4426550"/>
            <a:ext cx="4509900" cy="615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La librería relacionada con este tipo de comunicación es SoftwareSerial.h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1659750" y="324450"/>
            <a:ext cx="5824500" cy="4494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void begin(int baud): inicializa el puerto serie indicando su velocidad en baudios (9600 por defecto)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void print(String) / println(String): envían datos alfanuméricos por el puerto serie, println() finaliza una línea cuando ha terminado de transmitir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 available(void): devuelve el número de bytes a la espera de leerse en el buffer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byte read(void): devuelve un byte leído por el puerto serie, -1 si no hay datos. El dato leído se elimina del buffer.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void write(byte): escribe datos en binario por el puerto serie.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byte peek(void): lee un byte pero no lo elimina del buffer.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void flush(void): limpia los buffers.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void end(void): desactiva el puerto serie.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2C4C9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0" y="0"/>
            <a:ext cx="5599500" cy="2555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startsWith(): indica si el objeto comienza con el string del argumento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Substring(): devuelve el segmento del objeto desde el índice indicado hasta el final. Indicando dos parámetros devuleve el segmento del objeto desde una posición a otra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toCharArray(): copia un numero de bytes indicado desde el objeto al string pasado como argumento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toInt(): devuelve un valor entero de los dígitos del objeto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toLowerCase(), toUpperCase(): pasa el string a minúsculas o mayúsculas respectivamente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trim(): devuelve un string con los espacios eliminados </a:t>
            </a:r>
            <a:endParaRPr/>
          </a:p>
        </p:txBody>
      </p:sp>
      <p:sp>
        <p:nvSpPr>
          <p:cNvPr id="92" name="Google Shape;92;p19"/>
          <p:cNvSpPr txBox="1"/>
          <p:nvPr/>
        </p:nvSpPr>
        <p:spPr>
          <a:xfrm>
            <a:off x="0" y="3234900"/>
            <a:ext cx="3471300" cy="1908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charAt():devuelve el carácter en la posición indicada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compareTo(): compara el string del objeto con el que se pasa como argumento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concat(): concatena el string del objeto con el que se pasa como argumento</a:t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5599500" y="323250"/>
            <a:ext cx="3544500" cy="190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endsWith(): indica si el string del objeto acaba con el string que se pasa como argumento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equals(), equalsIgnoreCase(): indican si el string del objeto y el argumento son iguales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getBytes(): copia un número de bytes desde el argumento al objeto</a:t>
            </a: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3471300" y="3234900"/>
            <a:ext cx="5672700" cy="1908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indexOf(),lastIndexOf(): devuelve el índice donde se encuentra el argumento dentro del objeto. lastIndexOf() empieza al final del objeto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lenght(): devuelve el numero de caracteres del objeto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Replace(): reemplaza todas las instancias del primer argumento en el objeto por el segundo argumento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setCharAt(): escribe un carácter en una posición indicada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2766750" y="2694900"/>
            <a:ext cx="361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 u="sng"/>
              <a:t>Librería String.h</a:t>
            </a:r>
            <a:endParaRPr b="1" i="1" sz="1600" u="sn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313925" y="2882100"/>
            <a:ext cx="3978000" cy="1477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Para esto, es importante que sepamos el concepto de master y slave. La diferencia principal entre estos dos siendo que un slave solo puede conectarse a un master, mientras que el master se puede conectar con varios slaves.</a:t>
            </a:r>
            <a:endParaRPr/>
          </a:p>
        </p:txBody>
      </p:sp>
      <p:sp>
        <p:nvSpPr>
          <p:cNvPr id="101" name="Google Shape;101;p20"/>
          <p:cNvSpPr txBox="1"/>
          <p:nvPr/>
        </p:nvSpPr>
        <p:spPr>
          <a:xfrm>
            <a:off x="5512125" y="2989800"/>
            <a:ext cx="3000000" cy="12621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modelo HC_06 solo puede actuar como esclavo y tiene una menor cantidad de comandos posibles.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2824825" y="70450"/>
            <a:ext cx="355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600" u="sng"/>
              <a:t>Módulo</a:t>
            </a:r>
            <a:r>
              <a:rPr b="1" i="1" lang="en-GB" sz="1600" u="sng"/>
              <a:t> Bluetooth HC_06 y HC_05</a:t>
            </a:r>
            <a:endParaRPr b="1" i="1" sz="1600" u="sng"/>
          </a:p>
        </p:txBody>
      </p:sp>
      <p:sp>
        <p:nvSpPr>
          <p:cNvPr id="103" name="Google Shape;103;p20"/>
          <p:cNvSpPr txBox="1"/>
          <p:nvPr/>
        </p:nvSpPr>
        <p:spPr>
          <a:xfrm>
            <a:off x="491975" y="1114625"/>
            <a:ext cx="3621900" cy="12621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El módulo bluetooth es una herramienta, que nos va a permitir conectarnos de manera inalámbrica usando comunicación serial, con otros dispositivos, como por ejemplo un teléfono.</a:t>
            </a:r>
            <a:endParaRPr/>
          </a:p>
        </p:txBody>
      </p:sp>
      <p:sp>
        <p:nvSpPr>
          <p:cNvPr id="104" name="Google Shape;104;p20"/>
          <p:cNvSpPr txBox="1"/>
          <p:nvPr/>
        </p:nvSpPr>
        <p:spPr>
          <a:xfrm>
            <a:off x="5130825" y="1006925"/>
            <a:ext cx="3762600" cy="14775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Cada uno de estos dispositivos se identifican presentando una dirección única de 48 bits y además un nombre de dispositivo que nos sirva para identificarlo.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Los módulos más frecuentes son el HC_06 Y HC_05</a:t>
            </a:r>
            <a:endParaRPr/>
          </a:p>
        </p:txBody>
      </p:sp>
      <p:cxnSp>
        <p:nvCxnSpPr>
          <p:cNvPr id="105" name="Google Shape;105;p20"/>
          <p:cNvCxnSpPr>
            <a:stCxn id="104" idx="2"/>
            <a:endCxn id="101" idx="0"/>
          </p:cNvCxnSpPr>
          <p:nvPr/>
        </p:nvCxnSpPr>
        <p:spPr>
          <a:xfrm>
            <a:off x="7012125" y="2484425"/>
            <a:ext cx="0" cy="5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20"/>
          <p:cNvCxnSpPr>
            <a:stCxn id="103" idx="3"/>
            <a:endCxn id="104" idx="1"/>
          </p:cNvCxnSpPr>
          <p:nvPr/>
        </p:nvCxnSpPr>
        <p:spPr>
          <a:xfrm>
            <a:off x="4113875" y="1745675"/>
            <a:ext cx="101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20"/>
          <p:cNvCxnSpPr>
            <a:stCxn id="103" idx="2"/>
            <a:endCxn id="100" idx="0"/>
          </p:cNvCxnSpPr>
          <p:nvPr/>
        </p:nvCxnSpPr>
        <p:spPr>
          <a:xfrm>
            <a:off x="2302925" y="2376725"/>
            <a:ext cx="0" cy="50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20"/>
          <p:cNvCxnSpPr>
            <a:stCxn id="100" idx="3"/>
            <a:endCxn id="101" idx="1"/>
          </p:cNvCxnSpPr>
          <p:nvPr/>
        </p:nvCxnSpPr>
        <p:spPr>
          <a:xfrm>
            <a:off x="4291925" y="3620850"/>
            <a:ext cx="122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487963" y="3792250"/>
            <a:ext cx="4712700" cy="1046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realidad, la conexión de 5V, no es la mejor, ya que el </a:t>
            </a:r>
            <a:r>
              <a:rPr lang="en-GB"/>
              <a:t>módulo</a:t>
            </a:r>
            <a:r>
              <a:rPr lang="en-GB"/>
              <a:t> bluetooth trabaja con 3.3V pero resiste la conexión de 5V, en clase veremos como usar unas resistencias para contrarrestar este problema.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8500"/>
            <a:ext cx="5383824" cy="27276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5789600" y="798500"/>
            <a:ext cx="3217800" cy="2124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Como vemos, no estamos usando los cables tx y rx predeterminados del Arduino, sino que vamos a crear pines de transmisión y recepción de datos nuevos.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El pin 9 va a ir a transmisión del módulo pero va a ser definido como recepción con software Serial y el pin 10 la combinación opuesta.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286050" y="101350"/>
            <a:ext cx="257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HC_05</a:t>
            </a:r>
            <a:endParaRPr b="1" sz="1600"/>
          </a:p>
        </p:txBody>
      </p:sp>
      <p:sp>
        <p:nvSpPr>
          <p:cNvPr id="117" name="Google Shape;117;p21"/>
          <p:cNvSpPr txBox="1"/>
          <p:nvPr/>
        </p:nvSpPr>
        <p:spPr>
          <a:xfrm>
            <a:off x="5789600" y="3447550"/>
            <a:ext cx="3217800" cy="1391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El HC_05 dispone de 6 pines, muchas más configuraciones y comandos que HC_06, como también la capacidad de comportarse tanto como master y slave.</a:t>
            </a:r>
            <a:endParaRPr/>
          </a:p>
        </p:txBody>
      </p:sp>
      <p:cxnSp>
        <p:nvCxnSpPr>
          <p:cNvPr id="118" name="Google Shape;118;p21"/>
          <p:cNvCxnSpPr>
            <a:stCxn id="115" idx="2"/>
            <a:endCxn id="117" idx="0"/>
          </p:cNvCxnSpPr>
          <p:nvPr/>
        </p:nvCxnSpPr>
        <p:spPr>
          <a:xfrm>
            <a:off x="7398500" y="2922500"/>
            <a:ext cx="0" cy="5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/>
        </p:nvSpPr>
        <p:spPr>
          <a:xfrm>
            <a:off x="2798400" y="114000"/>
            <a:ext cx="35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Comandos AT</a:t>
            </a:r>
            <a:endParaRPr b="1" i="1" sz="1800" u="sng"/>
          </a:p>
        </p:txBody>
      </p:sp>
      <p:sp>
        <p:nvSpPr>
          <p:cNvPr id="124" name="Google Shape;124;p22"/>
          <p:cNvSpPr txBox="1"/>
          <p:nvPr/>
        </p:nvSpPr>
        <p:spPr>
          <a:xfrm>
            <a:off x="0" y="646100"/>
            <a:ext cx="9144000" cy="2339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 chequea conexión.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AT+VERSION, Requiere la versión del Firmware.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AT+NAME, Requiere que nos informe del nombre que tiene asignado el </a:t>
            </a:r>
            <a:r>
              <a:rPr lang="en-GB">
                <a:solidFill>
                  <a:schemeClr val="dk1"/>
                </a:solidFill>
              </a:rPr>
              <a:t>módulo</a:t>
            </a:r>
            <a:r>
              <a:rPr lang="en-GB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AT+NAME=XXXX, programa el nombre que queremos presentar cuando alguien nos localice.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AT+BAUD, nos permite solicitar la velocidad a la que está programado el </a:t>
            </a:r>
            <a:r>
              <a:rPr lang="en-GB">
                <a:solidFill>
                  <a:schemeClr val="dk1"/>
                </a:solidFill>
              </a:rPr>
              <a:t>módulo</a:t>
            </a:r>
            <a:r>
              <a:rPr lang="en-GB">
                <a:solidFill>
                  <a:schemeClr val="dk1"/>
                </a:solidFill>
              </a:rPr>
              <a:t> para hablar con Arduino, y AT+BAUDX, Fija la velocidad de comunicación entre el </a:t>
            </a:r>
            <a:r>
              <a:rPr lang="en-GB">
                <a:solidFill>
                  <a:schemeClr val="dk1"/>
                </a:solidFill>
              </a:rPr>
              <a:t>módulo</a:t>
            </a:r>
            <a:r>
              <a:rPr lang="en-GB">
                <a:solidFill>
                  <a:schemeClr val="dk1"/>
                </a:solidFill>
              </a:rPr>
              <a:t> y la consola.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AT+PIN, Solicita el PIN actual.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AT+PINXXXX, configura el número de identificación personal, que se requerirá para establecer la vinculación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El PIN es de 4 dígitos siempre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-19050" y="3235275"/>
            <a:ext cx="9182100" cy="1477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Básicamente estos son los mismos comandos que aceptaba el módulo HC-06 pero el HC-05 acepta bastante más.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AT+ROLE Nos informa de si está configurado como Maestro 1, o como esclavo 0.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ROLE=0    (Esclavo)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AT+ROLE=1  Configura el modulo como Master.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AT+ROLE=0  Configura el modulo como Slave.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3072000" y="1520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HC_06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75" y="735525"/>
            <a:ext cx="57340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76300" y="3856000"/>
            <a:ext cx="5734200" cy="845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Como no queremos interrumpir la comunicación nativa del Arduino (pines 0 y 1), vamos a usar 2 pines nuevos para generar una comunicación serial nueva. Usaremos el 3 para recepción y el 4 para transmisión.</a:t>
            </a:r>
            <a:endParaRPr sz="1500"/>
          </a:p>
        </p:txBody>
      </p:sp>
      <p:sp>
        <p:nvSpPr>
          <p:cNvPr id="133" name="Google Shape;133;p23"/>
          <p:cNvSpPr txBox="1"/>
          <p:nvPr/>
        </p:nvSpPr>
        <p:spPr>
          <a:xfrm>
            <a:off x="5966975" y="1663988"/>
            <a:ext cx="3000000" cy="895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El HC_06 consta de 4 pines, dos para energía y 2 para comunicación.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122675" y="1066375"/>
            <a:ext cx="3445800" cy="1046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mit app inventor es una aplicación web creada por estudiantes de mit que nos permite crear aplicaciones y descargarlas a nuestro celular. </a:t>
            </a:r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4572000" y="2779175"/>
            <a:ext cx="4408800" cy="615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Primero iremos a ai2.appinventor.mit.edu y creamos un usuario.</a:t>
            </a:r>
            <a:endParaRPr/>
          </a:p>
        </p:txBody>
      </p:sp>
      <p:sp>
        <p:nvSpPr>
          <p:cNvPr id="140" name="Google Shape;140;p24"/>
          <p:cNvSpPr txBox="1"/>
          <p:nvPr/>
        </p:nvSpPr>
        <p:spPr>
          <a:xfrm>
            <a:off x="3072000" y="1140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MIT App Inventor</a:t>
            </a:r>
            <a:endParaRPr b="1" i="1" sz="1800" u="sng"/>
          </a:p>
        </p:txBody>
      </p:sp>
      <p:sp>
        <p:nvSpPr>
          <p:cNvPr id="141" name="Google Shape;141;p24"/>
          <p:cNvSpPr txBox="1"/>
          <p:nvPr/>
        </p:nvSpPr>
        <p:spPr>
          <a:xfrm>
            <a:off x="4572000" y="1174075"/>
            <a:ext cx="4408800" cy="831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Funciona en base a un sistema muy visual e interactivo de bloques que nos permite crear aplicaciones sin nunca utilizar código.</a:t>
            </a:r>
            <a:endParaRPr/>
          </a:p>
        </p:txBody>
      </p:sp>
      <p:sp>
        <p:nvSpPr>
          <p:cNvPr id="142" name="Google Shape;142;p24"/>
          <p:cNvSpPr txBox="1"/>
          <p:nvPr/>
        </p:nvSpPr>
        <p:spPr>
          <a:xfrm>
            <a:off x="97325" y="2455925"/>
            <a:ext cx="3496500" cy="12621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Empezamos creando nuestra interfaz con la pestaña de designer (sobre el margen derecho).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Armamos los “bloques” de código con la pestaña blocks(a la derecha de designer). </a:t>
            </a:r>
            <a:endParaRPr/>
          </a:p>
        </p:txBody>
      </p:sp>
      <p:cxnSp>
        <p:nvCxnSpPr>
          <p:cNvPr id="143" name="Google Shape;143;p24"/>
          <p:cNvCxnSpPr>
            <a:stCxn id="138" idx="3"/>
            <a:endCxn id="141" idx="1"/>
          </p:cNvCxnSpPr>
          <p:nvPr/>
        </p:nvCxnSpPr>
        <p:spPr>
          <a:xfrm>
            <a:off x="3568475" y="1589725"/>
            <a:ext cx="100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4"/>
          <p:cNvCxnSpPr>
            <a:stCxn id="141" idx="2"/>
            <a:endCxn id="139" idx="0"/>
          </p:cNvCxnSpPr>
          <p:nvPr/>
        </p:nvCxnSpPr>
        <p:spPr>
          <a:xfrm>
            <a:off x="6776400" y="2005375"/>
            <a:ext cx="0" cy="77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4"/>
          <p:cNvCxnSpPr>
            <a:stCxn id="139" idx="1"/>
            <a:endCxn id="142" idx="3"/>
          </p:cNvCxnSpPr>
          <p:nvPr/>
        </p:nvCxnSpPr>
        <p:spPr>
          <a:xfrm rot="10800000">
            <a:off x="3593700" y="3086975"/>
            <a:ext cx="97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7700"/>
            <a:ext cx="9144001" cy="46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923400" y="76000"/>
            <a:ext cx="72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Sección</a:t>
            </a:r>
            <a:r>
              <a:rPr b="1" i="1" lang="en-GB" sz="1800" u="sng"/>
              <a:t> de Diseño</a:t>
            </a:r>
            <a:endParaRPr b="1" i="1" sz="1800" u="sn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075"/>
            <a:ext cx="9144001" cy="46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923400" y="70375"/>
            <a:ext cx="72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Disposición</a:t>
            </a:r>
            <a:r>
              <a:rPr b="1" i="1" lang="en-GB" sz="1800" u="sng"/>
              <a:t> de la </a:t>
            </a:r>
            <a:r>
              <a:rPr b="1" i="1" lang="en-GB" sz="1800" u="sng"/>
              <a:t>aplicación</a:t>
            </a:r>
            <a:r>
              <a:rPr b="1" i="1" lang="en-GB" sz="1800" u="sng"/>
              <a:t> </a:t>
            </a:r>
            <a:endParaRPr b="1" i="1" sz="1800" u="sn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4750"/>
            <a:ext cx="9144001" cy="46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923400" y="83050"/>
            <a:ext cx="72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Bloques de </a:t>
            </a:r>
            <a:r>
              <a:rPr b="1" i="1" lang="en-GB" sz="1800" u="sng"/>
              <a:t>código</a:t>
            </a:r>
            <a:r>
              <a:rPr b="1" i="1" lang="en-GB" sz="1800" u="sng"/>
              <a:t> </a:t>
            </a:r>
            <a:endParaRPr b="1" i="1" sz="1800" u="sn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684475"/>
            <a:ext cx="5734050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923400" y="83050"/>
            <a:ext cx="72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Bloques de código (</a:t>
            </a:r>
            <a:r>
              <a:rPr b="1" i="1" lang="en-GB" sz="1800" u="sng"/>
              <a:t>Conexión</a:t>
            </a:r>
            <a:r>
              <a:rPr b="1" i="1" lang="en-GB" sz="1800" u="sng"/>
              <a:t> y funciones) </a:t>
            </a:r>
            <a:endParaRPr b="1" i="1" sz="1800" u="sng"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300" y="2900650"/>
            <a:ext cx="4103389" cy="20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/>
        </p:nvSpPr>
        <p:spPr>
          <a:xfrm>
            <a:off x="923400" y="83050"/>
            <a:ext cx="72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Auto a control remoto por </a:t>
            </a:r>
            <a:r>
              <a:rPr b="1" i="1" lang="en-GB" sz="1800" u="sng"/>
              <a:t>aplicación</a:t>
            </a:r>
            <a:r>
              <a:rPr b="1" i="1" lang="en-GB" sz="1800" u="sng"/>
              <a:t>.</a:t>
            </a:r>
            <a:endParaRPr b="1" i="1" sz="1800" u="sng"/>
          </a:p>
        </p:txBody>
      </p:sp>
      <p:sp>
        <p:nvSpPr>
          <p:cNvPr id="176" name="Google Shape;176;p29"/>
          <p:cNvSpPr txBox="1"/>
          <p:nvPr/>
        </p:nvSpPr>
        <p:spPr>
          <a:xfrm>
            <a:off x="240700" y="2156100"/>
            <a:ext cx="3230400" cy="831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 </a:t>
            </a:r>
            <a:r>
              <a:rPr lang="en-GB"/>
              <a:t>código</a:t>
            </a:r>
            <a:r>
              <a:rPr lang="en-GB"/>
              <a:t> del auto lo tenemos hecho de la unidad anterior. Ahora lo que le debemos agregar es: </a:t>
            </a:r>
            <a:endParaRPr/>
          </a:p>
        </p:txBody>
      </p:sp>
      <p:sp>
        <p:nvSpPr>
          <p:cNvPr id="177" name="Google Shape;177;p29"/>
          <p:cNvSpPr txBox="1"/>
          <p:nvPr/>
        </p:nvSpPr>
        <p:spPr>
          <a:xfrm>
            <a:off x="3825950" y="785450"/>
            <a:ext cx="4712700" cy="831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Código</a:t>
            </a:r>
            <a:r>
              <a:rPr lang="en-GB"/>
              <a:t> para comunicarse con el celular, entonces, debemos tener una estructura que </a:t>
            </a:r>
            <a:r>
              <a:rPr lang="en-GB"/>
              <a:t>esté</a:t>
            </a:r>
            <a:r>
              <a:rPr lang="en-GB"/>
              <a:t> siempre esperando a ver </a:t>
            </a:r>
            <a:r>
              <a:rPr lang="en-GB"/>
              <a:t>si</a:t>
            </a:r>
            <a:r>
              <a:rPr lang="en-GB"/>
              <a:t> hay datos en el buffer para ser </a:t>
            </a:r>
            <a:r>
              <a:rPr lang="en-GB"/>
              <a:t>leídos</a:t>
            </a:r>
            <a:r>
              <a:rPr lang="en-GB"/>
              <a:t>.</a:t>
            </a:r>
            <a:endParaRPr/>
          </a:p>
        </p:txBody>
      </p:sp>
      <p:sp>
        <p:nvSpPr>
          <p:cNvPr id="178" name="Google Shape;178;p29"/>
          <p:cNvSpPr txBox="1"/>
          <p:nvPr/>
        </p:nvSpPr>
        <p:spPr>
          <a:xfrm>
            <a:off x="4567100" y="2156100"/>
            <a:ext cx="3230400" cy="831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Dentro de la </a:t>
            </a:r>
            <a:r>
              <a:rPr lang="en-GB"/>
              <a:t>aplicación</a:t>
            </a:r>
            <a:r>
              <a:rPr lang="en-GB"/>
              <a:t>, vamos a tener 5 botones, uno para cada </a:t>
            </a:r>
            <a:r>
              <a:rPr lang="en-GB"/>
              <a:t>dirección</a:t>
            </a:r>
            <a:r>
              <a:rPr lang="en-GB"/>
              <a:t> y uno para detener o arrancar el auto.</a:t>
            </a:r>
            <a:endParaRPr/>
          </a:p>
        </p:txBody>
      </p:sp>
      <p:sp>
        <p:nvSpPr>
          <p:cNvPr id="179" name="Google Shape;179;p29"/>
          <p:cNvSpPr txBox="1"/>
          <p:nvPr/>
        </p:nvSpPr>
        <p:spPr>
          <a:xfrm>
            <a:off x="3825950" y="3526750"/>
            <a:ext cx="4712700" cy="1046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Una estructura </a:t>
            </a:r>
            <a:r>
              <a:rPr lang="en-GB"/>
              <a:t>física</a:t>
            </a:r>
            <a:r>
              <a:rPr lang="en-GB"/>
              <a:t> con 2 motores DC y una rueda no motorizada con la capacidad de girar para todas las direcciones, con lo </a:t>
            </a:r>
            <a:r>
              <a:rPr lang="en-GB"/>
              <a:t>cuál</a:t>
            </a:r>
            <a:r>
              <a:rPr lang="en-GB"/>
              <a:t>, para ir a la derecha, la rueda izquierda se mueve y la derecha queda fijada.</a:t>
            </a:r>
            <a:endParaRPr/>
          </a:p>
        </p:txBody>
      </p:sp>
      <p:cxnSp>
        <p:nvCxnSpPr>
          <p:cNvPr id="180" name="Google Shape;180;p29"/>
          <p:cNvCxnSpPr>
            <a:stCxn id="176" idx="3"/>
            <a:endCxn id="177" idx="1"/>
          </p:cNvCxnSpPr>
          <p:nvPr/>
        </p:nvCxnSpPr>
        <p:spPr>
          <a:xfrm flipH="1" rot="10800000">
            <a:off x="3471100" y="1201050"/>
            <a:ext cx="354900" cy="137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9"/>
          <p:cNvCxnSpPr>
            <a:stCxn id="176" idx="3"/>
            <a:endCxn id="178" idx="1"/>
          </p:cNvCxnSpPr>
          <p:nvPr/>
        </p:nvCxnSpPr>
        <p:spPr>
          <a:xfrm>
            <a:off x="3471100" y="2571750"/>
            <a:ext cx="109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9"/>
          <p:cNvCxnSpPr>
            <a:stCxn id="176" idx="3"/>
            <a:endCxn id="179" idx="1"/>
          </p:cNvCxnSpPr>
          <p:nvPr/>
        </p:nvCxnSpPr>
        <p:spPr>
          <a:xfrm>
            <a:off x="3471100" y="2571750"/>
            <a:ext cx="354900" cy="147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/>
        </p:nvSpPr>
        <p:spPr>
          <a:xfrm>
            <a:off x="311700" y="1520250"/>
            <a:ext cx="2703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lt1"/>
                </a:solidFill>
              </a:rPr>
              <a:t>Unirse a la conversación en el foro bajo la consigna: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 sz="1600" u="sng">
                <a:solidFill>
                  <a:schemeClr val="lt1"/>
                </a:solidFill>
              </a:rPr>
              <a:t>¿De qué manera controlarías tu proyecto mediante comunicación bluetooth? ¿Sería una app?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