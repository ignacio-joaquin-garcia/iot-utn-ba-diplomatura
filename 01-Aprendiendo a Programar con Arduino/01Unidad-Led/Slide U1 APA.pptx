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6">
          <p15:clr>
            <a:srgbClr val="9AA0A6"/>
          </p15:clr>
        </p15:guide>
        <p15:guide id="2" pos="737">
          <p15:clr>
            <a:srgbClr val="9AA0A6"/>
          </p15:clr>
        </p15:guide>
        <p15:guide id="3" pos="5587">
          <p15:clr>
            <a:srgbClr val="9AA0A6"/>
          </p15:clr>
        </p15:guide>
        <p15:guide id="4" orient="horz" pos="3084">
          <p15:clr>
            <a:srgbClr val="9AA0A6"/>
          </p15:clr>
        </p15:guide>
        <p15:guide id="5" orient="horz" pos="540">
          <p15:clr>
            <a:srgbClr val="9AA0A6"/>
          </p15:clr>
        </p15:guide>
      </p15:sldGuideLst>
    </p:ext>
    <p:ext uri="http://customooxmlschemas.google.com/">
      <go:slidesCustomData xmlns:go="http://customooxmlschemas.google.com/" r:id="rId31" roundtripDataSignature="AMtx7miikzBSIJLc5krCubkGbsgATni+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598BFA-3A8B-4477-8BC1-98E481AFADDD}">
  <a:tblStyle styleId="{57598BFA-3A8B-4477-8BC1-98E481AFADDD}"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6" orient="horz"/>
        <p:guide pos="737"/>
        <p:guide pos="5587"/>
        <p:guide pos="3084" orient="horz"/>
        <p:guide pos="54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2333825d1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12333825d17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273430ec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1273430ecb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258892fe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1258892fe63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58892fe6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1258892fe63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58892fe63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1258892fe63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258892fe6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1258892fe63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58892fe6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1258892fe63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58892fe63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1258892fe63_0_5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258892fe6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1258892fe63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22dc1a69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22dc1a69f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22dc1a69f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122dc1a69f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58892fe6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1258892fe63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25f2de29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125f2de292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258892fe6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258892fe63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258892fe63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1258892fe63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258892fe6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1258892fe63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258892fe6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1258892fe63_0_2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273430ecb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1273430ecbc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58892fe63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1258892fe63_0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258892fe63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1258892fe63_0_2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258892fe63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1258892fe63_0_3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jp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0" t="0"/>
          <a:stretch/>
        </p:blipFill>
        <p:spPr>
          <a:xfrm>
            <a:off x="6927800" y="4643150"/>
            <a:ext cx="2095500" cy="390525"/>
          </a:xfrm>
          <a:prstGeom prst="rect">
            <a:avLst/>
          </a:prstGeom>
          <a:noFill/>
          <a:ln>
            <a:noFill/>
          </a:ln>
        </p:spPr>
      </p:pic>
      <p:pic>
        <p:nvPicPr>
          <p:cNvPr id="55" name="Google Shape;55;p1"/>
          <p:cNvPicPr preferRelativeResize="0"/>
          <p:nvPr/>
        </p:nvPicPr>
        <p:blipFill rotWithShape="1">
          <a:blip r:embed="rId4">
            <a:alphaModFix/>
          </a:blip>
          <a:srcRect b="7142" l="2735" r="6701" t="27251"/>
          <a:stretch/>
        </p:blipFill>
        <p:spPr>
          <a:xfrm>
            <a:off x="0" y="0"/>
            <a:ext cx="9144003" cy="4415428"/>
          </a:xfrm>
          <a:prstGeom prst="rect">
            <a:avLst/>
          </a:prstGeom>
          <a:noFill/>
          <a:ln>
            <a:noFill/>
          </a:ln>
        </p:spPr>
      </p:pic>
      <p:sp>
        <p:nvSpPr>
          <p:cNvPr id="56" name="Google Shape;56;p1"/>
          <p:cNvSpPr/>
          <p:nvPr/>
        </p:nvSpPr>
        <p:spPr>
          <a:xfrm>
            <a:off x="0" y="0"/>
            <a:ext cx="7429500" cy="4415425"/>
          </a:xfrm>
          <a:prstGeom prst="flowChartInputOutput">
            <a:avLst/>
          </a:prstGeom>
          <a:solidFill>
            <a:srgbClr val="BC182C">
              <a:alpha val="6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txBox="1"/>
          <p:nvPr>
            <p:ph type="ctrTitle"/>
          </p:nvPr>
        </p:nvSpPr>
        <p:spPr>
          <a:xfrm>
            <a:off x="1086150" y="1954075"/>
            <a:ext cx="5429100" cy="1151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s" sz="2900">
                <a:solidFill>
                  <a:schemeClr val="lt1"/>
                </a:solidFill>
              </a:rPr>
              <a:t>Bienvenidos al Universo de la Programación: Arduino</a:t>
            </a:r>
            <a:endParaRPr b="1" sz="2900">
              <a:solidFill>
                <a:schemeClr val="lt1"/>
              </a:solidFill>
              <a:latin typeface="Arial"/>
              <a:ea typeface="Arial"/>
              <a:cs typeface="Arial"/>
              <a:sym typeface="Arial"/>
            </a:endParaRPr>
          </a:p>
        </p:txBody>
      </p:sp>
      <p:sp>
        <p:nvSpPr>
          <p:cNvPr id="58" name="Google Shape;58;p1"/>
          <p:cNvSpPr txBox="1"/>
          <p:nvPr>
            <p:ph type="ctrTitle"/>
          </p:nvPr>
        </p:nvSpPr>
        <p:spPr>
          <a:xfrm>
            <a:off x="1093800" y="1575225"/>
            <a:ext cx="5340000" cy="3906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s" sz="1800" u="sng">
                <a:solidFill>
                  <a:schemeClr val="lt1"/>
                </a:solidFill>
              </a:rPr>
              <a:t>Unidad 1</a:t>
            </a:r>
            <a:endParaRPr sz="1800" u="sng">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4048" l="0" r="0" t="12442"/>
          <a:stretch/>
        </p:blipFill>
        <p:spPr>
          <a:xfrm>
            <a:off x="0" y="0"/>
            <a:ext cx="9144000" cy="5143498"/>
          </a:xfrm>
          <a:prstGeom prst="rect">
            <a:avLst/>
          </a:prstGeom>
          <a:noFill/>
          <a:ln>
            <a:noFill/>
          </a:ln>
        </p:spPr>
      </p:pic>
      <p:sp>
        <p:nvSpPr>
          <p:cNvPr id="64" name="Google Shape;64;p2"/>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cxnSp>
        <p:nvCxnSpPr>
          <p:cNvPr id="66" name="Google Shape;66;p2"/>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67" name="Google Shape;67;p2"/>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68" name="Google Shape;68;p2"/>
          <p:cNvSpPr txBox="1"/>
          <p:nvPr>
            <p:ph idx="4294967295" type="ctrTitle"/>
          </p:nvPr>
        </p:nvSpPr>
        <p:spPr>
          <a:xfrm>
            <a:off x="1812600" y="2011202"/>
            <a:ext cx="5518800" cy="113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Arduino y la </a:t>
            </a:r>
            <a:r>
              <a:rPr b="1" lang="es" sz="2600">
                <a:solidFill>
                  <a:schemeClr val="lt1"/>
                </a:solidFill>
              </a:rPr>
              <a:t>programación</a:t>
            </a:r>
            <a:r>
              <a:rPr b="1" lang="es" sz="2600">
                <a:solidFill>
                  <a:schemeClr val="lt1"/>
                </a:solidFill>
              </a:rPr>
              <a:t>: ¿Qué son y como los vamos a utilizar?</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g12333825d17_2_0"/>
          <p:cNvSpPr/>
          <p:nvPr/>
        </p:nvSpPr>
        <p:spPr>
          <a:xfrm>
            <a:off x="1308550" y="1212350"/>
            <a:ext cx="6474600" cy="8217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g12333825d17_2_0"/>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cxnSp>
        <p:nvCxnSpPr>
          <p:cNvPr id="75" name="Google Shape;75;g12333825d17_2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76" name="Google Shape;76;g12333825d17_2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77" name="Google Shape;77;g12333825d17_2_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s" sz="3000" u="none" cap="none" strike="noStrike">
                <a:solidFill>
                  <a:srgbClr val="434343"/>
                </a:solidFill>
                <a:latin typeface="Arial"/>
                <a:ea typeface="Arial"/>
                <a:cs typeface="Arial"/>
                <a:sym typeface="Arial"/>
              </a:rPr>
              <a:t>Arduino</a:t>
            </a:r>
            <a:endParaRPr b="1" i="0" sz="3000" u="none" cap="none" strike="noStrike">
              <a:solidFill>
                <a:srgbClr val="000000"/>
              </a:solidFill>
              <a:latin typeface="Arial"/>
              <a:ea typeface="Arial"/>
              <a:cs typeface="Arial"/>
              <a:sym typeface="Arial"/>
            </a:endParaRPr>
          </a:p>
        </p:txBody>
      </p:sp>
      <p:sp>
        <p:nvSpPr>
          <p:cNvPr id="78" name="Google Shape;78;g12333825d17_2_0"/>
          <p:cNvSpPr txBox="1"/>
          <p:nvPr/>
        </p:nvSpPr>
        <p:spPr>
          <a:xfrm>
            <a:off x="1451500" y="1342550"/>
            <a:ext cx="6230100" cy="774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s" sz="1600" u="none" cap="none" strike="noStrike">
                <a:solidFill>
                  <a:schemeClr val="lt1"/>
                </a:solidFill>
                <a:latin typeface="Arial"/>
                <a:ea typeface="Arial"/>
                <a:cs typeface="Arial"/>
                <a:sym typeface="Arial"/>
              </a:rPr>
              <a:t>Arduino es una plataforma de electrónica open-source basada en un hardware y software fácil de aprender y utilizar.</a:t>
            </a:r>
            <a:r>
              <a:rPr b="0" i="0" lang="es" sz="1600" u="none" cap="none" strike="noStrike">
                <a:solidFill>
                  <a:schemeClr val="dk1"/>
                </a:solidFill>
                <a:latin typeface="Arial"/>
                <a:ea typeface="Arial"/>
                <a:cs typeface="Arial"/>
                <a:sym typeface="Arial"/>
              </a:rPr>
              <a:t> </a:t>
            </a:r>
            <a:endParaRPr b="0" i="0" sz="16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rgbClr val="55627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t/>
            </a:r>
            <a:endParaRPr b="0" i="0" sz="1400" u="none" cap="none" strike="noStrike">
              <a:solidFill>
                <a:schemeClr val="lt1"/>
              </a:solidFill>
              <a:highlight>
                <a:srgbClr val="556271"/>
              </a:highlight>
              <a:latin typeface="Arial"/>
              <a:ea typeface="Arial"/>
              <a:cs typeface="Arial"/>
              <a:sym typeface="Arial"/>
            </a:endParaRPr>
          </a:p>
        </p:txBody>
      </p:sp>
      <p:sp>
        <p:nvSpPr>
          <p:cNvPr id="79" name="Google Shape;79;g12333825d17_2_0"/>
          <p:cNvSpPr/>
          <p:nvPr/>
        </p:nvSpPr>
        <p:spPr>
          <a:xfrm>
            <a:off x="300300" y="2394550"/>
            <a:ext cx="8543400" cy="15366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00">
                <a:solidFill>
                  <a:schemeClr val="lt1"/>
                </a:solidFill>
              </a:rPr>
              <a:t>Es ideal para personas que quieran aprender a programar ya que no solo cuenta con las características que dije recién, sino que además cuenta con una comunidad enorme de programadores, ingenieros o simplemente aficionados que vuelcan su conocimiento en varios foros, videos y libros formando así una red enorme de información en diversos espacios y de diversas fuentes.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g1273430ecbc_0_0"/>
          <p:cNvSpPr/>
          <p:nvPr/>
        </p:nvSpPr>
        <p:spPr>
          <a:xfrm>
            <a:off x="1334700" y="1540788"/>
            <a:ext cx="6474600" cy="8217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sz="1600">
                <a:solidFill>
                  <a:schemeClr val="lt1"/>
                </a:solidFill>
              </a:rPr>
              <a:t>Programar, es determinar, crear y ejecutar un conjunto de pasos sucesivos buscando cumplir un objetivo </a:t>
            </a:r>
            <a:r>
              <a:rPr lang="es" sz="1600">
                <a:solidFill>
                  <a:schemeClr val="lt1"/>
                </a:solidFill>
              </a:rPr>
              <a:t>específico</a:t>
            </a:r>
            <a:r>
              <a:rPr lang="es" sz="1600">
                <a:solidFill>
                  <a:schemeClr val="lt1"/>
                </a:solidFill>
              </a:rPr>
              <a:t>. Ese conjunto de pasos sucesivos o relacionados, es lo que se conoce como algoritmo</a:t>
            </a:r>
            <a:r>
              <a:rPr lang="es"/>
              <a:t>. </a:t>
            </a:r>
            <a:endParaRPr b="0" i="0" sz="1400" u="none" cap="none" strike="noStrike">
              <a:solidFill>
                <a:srgbClr val="000000"/>
              </a:solidFill>
              <a:latin typeface="Arial"/>
              <a:ea typeface="Arial"/>
              <a:cs typeface="Arial"/>
              <a:sym typeface="Arial"/>
            </a:endParaRPr>
          </a:p>
        </p:txBody>
      </p:sp>
      <p:sp>
        <p:nvSpPr>
          <p:cNvPr id="85" name="Google Shape;85;g1273430ecbc_0_0"/>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cxnSp>
        <p:nvCxnSpPr>
          <p:cNvPr id="86" name="Google Shape;86;g1273430ecbc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87" name="Google Shape;87;g1273430ecbc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88" name="Google Shape;88;g1273430ecbc_0_0"/>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La </a:t>
            </a:r>
            <a:r>
              <a:rPr b="1" lang="es" sz="3000">
                <a:solidFill>
                  <a:srgbClr val="434343"/>
                </a:solidFill>
              </a:rPr>
              <a:t>programación</a:t>
            </a:r>
            <a:endParaRPr b="1" i="0" sz="3000" u="none" cap="none" strike="noStrike">
              <a:solidFill>
                <a:srgbClr val="000000"/>
              </a:solidFill>
              <a:latin typeface="Arial"/>
              <a:ea typeface="Arial"/>
              <a:cs typeface="Arial"/>
              <a:sym typeface="Arial"/>
            </a:endParaRPr>
          </a:p>
        </p:txBody>
      </p:sp>
      <p:sp>
        <p:nvSpPr>
          <p:cNvPr id="89" name="Google Shape;89;g1273430ecbc_0_0"/>
          <p:cNvSpPr/>
          <p:nvPr/>
        </p:nvSpPr>
        <p:spPr>
          <a:xfrm>
            <a:off x="1048800" y="2477113"/>
            <a:ext cx="7046400" cy="11256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sz="1600">
                <a:solidFill>
                  <a:schemeClr val="lt1"/>
                </a:solidFill>
              </a:rPr>
              <a:t>Nosotros lo que hacemos cuando programamos, es crear un conjunto de algoritmos interrelacionados, que al ejecutarse, nos </a:t>
            </a:r>
            <a:r>
              <a:rPr lang="es" sz="1600">
                <a:solidFill>
                  <a:schemeClr val="lt1"/>
                </a:solidFill>
              </a:rPr>
              <a:t>permitirán</a:t>
            </a:r>
            <a:r>
              <a:rPr lang="es" sz="1600">
                <a:solidFill>
                  <a:schemeClr val="lt1"/>
                </a:solidFill>
              </a:rPr>
              <a:t> ejecutar un conjunto de funcionalidades </a:t>
            </a:r>
            <a:r>
              <a:rPr lang="es" sz="1600">
                <a:solidFill>
                  <a:schemeClr val="lt1"/>
                </a:solidFill>
              </a:rPr>
              <a:t>físicas</a:t>
            </a:r>
            <a:r>
              <a:rPr lang="es" sz="1600">
                <a:solidFill>
                  <a:schemeClr val="lt1"/>
                </a:solidFill>
              </a:rPr>
              <a:t> con las que el usuario, gracias a Arduino, puede interactuar.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cxnSp>
        <p:nvCxnSpPr>
          <p:cNvPr id="94" name="Google Shape;94;g1258892fe63_0_2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95" name="Google Shape;95;g1258892fe63_0_2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96" name="Google Shape;96;g1258892fe63_0_2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Diagramas de flujo</a:t>
            </a:r>
            <a:endParaRPr b="1" i="0" sz="3000" u="none" cap="none" strike="noStrike">
              <a:solidFill>
                <a:srgbClr val="000000"/>
              </a:solidFill>
              <a:latin typeface="Arial"/>
              <a:ea typeface="Arial"/>
              <a:cs typeface="Arial"/>
              <a:sym typeface="Arial"/>
            </a:endParaRPr>
          </a:p>
        </p:txBody>
      </p:sp>
      <p:sp>
        <p:nvSpPr>
          <p:cNvPr id="97" name="Google Shape;97;g1258892fe63_0_27"/>
          <p:cNvSpPr/>
          <p:nvPr/>
        </p:nvSpPr>
        <p:spPr>
          <a:xfrm>
            <a:off x="3082813" y="1072575"/>
            <a:ext cx="2580000" cy="457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chemeClr val="dk1"/>
                </a:solidFill>
              </a:rPr>
              <a:t>Obtener la hora</a:t>
            </a:r>
            <a:endParaRPr sz="1600">
              <a:solidFill>
                <a:schemeClr val="dk1"/>
              </a:solidFill>
            </a:endParaRPr>
          </a:p>
        </p:txBody>
      </p:sp>
      <p:sp>
        <p:nvSpPr>
          <p:cNvPr id="98" name="Google Shape;98;g1258892fe63_0_27"/>
          <p:cNvSpPr/>
          <p:nvPr/>
        </p:nvSpPr>
        <p:spPr>
          <a:xfrm>
            <a:off x="1465813" y="3092725"/>
            <a:ext cx="2580000" cy="457800"/>
          </a:xfrm>
          <a:prstGeom prst="rect">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chemeClr val="dk1"/>
                </a:solidFill>
              </a:rPr>
              <a:t>Sí lo es</a:t>
            </a:r>
            <a:endParaRPr/>
          </a:p>
        </p:txBody>
      </p:sp>
      <p:sp>
        <p:nvSpPr>
          <p:cNvPr id="99" name="Google Shape;99;g1258892fe63_0_27"/>
          <p:cNvSpPr/>
          <p:nvPr/>
        </p:nvSpPr>
        <p:spPr>
          <a:xfrm>
            <a:off x="2790928" y="2082650"/>
            <a:ext cx="3163800" cy="457800"/>
          </a:xfrm>
          <a:prstGeom prst="rect">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s" sz="1600">
                <a:solidFill>
                  <a:schemeClr val="dk1"/>
                </a:solidFill>
              </a:rPr>
              <a:t>Es la hora seteada de alarma?</a:t>
            </a:r>
            <a:endParaRPr sz="1600">
              <a:solidFill>
                <a:schemeClr val="dk1"/>
              </a:solidFill>
            </a:endParaRPr>
          </a:p>
        </p:txBody>
      </p:sp>
      <p:sp>
        <p:nvSpPr>
          <p:cNvPr id="100" name="Google Shape;100;g1258892fe63_0_27"/>
          <p:cNvSpPr/>
          <p:nvPr/>
        </p:nvSpPr>
        <p:spPr>
          <a:xfrm>
            <a:off x="4860063" y="3092725"/>
            <a:ext cx="2580000" cy="457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chemeClr val="dk1"/>
                </a:solidFill>
              </a:rPr>
              <a:t>No lo es</a:t>
            </a:r>
            <a:endParaRPr/>
          </a:p>
        </p:txBody>
      </p:sp>
      <p:cxnSp>
        <p:nvCxnSpPr>
          <p:cNvPr id="101" name="Google Shape;101;g1258892fe63_0_27"/>
          <p:cNvCxnSpPr>
            <a:stCxn id="99" idx="2"/>
          </p:cNvCxnSpPr>
          <p:nvPr/>
        </p:nvCxnSpPr>
        <p:spPr>
          <a:xfrm flipH="1">
            <a:off x="3150928" y="2540450"/>
            <a:ext cx="1221900" cy="524400"/>
          </a:xfrm>
          <a:prstGeom prst="straightConnector1">
            <a:avLst/>
          </a:prstGeom>
          <a:noFill/>
          <a:ln cap="flat" cmpd="sng" w="9525">
            <a:solidFill>
              <a:schemeClr val="dk1"/>
            </a:solidFill>
            <a:prstDash val="solid"/>
            <a:round/>
            <a:headEnd len="med" w="med" type="none"/>
            <a:tailEnd len="med" w="med" type="triangle"/>
          </a:ln>
        </p:spPr>
      </p:cxnSp>
      <p:cxnSp>
        <p:nvCxnSpPr>
          <p:cNvPr id="102" name="Google Shape;102;g1258892fe63_0_27"/>
          <p:cNvCxnSpPr>
            <a:stCxn id="99" idx="2"/>
            <a:endCxn id="100" idx="0"/>
          </p:cNvCxnSpPr>
          <p:nvPr/>
        </p:nvCxnSpPr>
        <p:spPr>
          <a:xfrm>
            <a:off x="4372828" y="2540450"/>
            <a:ext cx="1777200" cy="552300"/>
          </a:xfrm>
          <a:prstGeom prst="straightConnector1">
            <a:avLst/>
          </a:prstGeom>
          <a:noFill/>
          <a:ln cap="flat" cmpd="sng" w="9525">
            <a:solidFill>
              <a:schemeClr val="dk1"/>
            </a:solidFill>
            <a:prstDash val="solid"/>
            <a:round/>
            <a:headEnd len="med" w="med" type="none"/>
            <a:tailEnd len="med" w="med" type="triangle"/>
          </a:ln>
        </p:spPr>
      </p:cxnSp>
      <p:sp>
        <p:nvSpPr>
          <p:cNvPr id="103" name="Google Shape;103;g1258892fe63_0_27"/>
          <p:cNvSpPr/>
          <p:nvPr/>
        </p:nvSpPr>
        <p:spPr>
          <a:xfrm>
            <a:off x="1465813" y="4371100"/>
            <a:ext cx="2580000" cy="457800"/>
          </a:xfrm>
          <a:prstGeom prst="rect">
            <a:avLst/>
          </a:prstGeom>
          <a:solidFill>
            <a:srgbClr val="EEEEE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chemeClr val="dk1"/>
                </a:solidFill>
              </a:rPr>
              <a:t>Prender canción</a:t>
            </a:r>
            <a:endParaRPr/>
          </a:p>
        </p:txBody>
      </p:sp>
      <p:cxnSp>
        <p:nvCxnSpPr>
          <p:cNvPr id="104" name="Google Shape;104;g1258892fe63_0_27"/>
          <p:cNvCxnSpPr>
            <a:stCxn id="98" idx="2"/>
            <a:endCxn id="103" idx="0"/>
          </p:cNvCxnSpPr>
          <p:nvPr/>
        </p:nvCxnSpPr>
        <p:spPr>
          <a:xfrm>
            <a:off x="2755813" y="3550525"/>
            <a:ext cx="0" cy="820500"/>
          </a:xfrm>
          <a:prstGeom prst="straightConnector1">
            <a:avLst/>
          </a:prstGeom>
          <a:noFill/>
          <a:ln cap="flat" cmpd="sng" w="9525">
            <a:solidFill>
              <a:schemeClr val="dk1"/>
            </a:solidFill>
            <a:prstDash val="solid"/>
            <a:round/>
            <a:headEnd len="med" w="med" type="none"/>
            <a:tailEnd len="med" w="med" type="triangle"/>
          </a:ln>
        </p:spPr>
      </p:cxnSp>
      <p:cxnSp>
        <p:nvCxnSpPr>
          <p:cNvPr id="105" name="Google Shape;105;g1258892fe63_0_27"/>
          <p:cNvCxnSpPr>
            <a:stCxn id="97" idx="3"/>
            <a:endCxn id="100" idx="3"/>
          </p:cNvCxnSpPr>
          <p:nvPr/>
        </p:nvCxnSpPr>
        <p:spPr>
          <a:xfrm>
            <a:off x="5662813" y="1301475"/>
            <a:ext cx="1777200" cy="2020200"/>
          </a:xfrm>
          <a:prstGeom prst="bentConnector3">
            <a:avLst>
              <a:gd fmla="val 113402" name="adj1"/>
            </a:avLst>
          </a:prstGeom>
          <a:noFill/>
          <a:ln cap="flat" cmpd="sng" w="9525">
            <a:solidFill>
              <a:schemeClr val="dk1"/>
            </a:solidFill>
            <a:prstDash val="solid"/>
            <a:round/>
            <a:headEnd len="med" w="med" type="none"/>
            <a:tailEnd len="med" w="med" type="none"/>
          </a:ln>
        </p:spPr>
      </p:cxnSp>
      <p:cxnSp>
        <p:nvCxnSpPr>
          <p:cNvPr id="106" name="Google Shape;106;g1258892fe63_0_27"/>
          <p:cNvCxnSpPr>
            <a:stCxn id="97" idx="2"/>
            <a:endCxn id="99" idx="0"/>
          </p:cNvCxnSpPr>
          <p:nvPr/>
        </p:nvCxnSpPr>
        <p:spPr>
          <a:xfrm>
            <a:off x="4372813" y="1530375"/>
            <a:ext cx="0" cy="552300"/>
          </a:xfrm>
          <a:prstGeom prst="straightConnector1">
            <a:avLst/>
          </a:prstGeom>
          <a:noFill/>
          <a:ln cap="flat" cmpd="sng" w="9525">
            <a:solidFill>
              <a:schemeClr val="dk1"/>
            </a:solidFill>
            <a:prstDash val="solid"/>
            <a:round/>
            <a:headEnd len="med" w="med" type="none"/>
            <a:tailEnd len="med" w="med" type="triangle"/>
          </a:ln>
        </p:spPr>
      </p:cxnSp>
      <p:sp>
        <p:nvSpPr>
          <p:cNvPr id="107" name="Google Shape;107;g1258892fe63_0_27"/>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cxnSp>
        <p:nvCxnSpPr>
          <p:cNvPr id="112" name="Google Shape;112;g1258892fe63_0_9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13" name="Google Shape;113;g1258892fe63_0_9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14" name="Google Shape;114;g1258892fe63_0_93"/>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Diagramas de flujo</a:t>
            </a:r>
            <a:endParaRPr b="1" i="0" sz="3000" u="none" cap="none" strike="noStrike">
              <a:solidFill>
                <a:srgbClr val="000000"/>
              </a:solidFill>
              <a:latin typeface="Arial"/>
              <a:ea typeface="Arial"/>
              <a:cs typeface="Arial"/>
              <a:sym typeface="Arial"/>
            </a:endParaRPr>
          </a:p>
        </p:txBody>
      </p:sp>
      <p:sp>
        <p:nvSpPr>
          <p:cNvPr id="115" name="Google Shape;115;g1258892fe63_0_93"/>
          <p:cNvSpPr/>
          <p:nvPr/>
        </p:nvSpPr>
        <p:spPr>
          <a:xfrm>
            <a:off x="3251426" y="1305225"/>
            <a:ext cx="524400" cy="387900"/>
          </a:xfrm>
          <a:prstGeom prst="flowChartConnec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C</a:t>
            </a:r>
            <a:endParaRPr sz="1600"/>
          </a:p>
        </p:txBody>
      </p:sp>
      <p:sp>
        <p:nvSpPr>
          <p:cNvPr id="116" name="Google Shape;116;g1258892fe63_0_93"/>
          <p:cNvSpPr/>
          <p:nvPr/>
        </p:nvSpPr>
        <p:spPr>
          <a:xfrm>
            <a:off x="2279950" y="1916650"/>
            <a:ext cx="2467350" cy="456600"/>
          </a:xfrm>
          <a:prstGeom prst="flowChartProcess">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hora = obtenerHora()</a:t>
            </a:r>
            <a:endParaRPr sz="1600"/>
          </a:p>
        </p:txBody>
      </p:sp>
      <p:sp>
        <p:nvSpPr>
          <p:cNvPr id="117" name="Google Shape;117;g1258892fe63_0_93"/>
          <p:cNvSpPr/>
          <p:nvPr/>
        </p:nvSpPr>
        <p:spPr>
          <a:xfrm>
            <a:off x="1778613" y="2639650"/>
            <a:ext cx="3470025" cy="995525"/>
          </a:xfrm>
          <a:prstGeom prst="flowChartDecision">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hora = horaSeteada</a:t>
            </a:r>
            <a:endParaRPr sz="1600"/>
          </a:p>
        </p:txBody>
      </p:sp>
      <p:sp>
        <p:nvSpPr>
          <p:cNvPr id="118" name="Google Shape;118;g1258892fe63_0_93"/>
          <p:cNvSpPr/>
          <p:nvPr/>
        </p:nvSpPr>
        <p:spPr>
          <a:xfrm>
            <a:off x="5928277" y="2882118"/>
            <a:ext cx="1811875" cy="510600"/>
          </a:xfrm>
          <a:prstGeom prst="flowChartProcess">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empezarMusica()</a:t>
            </a:r>
            <a:endParaRPr sz="1600"/>
          </a:p>
        </p:txBody>
      </p:sp>
      <p:sp>
        <p:nvSpPr>
          <p:cNvPr id="119" name="Google Shape;119;g1258892fe63_0_93"/>
          <p:cNvSpPr/>
          <p:nvPr/>
        </p:nvSpPr>
        <p:spPr>
          <a:xfrm>
            <a:off x="6642968" y="3950364"/>
            <a:ext cx="382500" cy="3879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F</a:t>
            </a:r>
            <a:endParaRPr sz="1600"/>
          </a:p>
        </p:txBody>
      </p:sp>
      <p:cxnSp>
        <p:nvCxnSpPr>
          <p:cNvPr id="120" name="Google Shape;120;g1258892fe63_0_93"/>
          <p:cNvCxnSpPr>
            <a:stCxn id="118" idx="2"/>
            <a:endCxn id="119" idx="0"/>
          </p:cNvCxnSpPr>
          <p:nvPr/>
        </p:nvCxnSpPr>
        <p:spPr>
          <a:xfrm>
            <a:off x="6834214" y="3392718"/>
            <a:ext cx="0" cy="557700"/>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g1258892fe63_0_93"/>
          <p:cNvCxnSpPr>
            <a:stCxn id="117" idx="3"/>
            <a:endCxn id="118" idx="1"/>
          </p:cNvCxnSpPr>
          <p:nvPr/>
        </p:nvCxnSpPr>
        <p:spPr>
          <a:xfrm>
            <a:off x="5248638" y="3137413"/>
            <a:ext cx="679500" cy="0"/>
          </a:xfrm>
          <a:prstGeom prst="straightConnector1">
            <a:avLst/>
          </a:prstGeom>
          <a:noFill/>
          <a:ln cap="flat" cmpd="sng" w="9525">
            <a:solidFill>
              <a:schemeClr val="dk1"/>
            </a:solidFill>
            <a:prstDash val="solid"/>
            <a:round/>
            <a:headEnd len="med" w="med" type="none"/>
            <a:tailEnd len="med" w="med" type="triangle"/>
          </a:ln>
        </p:spPr>
      </p:cxnSp>
      <p:cxnSp>
        <p:nvCxnSpPr>
          <p:cNvPr id="122" name="Google Shape;122;g1258892fe63_0_93"/>
          <p:cNvCxnSpPr>
            <a:stCxn id="117" idx="0"/>
            <a:endCxn id="116" idx="2"/>
          </p:cNvCxnSpPr>
          <p:nvPr/>
        </p:nvCxnSpPr>
        <p:spPr>
          <a:xfrm rot="10800000">
            <a:off x="3513625" y="2373250"/>
            <a:ext cx="0" cy="2664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g1258892fe63_0_93"/>
          <p:cNvCxnSpPr>
            <a:stCxn id="116" idx="0"/>
            <a:endCxn id="115" idx="4"/>
          </p:cNvCxnSpPr>
          <p:nvPr/>
        </p:nvCxnSpPr>
        <p:spPr>
          <a:xfrm rot="10800000">
            <a:off x="3513625" y="1693150"/>
            <a:ext cx="0" cy="223500"/>
          </a:xfrm>
          <a:prstGeom prst="straightConnector1">
            <a:avLst/>
          </a:prstGeom>
          <a:noFill/>
          <a:ln cap="flat" cmpd="sng" w="9525">
            <a:solidFill>
              <a:schemeClr val="dk1"/>
            </a:solidFill>
            <a:prstDash val="solid"/>
            <a:round/>
            <a:headEnd len="med" w="med" type="none"/>
            <a:tailEnd len="med" w="med" type="none"/>
          </a:ln>
        </p:spPr>
      </p:cxnSp>
      <p:sp>
        <p:nvSpPr>
          <p:cNvPr id="124" name="Google Shape;124;g1258892fe63_0_93"/>
          <p:cNvSpPr txBox="1"/>
          <p:nvPr/>
        </p:nvSpPr>
        <p:spPr>
          <a:xfrm>
            <a:off x="5378170" y="2668553"/>
            <a:ext cx="420600" cy="431100"/>
          </a:xfrm>
          <a:prstGeom prst="rect">
            <a:avLst/>
          </a:prstGeom>
          <a:solidFill>
            <a:srgbClr val="A4C2F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SI</a:t>
            </a:r>
            <a:endParaRPr sz="1600">
              <a:solidFill>
                <a:schemeClr val="dk1"/>
              </a:solidFill>
            </a:endParaRPr>
          </a:p>
        </p:txBody>
      </p:sp>
      <p:sp>
        <p:nvSpPr>
          <p:cNvPr id="125" name="Google Shape;125;g1258892fe63_0_93"/>
          <p:cNvSpPr txBox="1"/>
          <p:nvPr/>
        </p:nvSpPr>
        <p:spPr>
          <a:xfrm>
            <a:off x="1403850" y="3204075"/>
            <a:ext cx="524400" cy="431100"/>
          </a:xfrm>
          <a:prstGeom prst="rect">
            <a:avLst/>
          </a:prstGeom>
          <a:solidFill>
            <a:srgbClr val="A4C2F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t>NO</a:t>
            </a:r>
            <a:endParaRPr sz="1600"/>
          </a:p>
        </p:txBody>
      </p:sp>
      <p:sp>
        <p:nvSpPr>
          <p:cNvPr id="126" name="Google Shape;126;g1258892fe63_0_93"/>
          <p:cNvSpPr txBox="1"/>
          <p:nvPr/>
        </p:nvSpPr>
        <p:spPr>
          <a:xfrm>
            <a:off x="6298177" y="4297179"/>
            <a:ext cx="128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FFFFFF"/>
                </a:solidFill>
              </a:rPr>
              <a:t>Indica FIN</a:t>
            </a:r>
            <a:endParaRPr>
              <a:solidFill>
                <a:srgbClr val="FFFFFF"/>
              </a:solidFill>
            </a:endParaRPr>
          </a:p>
        </p:txBody>
      </p:sp>
      <p:cxnSp>
        <p:nvCxnSpPr>
          <p:cNvPr id="127" name="Google Shape;127;g1258892fe63_0_93"/>
          <p:cNvCxnSpPr>
            <a:stCxn id="119" idx="5"/>
            <a:endCxn id="126" idx="0"/>
          </p:cNvCxnSpPr>
          <p:nvPr/>
        </p:nvCxnSpPr>
        <p:spPr>
          <a:xfrm flipH="1">
            <a:off x="6942752" y="4281457"/>
            <a:ext cx="26700" cy="15600"/>
          </a:xfrm>
          <a:prstGeom prst="straightConnector1">
            <a:avLst/>
          </a:prstGeom>
          <a:noFill/>
          <a:ln cap="flat" cmpd="sng" w="9525">
            <a:solidFill>
              <a:srgbClr val="FFFFFF"/>
            </a:solidFill>
            <a:prstDash val="solid"/>
            <a:round/>
            <a:headEnd len="med" w="med" type="none"/>
            <a:tailEnd len="med" w="med" type="triangle"/>
          </a:ln>
        </p:spPr>
      </p:cxnSp>
      <p:sp>
        <p:nvSpPr>
          <p:cNvPr id="128" name="Google Shape;128;g1258892fe63_0_93"/>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cxnSp>
        <p:nvCxnSpPr>
          <p:cNvPr id="129" name="Google Shape;129;g1258892fe63_0_93"/>
          <p:cNvCxnSpPr>
            <a:stCxn id="117" idx="1"/>
            <a:endCxn id="116" idx="1"/>
          </p:cNvCxnSpPr>
          <p:nvPr/>
        </p:nvCxnSpPr>
        <p:spPr>
          <a:xfrm flipH="1" rot="10800000">
            <a:off x="1778613" y="2145013"/>
            <a:ext cx="501300" cy="992400"/>
          </a:xfrm>
          <a:prstGeom prst="bentConnector3">
            <a:avLst>
              <a:gd fmla="val -47501"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cxnSp>
        <p:nvCxnSpPr>
          <p:cNvPr id="134" name="Google Shape;134;g1258892fe63_0_339"/>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35" name="Google Shape;135;g1258892fe63_0_339"/>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36" name="Google Shape;136;g1258892fe63_0_339"/>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Sintaxis</a:t>
            </a:r>
            <a:endParaRPr b="1" i="0" sz="3000" u="none" cap="none" strike="noStrike">
              <a:solidFill>
                <a:srgbClr val="000000"/>
              </a:solidFill>
              <a:latin typeface="Arial"/>
              <a:ea typeface="Arial"/>
              <a:cs typeface="Arial"/>
              <a:sym typeface="Arial"/>
            </a:endParaRPr>
          </a:p>
        </p:txBody>
      </p:sp>
      <p:sp>
        <p:nvSpPr>
          <p:cNvPr id="137" name="Google Shape;137;g1258892fe63_0_339"/>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138" name="Google Shape;138;g1258892fe63_0_339"/>
          <p:cNvSpPr txBox="1"/>
          <p:nvPr/>
        </p:nvSpPr>
        <p:spPr>
          <a:xfrm>
            <a:off x="1498800" y="970350"/>
            <a:ext cx="6146400" cy="3202800"/>
          </a:xfrm>
          <a:prstGeom prst="rect">
            <a:avLst/>
          </a:prstGeom>
          <a:solidFill>
            <a:srgbClr val="D9D9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lang="es" sz="1600">
                <a:solidFill>
                  <a:schemeClr val="dk1"/>
                </a:solidFill>
              </a:rPr>
              <a:t>La sintaxis de </a:t>
            </a:r>
            <a:r>
              <a:rPr lang="es" sz="1600">
                <a:solidFill>
                  <a:schemeClr val="dk1"/>
                </a:solidFill>
              </a:rPr>
              <a:t>programación</a:t>
            </a:r>
            <a:r>
              <a:rPr lang="es" sz="1600">
                <a:solidFill>
                  <a:schemeClr val="dk1"/>
                </a:solidFill>
              </a:rPr>
              <a:t>, son las reglas de </a:t>
            </a:r>
            <a:r>
              <a:rPr lang="es" sz="1600">
                <a:solidFill>
                  <a:schemeClr val="dk1"/>
                </a:solidFill>
              </a:rPr>
              <a:t>escritura</a:t>
            </a:r>
            <a:r>
              <a:rPr lang="es" sz="1600">
                <a:solidFill>
                  <a:schemeClr val="dk1"/>
                </a:solidFill>
              </a:rPr>
              <a:t> que debe tener el </a:t>
            </a:r>
            <a:r>
              <a:rPr lang="es" sz="1600">
                <a:solidFill>
                  <a:schemeClr val="dk1"/>
                </a:solidFill>
              </a:rPr>
              <a:t>código</a:t>
            </a:r>
            <a:r>
              <a:rPr lang="es" sz="1600">
                <a:solidFill>
                  <a:schemeClr val="dk1"/>
                </a:solidFill>
              </a:rPr>
              <a:t> que escribo como para que el compilador pueda “traducirlo” a lenguaje máquina</a:t>
            </a:r>
            <a:r>
              <a:rPr b="0" i="0" lang="e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1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l">
              <a:lnSpc>
                <a:spcPct val="130000"/>
              </a:lnSpc>
              <a:spcBef>
                <a:spcPts val="0"/>
              </a:spcBef>
              <a:spcAft>
                <a:spcPts val="0"/>
              </a:spcAft>
              <a:buClr>
                <a:srgbClr val="BC182C"/>
              </a:buClr>
              <a:buSzPts val="1600"/>
              <a:buChar char="●"/>
            </a:pPr>
            <a:r>
              <a:rPr lang="es" sz="1600">
                <a:solidFill>
                  <a:schemeClr val="dk1"/>
                </a:solidFill>
              </a:rPr>
              <a:t>; indica fin de una línea (salvo en algunos casos específicos)</a:t>
            </a:r>
            <a:endParaRPr sz="1600">
              <a:solidFill>
                <a:schemeClr val="dk1"/>
              </a:solidFill>
            </a:endParaRPr>
          </a:p>
          <a:p>
            <a:pPr indent="-330200" lvl="0" marL="457200" marR="0" rtl="0" algn="l">
              <a:lnSpc>
                <a:spcPct val="130000"/>
              </a:lnSpc>
              <a:spcBef>
                <a:spcPts val="0"/>
              </a:spcBef>
              <a:spcAft>
                <a:spcPts val="0"/>
              </a:spcAft>
              <a:buClr>
                <a:srgbClr val="BC182C"/>
              </a:buClr>
              <a:buSzPts val="1600"/>
              <a:buChar char="●"/>
            </a:pPr>
            <a:r>
              <a:rPr lang="es" sz="1600">
                <a:solidFill>
                  <a:schemeClr val="dk1"/>
                </a:solidFill>
              </a:rPr>
              <a:t>{ indica el comienzo de un módulo o bloque</a:t>
            </a:r>
            <a:endParaRPr sz="1600">
              <a:solidFill>
                <a:schemeClr val="dk1"/>
              </a:solidFill>
            </a:endParaRPr>
          </a:p>
          <a:p>
            <a:pPr indent="-330200" lvl="0" marL="457200" marR="0" rtl="0" algn="l">
              <a:lnSpc>
                <a:spcPct val="130000"/>
              </a:lnSpc>
              <a:spcBef>
                <a:spcPts val="0"/>
              </a:spcBef>
              <a:spcAft>
                <a:spcPts val="0"/>
              </a:spcAft>
              <a:buClr>
                <a:srgbClr val="BC182C"/>
              </a:buClr>
              <a:buSzPts val="1600"/>
              <a:buChar char="●"/>
            </a:pPr>
            <a:r>
              <a:rPr lang="es" sz="1600">
                <a:solidFill>
                  <a:schemeClr val="dk1"/>
                </a:solidFill>
              </a:rPr>
              <a:t>} indica el fin de un módulo o bloque</a:t>
            </a:r>
            <a:endParaRPr sz="1600">
              <a:solidFill>
                <a:schemeClr val="dk1"/>
              </a:solidFill>
            </a:endParaRPr>
          </a:p>
          <a:p>
            <a:pPr indent="-330200" lvl="0" marL="457200" marR="0" rtl="0" algn="l">
              <a:lnSpc>
                <a:spcPct val="130000"/>
              </a:lnSpc>
              <a:spcBef>
                <a:spcPts val="0"/>
              </a:spcBef>
              <a:spcAft>
                <a:spcPts val="0"/>
              </a:spcAft>
              <a:buClr>
                <a:srgbClr val="BC182C"/>
              </a:buClr>
              <a:buSzPts val="1600"/>
              <a:buChar char="●"/>
            </a:pPr>
            <a:r>
              <a:rPr lang="es" sz="1600">
                <a:solidFill>
                  <a:schemeClr val="dk1"/>
                </a:solidFill>
              </a:rPr>
              <a:t>( indica comienzo de parámetros</a:t>
            </a:r>
            <a:endParaRPr sz="1600">
              <a:solidFill>
                <a:schemeClr val="dk1"/>
              </a:solidFill>
            </a:endParaRPr>
          </a:p>
          <a:p>
            <a:pPr indent="-330200" lvl="0" marL="457200" marR="0" rtl="0" algn="l">
              <a:lnSpc>
                <a:spcPct val="130000"/>
              </a:lnSpc>
              <a:spcBef>
                <a:spcPts val="0"/>
              </a:spcBef>
              <a:spcAft>
                <a:spcPts val="0"/>
              </a:spcAft>
              <a:buClr>
                <a:srgbClr val="BC182C"/>
              </a:buClr>
              <a:buSzPts val="1600"/>
              <a:buChar char="●"/>
            </a:pPr>
            <a:r>
              <a:rPr lang="es" sz="1600">
                <a:solidFill>
                  <a:schemeClr val="dk1"/>
                </a:solidFill>
              </a:rPr>
              <a:t>) indica fin de parámetros</a:t>
            </a:r>
            <a:endParaRPr sz="1600">
              <a:solidFill>
                <a:schemeClr val="dk1"/>
              </a:solidFill>
            </a:endParaRPr>
          </a:p>
          <a:p>
            <a:pPr indent="-330200" lvl="0" marL="457200" marR="0" rtl="0" algn="l">
              <a:lnSpc>
                <a:spcPct val="130000"/>
              </a:lnSpc>
              <a:spcBef>
                <a:spcPts val="0"/>
              </a:spcBef>
              <a:spcAft>
                <a:spcPts val="0"/>
              </a:spcAft>
              <a:buClr>
                <a:srgbClr val="BC182C"/>
              </a:buClr>
              <a:buSzPts val="1600"/>
              <a:buFont typeface="Arial"/>
              <a:buChar char="●"/>
            </a:pPr>
            <a:r>
              <a:rPr lang="es" sz="1600">
                <a:solidFill>
                  <a:schemeClr val="dk1"/>
                </a:solidFill>
              </a:rPr>
              <a:t>= indica asignación</a:t>
            </a:r>
            <a:endParaRPr sz="1600">
              <a:solidFill>
                <a:srgbClr val="556271"/>
              </a:solidFill>
            </a:endParaRPr>
          </a:p>
          <a:p>
            <a:pPr indent="0" lvl="0" marL="0" marR="0" rtl="0" algn="l">
              <a:lnSpc>
                <a:spcPct val="130000"/>
              </a:lnSpc>
              <a:spcBef>
                <a:spcPts val="0"/>
              </a:spcBef>
              <a:spcAft>
                <a:spcPts val="0"/>
              </a:spcAft>
              <a:buClr>
                <a:srgbClr val="000000"/>
              </a:buClr>
              <a:buSzPts val="1100"/>
              <a:buFont typeface="Arial"/>
              <a:buNone/>
            </a:pPr>
            <a:r>
              <a:t/>
            </a:r>
            <a:endParaRPr b="0" i="0" sz="1600" u="none" cap="none" strike="noStrike">
              <a:solidFill>
                <a:srgbClr val="FFFFFF"/>
              </a:solidFill>
              <a:highlight>
                <a:srgbClr val="556271"/>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cxnSp>
        <p:nvCxnSpPr>
          <p:cNvPr id="143" name="Google Shape;143;g1258892fe63_0_13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44" name="Google Shape;144;g1258892fe63_0_13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45" name="Google Shape;145;g1258892fe63_0_138"/>
          <p:cNvSpPr txBox="1"/>
          <p:nvPr/>
        </p:nvSpPr>
        <p:spPr>
          <a:xfrm>
            <a:off x="326450" y="242575"/>
            <a:ext cx="36411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Estructura </a:t>
            </a:r>
            <a:r>
              <a:rPr b="1" lang="es" sz="3000">
                <a:solidFill>
                  <a:srgbClr val="434343"/>
                </a:solidFill>
              </a:rPr>
              <a:t>básica</a:t>
            </a:r>
            <a:endParaRPr b="1" i="0" sz="3000" u="none" cap="none" strike="noStrike">
              <a:solidFill>
                <a:srgbClr val="000000"/>
              </a:solidFill>
              <a:latin typeface="Arial"/>
              <a:ea typeface="Arial"/>
              <a:cs typeface="Arial"/>
              <a:sym typeface="Arial"/>
            </a:endParaRPr>
          </a:p>
        </p:txBody>
      </p:sp>
      <p:sp>
        <p:nvSpPr>
          <p:cNvPr id="146" name="Google Shape;146;g1258892fe63_0_138"/>
          <p:cNvSpPr txBox="1"/>
          <p:nvPr/>
        </p:nvSpPr>
        <p:spPr>
          <a:xfrm>
            <a:off x="69700" y="805975"/>
            <a:ext cx="3533700" cy="3053700"/>
          </a:xfrm>
          <a:prstGeom prst="rect">
            <a:avLst/>
          </a:prstGeom>
          <a:noFill/>
          <a:ln cap="flat" cmpd="sng" w="7620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600">
                <a:solidFill>
                  <a:srgbClr val="595959"/>
                </a:solidFill>
              </a:rPr>
              <a:t>int loop</a:t>
            </a:r>
            <a:r>
              <a:rPr b="1" lang="es" sz="1600">
                <a:solidFill>
                  <a:srgbClr val="FF0000"/>
                </a:solidFill>
              </a:rPr>
              <a:t>(){</a:t>
            </a:r>
            <a:endParaRPr b="1" sz="1600">
              <a:solidFill>
                <a:srgbClr val="FF0000"/>
              </a:solidFill>
            </a:endParaRPr>
          </a:p>
          <a:p>
            <a:pPr indent="0" lvl="0" marL="0" rtl="0" algn="l">
              <a:lnSpc>
                <a:spcPct val="115000"/>
              </a:lnSpc>
              <a:spcBef>
                <a:spcPts val="1200"/>
              </a:spcBef>
              <a:spcAft>
                <a:spcPts val="0"/>
              </a:spcAft>
              <a:buNone/>
            </a:pPr>
            <a:r>
              <a:rPr lang="es" sz="1600">
                <a:solidFill>
                  <a:srgbClr val="595959"/>
                </a:solidFill>
              </a:rPr>
              <a:t>	</a:t>
            </a:r>
            <a:endParaRPr sz="1600">
              <a:solidFill>
                <a:srgbClr val="595959"/>
              </a:solidFill>
            </a:endParaRPr>
          </a:p>
          <a:p>
            <a:pPr indent="0" lvl="0" marL="0" rtl="0" algn="l">
              <a:lnSpc>
                <a:spcPct val="115000"/>
              </a:lnSpc>
              <a:spcBef>
                <a:spcPts val="1200"/>
              </a:spcBef>
              <a:spcAft>
                <a:spcPts val="0"/>
              </a:spcAft>
              <a:buNone/>
            </a:pPr>
            <a:r>
              <a:rPr lang="es" sz="1600">
                <a:solidFill>
                  <a:srgbClr val="595959"/>
                </a:solidFill>
              </a:rPr>
              <a:t>	</a:t>
            </a:r>
            <a:endParaRPr sz="1600">
              <a:solidFill>
                <a:srgbClr val="595959"/>
              </a:solidFill>
            </a:endParaRPr>
          </a:p>
          <a:p>
            <a:pPr indent="0" lvl="0" marL="0" rtl="0" algn="l">
              <a:lnSpc>
                <a:spcPct val="115000"/>
              </a:lnSpc>
              <a:spcBef>
                <a:spcPts val="1200"/>
              </a:spcBef>
              <a:spcAft>
                <a:spcPts val="0"/>
              </a:spcAft>
              <a:buNone/>
            </a:pPr>
            <a:r>
              <a:t/>
            </a:r>
            <a:endParaRPr sz="1600">
              <a:solidFill>
                <a:srgbClr val="595959"/>
              </a:solidFill>
            </a:endParaRPr>
          </a:p>
          <a:p>
            <a:pPr indent="0" lvl="0" marL="0" rtl="0" algn="l">
              <a:lnSpc>
                <a:spcPct val="115000"/>
              </a:lnSpc>
              <a:spcBef>
                <a:spcPts val="1200"/>
              </a:spcBef>
              <a:spcAft>
                <a:spcPts val="0"/>
              </a:spcAft>
              <a:buNone/>
            </a:pPr>
            <a:r>
              <a:t/>
            </a:r>
            <a:endParaRPr sz="1600">
              <a:solidFill>
                <a:srgbClr val="595959"/>
              </a:solidFill>
            </a:endParaRPr>
          </a:p>
          <a:p>
            <a:pPr indent="0" lvl="0" marL="0" rtl="0" algn="l">
              <a:lnSpc>
                <a:spcPct val="115000"/>
              </a:lnSpc>
              <a:spcBef>
                <a:spcPts val="1200"/>
              </a:spcBef>
              <a:spcAft>
                <a:spcPts val="0"/>
              </a:spcAft>
              <a:buNone/>
            </a:pPr>
            <a:r>
              <a:t/>
            </a:r>
            <a:endParaRPr sz="1600">
              <a:solidFill>
                <a:srgbClr val="595959"/>
              </a:solidFill>
            </a:endParaRPr>
          </a:p>
          <a:p>
            <a:pPr indent="0" lvl="0" marL="0" rtl="0" algn="l">
              <a:lnSpc>
                <a:spcPct val="115000"/>
              </a:lnSpc>
              <a:spcBef>
                <a:spcPts val="1200"/>
              </a:spcBef>
              <a:spcAft>
                <a:spcPts val="1200"/>
              </a:spcAft>
              <a:buClr>
                <a:srgbClr val="000000"/>
              </a:buClr>
              <a:buSzPts val="1100"/>
              <a:buFont typeface="Arial"/>
              <a:buNone/>
            </a:pPr>
            <a:r>
              <a:rPr b="1" lang="es" sz="1600">
                <a:solidFill>
                  <a:srgbClr val="FF0000"/>
                </a:solidFill>
              </a:rPr>
              <a:t>}</a:t>
            </a:r>
            <a:endParaRPr b="1" sz="1600">
              <a:solidFill>
                <a:srgbClr val="FF0000"/>
              </a:solidFill>
            </a:endParaRPr>
          </a:p>
        </p:txBody>
      </p:sp>
      <p:sp>
        <p:nvSpPr>
          <p:cNvPr id="147" name="Google Shape;147;g1258892fe63_0_138"/>
          <p:cNvSpPr txBox="1"/>
          <p:nvPr/>
        </p:nvSpPr>
        <p:spPr>
          <a:xfrm>
            <a:off x="160391" y="1624574"/>
            <a:ext cx="2324700" cy="4311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rgbClr val="000000"/>
              </a:buClr>
              <a:buSzPts val="1100"/>
              <a:buFont typeface="Arial"/>
              <a:buNone/>
            </a:pPr>
            <a:r>
              <a:rPr lang="es" sz="1600">
                <a:solidFill>
                  <a:srgbClr val="595959"/>
                </a:solidFill>
              </a:rPr>
              <a:t>hora </a:t>
            </a:r>
            <a:r>
              <a:rPr b="1" lang="es" sz="1600">
                <a:solidFill>
                  <a:srgbClr val="FF0000"/>
                </a:solidFill>
              </a:rPr>
              <a:t>= </a:t>
            </a:r>
            <a:r>
              <a:rPr lang="es" sz="1600">
                <a:solidFill>
                  <a:srgbClr val="595959"/>
                </a:solidFill>
              </a:rPr>
              <a:t>obtenerHora()</a:t>
            </a:r>
            <a:r>
              <a:rPr b="1" lang="es" sz="1600">
                <a:solidFill>
                  <a:srgbClr val="FF0000"/>
                </a:solidFill>
              </a:rPr>
              <a:t>;</a:t>
            </a:r>
            <a:endParaRPr b="1" sz="1600">
              <a:solidFill>
                <a:srgbClr val="FF0000"/>
              </a:solidFill>
            </a:endParaRPr>
          </a:p>
        </p:txBody>
      </p:sp>
      <p:sp>
        <p:nvSpPr>
          <p:cNvPr id="148" name="Google Shape;148;g1258892fe63_0_138"/>
          <p:cNvSpPr txBox="1"/>
          <p:nvPr/>
        </p:nvSpPr>
        <p:spPr>
          <a:xfrm>
            <a:off x="160391" y="2165208"/>
            <a:ext cx="3213300" cy="1305300"/>
          </a:xfrm>
          <a:prstGeom prst="rect">
            <a:avLst/>
          </a:prstGeom>
          <a:noFill/>
          <a:ln cap="flat" cmpd="sng" w="2857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600">
                <a:solidFill>
                  <a:srgbClr val="595959"/>
                </a:solidFill>
              </a:rPr>
              <a:t>if</a:t>
            </a:r>
            <a:r>
              <a:rPr b="1" lang="es" sz="1600">
                <a:solidFill>
                  <a:srgbClr val="FF0000"/>
                </a:solidFill>
              </a:rPr>
              <a:t>(</a:t>
            </a:r>
            <a:r>
              <a:rPr lang="es" sz="1600">
                <a:solidFill>
                  <a:srgbClr val="595959"/>
                </a:solidFill>
              </a:rPr>
              <a:t>hora </a:t>
            </a:r>
            <a:r>
              <a:rPr b="1" lang="es" sz="1600">
                <a:solidFill>
                  <a:srgbClr val="FF0000"/>
                </a:solidFill>
              </a:rPr>
              <a:t>==</a:t>
            </a:r>
            <a:r>
              <a:rPr lang="es" sz="1600">
                <a:solidFill>
                  <a:srgbClr val="595959"/>
                </a:solidFill>
              </a:rPr>
              <a:t> horaAlarma</a:t>
            </a:r>
            <a:r>
              <a:rPr b="1" lang="es" sz="1600">
                <a:solidFill>
                  <a:srgbClr val="FF0000"/>
                </a:solidFill>
              </a:rPr>
              <a:t>){</a:t>
            </a:r>
            <a:endParaRPr b="1" sz="1600">
              <a:solidFill>
                <a:srgbClr val="FF0000"/>
              </a:solidFill>
            </a:endParaRPr>
          </a:p>
          <a:p>
            <a:pPr indent="0" lvl="0" marL="0" rtl="0" algn="l">
              <a:lnSpc>
                <a:spcPct val="115000"/>
              </a:lnSpc>
              <a:spcBef>
                <a:spcPts val="1200"/>
              </a:spcBef>
              <a:spcAft>
                <a:spcPts val="0"/>
              </a:spcAft>
              <a:buNone/>
            </a:pPr>
            <a:r>
              <a:t/>
            </a:r>
            <a:endParaRPr sz="1600">
              <a:solidFill>
                <a:srgbClr val="595959"/>
              </a:solidFill>
            </a:endParaRPr>
          </a:p>
          <a:p>
            <a:pPr indent="0" lvl="0" marL="0" rtl="0" algn="l">
              <a:lnSpc>
                <a:spcPct val="115000"/>
              </a:lnSpc>
              <a:spcBef>
                <a:spcPts val="1200"/>
              </a:spcBef>
              <a:spcAft>
                <a:spcPts val="1200"/>
              </a:spcAft>
              <a:buClr>
                <a:srgbClr val="000000"/>
              </a:buClr>
              <a:buSzPts val="1100"/>
              <a:buFont typeface="Arial"/>
              <a:buNone/>
            </a:pPr>
            <a:r>
              <a:rPr b="1" lang="es" sz="1600">
                <a:solidFill>
                  <a:srgbClr val="FF0000"/>
                </a:solidFill>
              </a:rPr>
              <a:t>}</a:t>
            </a:r>
            <a:endParaRPr b="1" sz="1600">
              <a:solidFill>
                <a:srgbClr val="FF0000"/>
              </a:solidFill>
            </a:endParaRPr>
          </a:p>
        </p:txBody>
      </p:sp>
      <p:sp>
        <p:nvSpPr>
          <p:cNvPr id="149" name="Google Shape;149;g1258892fe63_0_138"/>
          <p:cNvSpPr txBox="1"/>
          <p:nvPr/>
        </p:nvSpPr>
        <p:spPr>
          <a:xfrm>
            <a:off x="438835" y="2557474"/>
            <a:ext cx="1818600" cy="780300"/>
          </a:xfrm>
          <a:prstGeom prst="rect">
            <a:avLst/>
          </a:prstGeom>
          <a:noFill/>
          <a:ln cap="flat" cmpd="sng" w="19050">
            <a:solidFill>
              <a:srgbClr val="FFFF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rgbClr val="000000"/>
              </a:buClr>
              <a:buSzPts val="1100"/>
              <a:buFont typeface="Arial"/>
              <a:buNone/>
            </a:pPr>
            <a:r>
              <a:rPr lang="es" sz="1800">
                <a:solidFill>
                  <a:srgbClr val="595959"/>
                </a:solidFill>
              </a:rPr>
              <a:t>ejecutarAlarma</a:t>
            </a:r>
            <a:r>
              <a:rPr b="1" lang="es" sz="1800">
                <a:solidFill>
                  <a:srgbClr val="FF0000"/>
                </a:solidFill>
              </a:rPr>
              <a:t>();</a:t>
            </a:r>
            <a:endParaRPr b="1">
              <a:solidFill>
                <a:srgbClr val="FF0000"/>
              </a:solidFill>
            </a:endParaRPr>
          </a:p>
        </p:txBody>
      </p:sp>
      <p:cxnSp>
        <p:nvCxnSpPr>
          <p:cNvPr id="150" name="Google Shape;150;g1258892fe63_0_138"/>
          <p:cNvCxnSpPr>
            <a:endCxn id="151" idx="1"/>
          </p:cNvCxnSpPr>
          <p:nvPr/>
        </p:nvCxnSpPr>
        <p:spPr>
          <a:xfrm>
            <a:off x="1153400" y="1097250"/>
            <a:ext cx="2973600" cy="25500"/>
          </a:xfrm>
          <a:prstGeom prst="straightConnector1">
            <a:avLst/>
          </a:prstGeom>
          <a:noFill/>
          <a:ln cap="flat" cmpd="sng" w="9525">
            <a:solidFill>
              <a:srgbClr val="595959"/>
            </a:solidFill>
            <a:prstDash val="solid"/>
            <a:round/>
            <a:headEnd len="med" w="med" type="none"/>
            <a:tailEnd len="med" w="med" type="triangle"/>
          </a:ln>
        </p:spPr>
      </p:cxnSp>
      <p:sp>
        <p:nvSpPr>
          <p:cNvPr id="151" name="Google Shape;151;g1258892fe63_0_138"/>
          <p:cNvSpPr txBox="1"/>
          <p:nvPr/>
        </p:nvSpPr>
        <p:spPr>
          <a:xfrm>
            <a:off x="4127000" y="907200"/>
            <a:ext cx="4947300" cy="4311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Es el módulo más grande y se repite infinitas veces</a:t>
            </a:r>
            <a:endParaRPr sz="1600"/>
          </a:p>
        </p:txBody>
      </p:sp>
      <p:sp>
        <p:nvSpPr>
          <p:cNvPr id="152" name="Google Shape;152;g1258892fe63_0_138"/>
          <p:cNvSpPr txBox="1"/>
          <p:nvPr/>
        </p:nvSpPr>
        <p:spPr>
          <a:xfrm>
            <a:off x="4126975" y="1552625"/>
            <a:ext cx="4947300" cy="11697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Este módulo y el que le siguen son independientes uno del otro, no es que uno encierra al otro, pero, el que viene antes es el que se ejecuta primero así que primero obtengo la hora</a:t>
            </a:r>
            <a:endParaRPr sz="1600"/>
          </a:p>
        </p:txBody>
      </p:sp>
      <p:sp>
        <p:nvSpPr>
          <p:cNvPr id="153" name="Google Shape;153;g1258892fe63_0_138"/>
          <p:cNvSpPr txBox="1"/>
          <p:nvPr/>
        </p:nvSpPr>
        <p:spPr>
          <a:xfrm>
            <a:off x="4126975" y="2936638"/>
            <a:ext cx="4947300" cy="9234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Este vuelve a ser un módulo que envuelve a otro, que tienen en común?? El caracter “{“ que indica apertura y el caracter “}” que indica cierre.  </a:t>
            </a:r>
            <a:endParaRPr sz="1600"/>
          </a:p>
        </p:txBody>
      </p:sp>
      <p:cxnSp>
        <p:nvCxnSpPr>
          <p:cNvPr id="154" name="Google Shape;154;g1258892fe63_0_138"/>
          <p:cNvCxnSpPr>
            <a:stCxn id="147" idx="3"/>
            <a:endCxn id="152" idx="1"/>
          </p:cNvCxnSpPr>
          <p:nvPr/>
        </p:nvCxnSpPr>
        <p:spPr>
          <a:xfrm>
            <a:off x="2485091" y="1840124"/>
            <a:ext cx="1641900" cy="297300"/>
          </a:xfrm>
          <a:prstGeom prst="straightConnector1">
            <a:avLst/>
          </a:prstGeom>
          <a:noFill/>
          <a:ln cap="flat" cmpd="sng" w="9525">
            <a:solidFill>
              <a:srgbClr val="595959"/>
            </a:solidFill>
            <a:prstDash val="solid"/>
            <a:round/>
            <a:headEnd len="med" w="med" type="none"/>
            <a:tailEnd len="med" w="med" type="triangle"/>
          </a:ln>
        </p:spPr>
      </p:cxnSp>
      <p:cxnSp>
        <p:nvCxnSpPr>
          <p:cNvPr id="155" name="Google Shape;155;g1258892fe63_0_138"/>
          <p:cNvCxnSpPr>
            <a:stCxn id="148" idx="3"/>
            <a:endCxn id="153" idx="1"/>
          </p:cNvCxnSpPr>
          <p:nvPr/>
        </p:nvCxnSpPr>
        <p:spPr>
          <a:xfrm>
            <a:off x="3373691" y="2817858"/>
            <a:ext cx="753300" cy="580500"/>
          </a:xfrm>
          <a:prstGeom prst="straightConnector1">
            <a:avLst/>
          </a:prstGeom>
          <a:noFill/>
          <a:ln cap="flat" cmpd="sng" w="9525">
            <a:solidFill>
              <a:srgbClr val="595959"/>
            </a:solidFill>
            <a:prstDash val="solid"/>
            <a:round/>
            <a:headEnd len="med" w="med" type="none"/>
            <a:tailEnd len="med" w="med" type="triangle"/>
          </a:ln>
        </p:spPr>
      </p:cxnSp>
      <p:sp>
        <p:nvSpPr>
          <p:cNvPr id="156" name="Google Shape;156;g1258892fe63_0_138"/>
          <p:cNvSpPr txBox="1"/>
          <p:nvPr/>
        </p:nvSpPr>
        <p:spPr>
          <a:xfrm>
            <a:off x="69700" y="4074375"/>
            <a:ext cx="4947300" cy="9234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Este último módulo ejecuta la alarma y se encuentra dentro del módulo anterior por lo que solo se ejecuta </a:t>
            </a:r>
            <a:r>
              <a:rPr lang="es" sz="1600"/>
              <a:t>si</a:t>
            </a:r>
            <a:r>
              <a:rPr lang="es" sz="1600"/>
              <a:t> la condición es verdadera.</a:t>
            </a:r>
            <a:endParaRPr sz="1600"/>
          </a:p>
        </p:txBody>
      </p:sp>
      <p:cxnSp>
        <p:nvCxnSpPr>
          <p:cNvPr id="157" name="Google Shape;157;g1258892fe63_0_138"/>
          <p:cNvCxnSpPr>
            <a:stCxn id="148" idx="2"/>
            <a:endCxn id="156" idx="0"/>
          </p:cNvCxnSpPr>
          <p:nvPr/>
        </p:nvCxnSpPr>
        <p:spPr>
          <a:xfrm>
            <a:off x="1767041" y="3470508"/>
            <a:ext cx="776400" cy="603900"/>
          </a:xfrm>
          <a:prstGeom prst="straightConnector1">
            <a:avLst/>
          </a:prstGeom>
          <a:noFill/>
          <a:ln cap="flat" cmpd="sng" w="9525">
            <a:solidFill>
              <a:srgbClr val="595959"/>
            </a:solidFill>
            <a:prstDash val="solid"/>
            <a:round/>
            <a:headEnd len="med" w="med" type="none"/>
            <a:tailEnd len="med" w="med" type="triangle"/>
          </a:ln>
        </p:spPr>
      </p:cxnSp>
      <p:sp>
        <p:nvSpPr>
          <p:cNvPr id="158" name="Google Shape;158;g1258892fe63_0_138"/>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cxnSp>
        <p:nvCxnSpPr>
          <p:cNvPr id="163" name="Google Shape;163;g1258892fe63_0_18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64" name="Google Shape;164;g1258892fe63_0_18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65" name="Google Shape;165;g1258892fe63_0_187"/>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1" lang="es" sz="3000">
                <a:solidFill>
                  <a:srgbClr val="434343"/>
                </a:solidFill>
              </a:rPr>
              <a:t>Aritmética</a:t>
            </a:r>
            <a:r>
              <a:rPr b="1" lang="es" sz="3000">
                <a:solidFill>
                  <a:srgbClr val="434343"/>
                </a:solidFill>
              </a:rPr>
              <a:t> </a:t>
            </a:r>
            <a:endParaRPr b="1" i="0" sz="3000" u="none" cap="none" strike="noStrike">
              <a:solidFill>
                <a:srgbClr val="000000"/>
              </a:solidFill>
              <a:latin typeface="Arial"/>
              <a:ea typeface="Arial"/>
              <a:cs typeface="Arial"/>
              <a:sym typeface="Arial"/>
            </a:endParaRPr>
          </a:p>
        </p:txBody>
      </p:sp>
      <p:sp>
        <p:nvSpPr>
          <p:cNvPr id="166" name="Google Shape;166;g1258892fe63_0_187"/>
          <p:cNvSpPr txBox="1"/>
          <p:nvPr/>
        </p:nvSpPr>
        <p:spPr>
          <a:xfrm>
            <a:off x="2076600" y="1235700"/>
            <a:ext cx="4990800" cy="2672100"/>
          </a:xfrm>
          <a:prstGeom prst="rect">
            <a:avLst/>
          </a:prstGeom>
          <a:solidFill>
            <a:srgbClr val="B4A7D6"/>
          </a:solidFill>
          <a:ln>
            <a:noFill/>
          </a:ln>
        </p:spPr>
        <p:txBody>
          <a:bodyPr anchorCtr="0" anchor="t" bIns="91425" lIns="91425" spcFirstLastPara="1" rIns="91425" wrap="square" tIns="91425">
            <a:spAutoFit/>
          </a:bodyPr>
          <a:lstStyle/>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suma entre dos variables</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resta</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multiplicación</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división ENTERA</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el resto</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comparación</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distinto</a:t>
            </a:r>
            <a:endParaRPr sz="1600">
              <a:solidFill>
                <a:schemeClr val="dk1"/>
              </a:solidFill>
            </a:endParaRPr>
          </a:p>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&gt;= / &lt;= / &gt; / &lt; : indica comparación orden</a:t>
            </a:r>
            <a:endParaRPr sz="1600">
              <a:solidFill>
                <a:srgbClr val="556271"/>
              </a:solidFill>
            </a:endParaRPr>
          </a:p>
        </p:txBody>
      </p:sp>
      <p:sp>
        <p:nvSpPr>
          <p:cNvPr id="167" name="Google Shape;167;g1258892fe63_0_187"/>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cxnSp>
        <p:nvCxnSpPr>
          <p:cNvPr id="172" name="Google Shape;172;g1258892fe63_0_50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73" name="Google Shape;173;g1258892fe63_0_50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74" name="Google Shape;174;g1258892fe63_0_502"/>
          <p:cNvSpPr txBox="1"/>
          <p:nvPr/>
        </p:nvSpPr>
        <p:spPr>
          <a:xfrm>
            <a:off x="326450" y="242575"/>
            <a:ext cx="3097200" cy="34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400"/>
              <a:buFont typeface="Arial"/>
              <a:buNone/>
            </a:pPr>
            <a:r>
              <a:rPr b="1" lang="es" sz="3000">
                <a:solidFill>
                  <a:srgbClr val="434343"/>
                </a:solidFill>
              </a:rPr>
              <a:t>Aritmética </a:t>
            </a:r>
            <a:endParaRPr b="1" i="0" sz="3000" u="none" cap="none" strike="noStrike">
              <a:solidFill>
                <a:srgbClr val="000000"/>
              </a:solidFill>
              <a:latin typeface="Arial"/>
              <a:ea typeface="Arial"/>
              <a:cs typeface="Arial"/>
              <a:sym typeface="Arial"/>
            </a:endParaRPr>
          </a:p>
        </p:txBody>
      </p:sp>
      <p:sp>
        <p:nvSpPr>
          <p:cNvPr id="175" name="Google Shape;175;g1258892fe63_0_502"/>
          <p:cNvSpPr txBox="1"/>
          <p:nvPr/>
        </p:nvSpPr>
        <p:spPr>
          <a:xfrm>
            <a:off x="2076600" y="1235700"/>
            <a:ext cx="4990800" cy="2672100"/>
          </a:xfrm>
          <a:prstGeom prst="rect">
            <a:avLst/>
          </a:prstGeom>
          <a:solidFill>
            <a:srgbClr val="B4A7D6"/>
          </a:solidFill>
          <a:ln>
            <a:noFill/>
          </a:ln>
        </p:spPr>
        <p:txBody>
          <a:bodyPr anchorCtr="0" anchor="t" bIns="91425" lIns="91425" spcFirstLastPara="1" rIns="91425" wrap="square" tIns="91425">
            <a:spAutoFit/>
          </a:bodyPr>
          <a:lstStyle/>
          <a:p>
            <a:pPr indent="-304800" lvl="0" marL="457200" marR="0" rtl="0" algn="l">
              <a:lnSpc>
                <a:spcPct val="130000"/>
              </a:lnSpc>
              <a:spcBef>
                <a:spcPts val="0"/>
              </a:spcBef>
              <a:spcAft>
                <a:spcPts val="0"/>
              </a:spcAft>
              <a:buClr>
                <a:srgbClr val="BC182C"/>
              </a:buClr>
              <a:buSzPts val="1200"/>
              <a:buChar char="●"/>
            </a:pPr>
            <a:r>
              <a:rPr lang="es" sz="1600">
                <a:solidFill>
                  <a:schemeClr val="dk1"/>
                </a:solidFill>
              </a:rPr>
              <a:t>+= : indica la autosuma </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indica la auto multiplicación</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indica la auto resta</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indica la auto suma unitaria</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indica la auto resta unitaria</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comentario unilinea</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comienzo de comentario multilínea</a:t>
            </a:r>
            <a:endParaRPr sz="1600">
              <a:solidFill>
                <a:schemeClr val="dk1"/>
              </a:solidFill>
            </a:endParaRPr>
          </a:p>
          <a:p>
            <a:pPr indent="-304800" lvl="0" marL="457200" rtl="0" algn="l">
              <a:lnSpc>
                <a:spcPct val="130000"/>
              </a:lnSpc>
              <a:spcBef>
                <a:spcPts val="0"/>
              </a:spcBef>
              <a:spcAft>
                <a:spcPts val="0"/>
              </a:spcAft>
              <a:buClr>
                <a:srgbClr val="BC182C"/>
              </a:buClr>
              <a:buSzPts val="1200"/>
              <a:buChar char="●"/>
            </a:pPr>
            <a:r>
              <a:rPr lang="es" sz="1600">
                <a:solidFill>
                  <a:schemeClr val="dk1"/>
                </a:solidFill>
              </a:rPr>
              <a:t>*/ : fin de comentario multilínea</a:t>
            </a:r>
            <a:endParaRPr sz="1600">
              <a:solidFill>
                <a:srgbClr val="556271"/>
              </a:solidFill>
            </a:endParaRPr>
          </a:p>
        </p:txBody>
      </p:sp>
      <p:sp>
        <p:nvSpPr>
          <p:cNvPr id="176" name="Google Shape;176;g1258892fe63_0_502"/>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1258892fe63_0_48"/>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182" name="Google Shape;182;g1258892fe63_0_48"/>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1258892fe63_0_48"/>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cxnSp>
        <p:nvCxnSpPr>
          <p:cNvPr id="184" name="Google Shape;184;g1258892fe63_0_48"/>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185" name="Google Shape;185;g1258892fe63_0_48"/>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186" name="Google Shape;186;g1258892fe63_0_48"/>
          <p:cNvSpPr txBox="1"/>
          <p:nvPr>
            <p:ph idx="4294967295" type="ctrTitle"/>
          </p:nvPr>
        </p:nvSpPr>
        <p:spPr>
          <a:xfrm>
            <a:off x="1812600" y="2011202"/>
            <a:ext cx="5518800" cy="113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El hardware del curso: Arduino Uno y la Protoboard</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cxnSp>
        <p:nvCxnSpPr>
          <p:cNvPr id="191" name="Google Shape;191;g122dc1a69f9_0_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92" name="Google Shape;192;g122dc1a69f9_0_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pic>
        <p:nvPicPr>
          <p:cNvPr id="193" name="Google Shape;193;g122dc1a69f9_0_0"/>
          <p:cNvPicPr preferRelativeResize="0"/>
          <p:nvPr/>
        </p:nvPicPr>
        <p:blipFill>
          <a:blip r:embed="rId4">
            <a:alphaModFix/>
          </a:blip>
          <a:stretch>
            <a:fillRect/>
          </a:stretch>
        </p:blipFill>
        <p:spPr>
          <a:xfrm rot="5400000">
            <a:off x="2851153" y="1980327"/>
            <a:ext cx="2689337" cy="1710130"/>
          </a:xfrm>
          <a:prstGeom prst="rect">
            <a:avLst/>
          </a:prstGeom>
          <a:noFill/>
          <a:ln>
            <a:noFill/>
          </a:ln>
        </p:spPr>
      </p:pic>
      <p:cxnSp>
        <p:nvCxnSpPr>
          <p:cNvPr id="194" name="Google Shape;194;g122dc1a69f9_0_0"/>
          <p:cNvCxnSpPr>
            <a:endCxn id="195" idx="1"/>
          </p:cNvCxnSpPr>
          <p:nvPr/>
        </p:nvCxnSpPr>
        <p:spPr>
          <a:xfrm flipH="1" rot="10800000">
            <a:off x="4928854" y="1739168"/>
            <a:ext cx="952200" cy="173100"/>
          </a:xfrm>
          <a:prstGeom prst="straightConnector1">
            <a:avLst/>
          </a:prstGeom>
          <a:noFill/>
          <a:ln cap="flat" cmpd="sng" w="9525">
            <a:solidFill>
              <a:srgbClr val="FF9900"/>
            </a:solidFill>
            <a:prstDash val="solid"/>
            <a:round/>
            <a:headEnd len="med" w="med" type="none"/>
            <a:tailEnd len="med" w="med" type="triangle"/>
          </a:ln>
        </p:spPr>
      </p:cxnSp>
      <p:cxnSp>
        <p:nvCxnSpPr>
          <p:cNvPr id="196" name="Google Shape;196;g122dc1a69f9_0_0"/>
          <p:cNvCxnSpPr/>
          <p:nvPr/>
        </p:nvCxnSpPr>
        <p:spPr>
          <a:xfrm rot="10800000">
            <a:off x="2685387" y="1589628"/>
            <a:ext cx="699600" cy="218400"/>
          </a:xfrm>
          <a:prstGeom prst="straightConnector1">
            <a:avLst/>
          </a:prstGeom>
          <a:noFill/>
          <a:ln cap="flat" cmpd="sng" w="9525">
            <a:solidFill>
              <a:schemeClr val="dk1"/>
            </a:solidFill>
            <a:prstDash val="solid"/>
            <a:round/>
            <a:headEnd len="med" w="med" type="none"/>
            <a:tailEnd len="med" w="med" type="triangle"/>
          </a:ln>
        </p:spPr>
      </p:cxnSp>
      <p:cxnSp>
        <p:nvCxnSpPr>
          <p:cNvPr id="197" name="Google Shape;197;g122dc1a69f9_0_0"/>
          <p:cNvCxnSpPr>
            <a:endCxn id="198" idx="1"/>
          </p:cNvCxnSpPr>
          <p:nvPr/>
        </p:nvCxnSpPr>
        <p:spPr>
          <a:xfrm flipH="1" rot="10800000">
            <a:off x="4478953" y="1120013"/>
            <a:ext cx="603600" cy="403500"/>
          </a:xfrm>
          <a:prstGeom prst="straightConnector1">
            <a:avLst/>
          </a:prstGeom>
          <a:noFill/>
          <a:ln cap="flat" cmpd="sng" w="9525">
            <a:solidFill>
              <a:srgbClr val="595959"/>
            </a:solidFill>
            <a:prstDash val="solid"/>
            <a:round/>
            <a:headEnd len="med" w="med" type="none"/>
            <a:tailEnd len="med" w="med" type="triangle"/>
          </a:ln>
        </p:spPr>
      </p:cxnSp>
      <p:cxnSp>
        <p:nvCxnSpPr>
          <p:cNvPr id="199" name="Google Shape;199;g122dc1a69f9_0_0"/>
          <p:cNvCxnSpPr>
            <a:endCxn id="200" idx="3"/>
          </p:cNvCxnSpPr>
          <p:nvPr/>
        </p:nvCxnSpPr>
        <p:spPr>
          <a:xfrm rot="10800000">
            <a:off x="2608603" y="2156600"/>
            <a:ext cx="1535400" cy="164400"/>
          </a:xfrm>
          <a:prstGeom prst="straightConnector1">
            <a:avLst/>
          </a:prstGeom>
          <a:noFill/>
          <a:ln cap="flat" cmpd="sng" w="9525">
            <a:solidFill>
              <a:schemeClr val="dk1"/>
            </a:solidFill>
            <a:prstDash val="solid"/>
            <a:round/>
            <a:headEnd len="med" w="med" type="none"/>
            <a:tailEnd len="med" w="med" type="triangle"/>
          </a:ln>
        </p:spPr>
      </p:cxnSp>
      <p:cxnSp>
        <p:nvCxnSpPr>
          <p:cNvPr id="201" name="Google Shape;201;g122dc1a69f9_0_0"/>
          <p:cNvCxnSpPr>
            <a:endCxn id="202" idx="3"/>
          </p:cNvCxnSpPr>
          <p:nvPr/>
        </p:nvCxnSpPr>
        <p:spPr>
          <a:xfrm flipH="1">
            <a:off x="2732475" y="3199550"/>
            <a:ext cx="1266000" cy="902100"/>
          </a:xfrm>
          <a:prstGeom prst="straightConnector1">
            <a:avLst/>
          </a:prstGeom>
          <a:noFill/>
          <a:ln cap="flat" cmpd="sng" w="9525">
            <a:solidFill>
              <a:srgbClr val="980000"/>
            </a:solidFill>
            <a:prstDash val="solid"/>
            <a:round/>
            <a:headEnd len="med" w="med" type="none"/>
            <a:tailEnd len="med" w="med" type="triangle"/>
          </a:ln>
        </p:spPr>
      </p:cxnSp>
      <p:sp>
        <p:nvSpPr>
          <p:cNvPr id="203" name="Google Shape;203;g122dc1a69f9_0_0"/>
          <p:cNvSpPr/>
          <p:nvPr/>
        </p:nvSpPr>
        <p:spPr>
          <a:xfrm>
            <a:off x="4663100" y="2673125"/>
            <a:ext cx="573000" cy="14247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122dc1a69f9_0_0"/>
          <p:cNvSpPr/>
          <p:nvPr/>
        </p:nvSpPr>
        <p:spPr>
          <a:xfrm>
            <a:off x="4749750" y="2872171"/>
            <a:ext cx="332700" cy="3444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122dc1a69f9_0_0"/>
          <p:cNvSpPr/>
          <p:nvPr/>
        </p:nvSpPr>
        <p:spPr>
          <a:xfrm>
            <a:off x="3257037" y="3432781"/>
            <a:ext cx="443700" cy="655800"/>
          </a:xfrm>
          <a:prstGeom prst="rect">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6" name="Google Shape;206;g122dc1a69f9_0_0"/>
          <p:cNvCxnSpPr>
            <a:endCxn id="207" idx="3"/>
          </p:cNvCxnSpPr>
          <p:nvPr/>
        </p:nvCxnSpPr>
        <p:spPr>
          <a:xfrm rot="10800000">
            <a:off x="2480881" y="2888675"/>
            <a:ext cx="955200" cy="287700"/>
          </a:xfrm>
          <a:prstGeom prst="straightConnector1">
            <a:avLst/>
          </a:prstGeom>
          <a:noFill/>
          <a:ln cap="flat" cmpd="sng" w="9525">
            <a:solidFill>
              <a:schemeClr val="dk1"/>
            </a:solidFill>
            <a:prstDash val="solid"/>
            <a:round/>
            <a:headEnd len="med" w="med" type="none"/>
            <a:tailEnd len="med" w="med" type="triangle"/>
          </a:ln>
        </p:spPr>
      </p:cxnSp>
      <p:cxnSp>
        <p:nvCxnSpPr>
          <p:cNvPr id="208" name="Google Shape;208;g122dc1a69f9_0_0"/>
          <p:cNvCxnSpPr>
            <a:endCxn id="209" idx="3"/>
          </p:cNvCxnSpPr>
          <p:nvPr/>
        </p:nvCxnSpPr>
        <p:spPr>
          <a:xfrm flipH="1">
            <a:off x="1988021" y="3100350"/>
            <a:ext cx="1439700" cy="394800"/>
          </a:xfrm>
          <a:prstGeom prst="straightConnector1">
            <a:avLst/>
          </a:prstGeom>
          <a:noFill/>
          <a:ln cap="flat" cmpd="sng" w="9525">
            <a:solidFill>
              <a:srgbClr val="FF0000"/>
            </a:solidFill>
            <a:prstDash val="solid"/>
            <a:round/>
            <a:headEnd len="med" w="med" type="none"/>
            <a:tailEnd len="med" w="med" type="triangle"/>
          </a:ln>
        </p:spPr>
      </p:cxnSp>
      <p:sp>
        <p:nvSpPr>
          <p:cNvPr id="195" name="Google Shape;195;g122dc1a69f9_0_0"/>
          <p:cNvSpPr txBox="1"/>
          <p:nvPr/>
        </p:nvSpPr>
        <p:spPr>
          <a:xfrm>
            <a:off x="5881054" y="1523618"/>
            <a:ext cx="1603500" cy="431100"/>
          </a:xfrm>
          <a:prstGeom prst="rect">
            <a:avLst/>
          </a:prstGeom>
          <a:solidFill>
            <a:srgbClr val="6FA8D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Botón reset</a:t>
            </a:r>
            <a:endParaRPr sz="1600">
              <a:solidFill>
                <a:schemeClr val="dk1"/>
              </a:solidFill>
            </a:endParaRPr>
          </a:p>
        </p:txBody>
      </p:sp>
      <p:sp>
        <p:nvSpPr>
          <p:cNvPr id="202" name="Google Shape;202;g122dc1a69f9_0_0"/>
          <p:cNvSpPr txBox="1"/>
          <p:nvPr/>
        </p:nvSpPr>
        <p:spPr>
          <a:xfrm>
            <a:off x="883575" y="3886100"/>
            <a:ext cx="1848900" cy="431100"/>
          </a:xfrm>
          <a:prstGeom prst="rect">
            <a:avLst/>
          </a:prstGeom>
          <a:solidFill>
            <a:srgbClr val="6FA8D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Microcontrolador</a:t>
            </a:r>
            <a:endParaRPr sz="1600">
              <a:solidFill>
                <a:schemeClr val="dk1"/>
              </a:solidFill>
            </a:endParaRPr>
          </a:p>
        </p:txBody>
      </p:sp>
      <p:cxnSp>
        <p:nvCxnSpPr>
          <p:cNvPr id="210" name="Google Shape;210;g122dc1a69f9_0_0"/>
          <p:cNvCxnSpPr>
            <a:stCxn id="203" idx="3"/>
            <a:endCxn id="211" idx="1"/>
          </p:cNvCxnSpPr>
          <p:nvPr/>
        </p:nvCxnSpPr>
        <p:spPr>
          <a:xfrm flipH="1" rot="10800000">
            <a:off x="5236100" y="2905775"/>
            <a:ext cx="388800" cy="479700"/>
          </a:xfrm>
          <a:prstGeom prst="straightConnector1">
            <a:avLst/>
          </a:prstGeom>
          <a:noFill/>
          <a:ln cap="flat" cmpd="sng" w="9525">
            <a:solidFill>
              <a:srgbClr val="00FFFF"/>
            </a:solidFill>
            <a:prstDash val="solid"/>
            <a:round/>
            <a:headEnd len="med" w="med" type="none"/>
            <a:tailEnd len="med" w="med" type="triangle"/>
          </a:ln>
        </p:spPr>
      </p:cxnSp>
      <p:sp>
        <p:nvSpPr>
          <p:cNvPr id="211" name="Google Shape;211;g122dc1a69f9_0_0"/>
          <p:cNvSpPr txBox="1"/>
          <p:nvPr/>
        </p:nvSpPr>
        <p:spPr>
          <a:xfrm>
            <a:off x="5625045" y="2690125"/>
            <a:ext cx="2457300" cy="431100"/>
          </a:xfrm>
          <a:prstGeom prst="rect">
            <a:avLst/>
          </a:prstGeom>
          <a:solidFill>
            <a:srgbClr val="C9DA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Pines Digitales</a:t>
            </a:r>
            <a:endParaRPr sz="1600">
              <a:solidFill>
                <a:schemeClr val="dk1"/>
              </a:solidFill>
            </a:endParaRPr>
          </a:p>
        </p:txBody>
      </p:sp>
      <p:cxnSp>
        <p:nvCxnSpPr>
          <p:cNvPr id="212" name="Google Shape;212;g122dc1a69f9_0_0"/>
          <p:cNvCxnSpPr>
            <a:stCxn id="204" idx="3"/>
            <a:endCxn id="213" idx="1"/>
          </p:cNvCxnSpPr>
          <p:nvPr/>
        </p:nvCxnSpPr>
        <p:spPr>
          <a:xfrm flipH="1" rot="10800000">
            <a:off x="5082450" y="2322271"/>
            <a:ext cx="399900" cy="722100"/>
          </a:xfrm>
          <a:prstGeom prst="straightConnector1">
            <a:avLst/>
          </a:prstGeom>
          <a:noFill/>
          <a:ln cap="flat" cmpd="sng" w="9525">
            <a:solidFill>
              <a:srgbClr val="FF00FF"/>
            </a:solidFill>
            <a:prstDash val="solid"/>
            <a:round/>
            <a:headEnd len="med" w="med" type="none"/>
            <a:tailEnd len="med" w="med" type="triangle"/>
          </a:ln>
        </p:spPr>
      </p:cxnSp>
      <p:sp>
        <p:nvSpPr>
          <p:cNvPr id="213" name="Google Shape;213;g122dc1a69f9_0_0"/>
          <p:cNvSpPr txBox="1"/>
          <p:nvPr/>
        </p:nvSpPr>
        <p:spPr>
          <a:xfrm>
            <a:off x="5482253" y="2106863"/>
            <a:ext cx="2600100" cy="431100"/>
          </a:xfrm>
          <a:prstGeom prst="rect">
            <a:avLst/>
          </a:prstGeom>
          <a:solidFill>
            <a:srgbClr val="C9DA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Pines PWM (algunos)</a:t>
            </a:r>
            <a:endParaRPr sz="1600">
              <a:solidFill>
                <a:schemeClr val="dk1"/>
              </a:solidFill>
            </a:endParaRPr>
          </a:p>
        </p:txBody>
      </p:sp>
      <p:cxnSp>
        <p:nvCxnSpPr>
          <p:cNvPr id="214" name="Google Shape;214;g122dc1a69f9_0_0"/>
          <p:cNvCxnSpPr>
            <a:stCxn id="215" idx="3"/>
            <a:endCxn id="216" idx="1"/>
          </p:cNvCxnSpPr>
          <p:nvPr/>
        </p:nvCxnSpPr>
        <p:spPr>
          <a:xfrm flipH="1" rot="10800000">
            <a:off x="5082548" y="3488997"/>
            <a:ext cx="542400" cy="504300"/>
          </a:xfrm>
          <a:prstGeom prst="straightConnector1">
            <a:avLst/>
          </a:prstGeom>
          <a:noFill/>
          <a:ln cap="flat" cmpd="sng" w="9525">
            <a:solidFill>
              <a:srgbClr val="FFD966"/>
            </a:solidFill>
            <a:prstDash val="solid"/>
            <a:round/>
            <a:headEnd len="med" w="med" type="none"/>
            <a:tailEnd len="med" w="med" type="triangle"/>
          </a:ln>
        </p:spPr>
      </p:cxnSp>
      <p:sp>
        <p:nvSpPr>
          <p:cNvPr id="215" name="Google Shape;215;g122dc1a69f9_0_0"/>
          <p:cNvSpPr/>
          <p:nvPr/>
        </p:nvSpPr>
        <p:spPr>
          <a:xfrm>
            <a:off x="4835048" y="3869847"/>
            <a:ext cx="247500" cy="246900"/>
          </a:xfrm>
          <a:prstGeom prst="rect">
            <a:avLst/>
          </a:prstGeom>
          <a:noFill/>
          <a:ln cap="flat" cmpd="sng" w="952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122dc1a69f9_0_0"/>
          <p:cNvSpPr txBox="1"/>
          <p:nvPr/>
        </p:nvSpPr>
        <p:spPr>
          <a:xfrm>
            <a:off x="5624899" y="3273375"/>
            <a:ext cx="2844000" cy="431100"/>
          </a:xfrm>
          <a:prstGeom prst="rect">
            <a:avLst/>
          </a:prstGeom>
          <a:solidFill>
            <a:srgbClr val="C9DA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Pines de envío y recepción</a:t>
            </a:r>
            <a:endParaRPr sz="1600">
              <a:solidFill>
                <a:schemeClr val="dk1"/>
              </a:solidFill>
            </a:endParaRPr>
          </a:p>
        </p:txBody>
      </p:sp>
      <p:sp>
        <p:nvSpPr>
          <p:cNvPr id="207" name="Google Shape;207;g122dc1a69f9_0_0"/>
          <p:cNvSpPr txBox="1"/>
          <p:nvPr/>
        </p:nvSpPr>
        <p:spPr>
          <a:xfrm>
            <a:off x="1141681" y="2673125"/>
            <a:ext cx="1339200" cy="431100"/>
          </a:xfrm>
          <a:prstGeom prst="rect">
            <a:avLst/>
          </a:prstGeom>
          <a:solidFill>
            <a:srgbClr val="A4C2F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Tierra</a:t>
            </a:r>
            <a:endParaRPr sz="1600">
              <a:solidFill>
                <a:schemeClr val="dk1"/>
              </a:solidFill>
            </a:endParaRPr>
          </a:p>
        </p:txBody>
      </p:sp>
      <p:sp>
        <p:nvSpPr>
          <p:cNvPr id="209" name="Google Shape;209;g122dc1a69f9_0_0"/>
          <p:cNvSpPr txBox="1"/>
          <p:nvPr/>
        </p:nvSpPr>
        <p:spPr>
          <a:xfrm>
            <a:off x="1415021" y="3279600"/>
            <a:ext cx="573000" cy="431100"/>
          </a:xfrm>
          <a:prstGeom prst="rect">
            <a:avLst/>
          </a:prstGeom>
          <a:solidFill>
            <a:srgbClr val="A4C2F4"/>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5V</a:t>
            </a:r>
            <a:endParaRPr sz="1600">
              <a:solidFill>
                <a:schemeClr val="dk1"/>
              </a:solidFill>
            </a:endParaRPr>
          </a:p>
        </p:txBody>
      </p:sp>
      <p:sp>
        <p:nvSpPr>
          <p:cNvPr id="200" name="Google Shape;200;g122dc1a69f9_0_0"/>
          <p:cNvSpPr txBox="1"/>
          <p:nvPr/>
        </p:nvSpPr>
        <p:spPr>
          <a:xfrm>
            <a:off x="959503" y="1941050"/>
            <a:ext cx="16491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Cristal</a:t>
            </a:r>
            <a:endParaRPr sz="1600">
              <a:solidFill>
                <a:schemeClr val="dk1"/>
              </a:solidFill>
            </a:endParaRPr>
          </a:p>
        </p:txBody>
      </p:sp>
      <p:sp>
        <p:nvSpPr>
          <p:cNvPr id="217" name="Google Shape;217;g122dc1a69f9_0_0"/>
          <p:cNvSpPr txBox="1"/>
          <p:nvPr/>
        </p:nvSpPr>
        <p:spPr>
          <a:xfrm>
            <a:off x="194002" y="1221975"/>
            <a:ext cx="24573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t>Jack de alimentación</a:t>
            </a:r>
            <a:endParaRPr sz="1600"/>
          </a:p>
        </p:txBody>
      </p:sp>
      <p:sp>
        <p:nvSpPr>
          <p:cNvPr id="198" name="Google Shape;198;g122dc1a69f9_0_0"/>
          <p:cNvSpPr txBox="1"/>
          <p:nvPr/>
        </p:nvSpPr>
        <p:spPr>
          <a:xfrm>
            <a:off x="5082553" y="904463"/>
            <a:ext cx="2371500" cy="431100"/>
          </a:xfrm>
          <a:prstGeom prst="rect">
            <a:avLst/>
          </a:prstGeom>
          <a:solidFill>
            <a:srgbClr val="6FA8D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Puerto com serial</a:t>
            </a:r>
            <a:endParaRPr sz="1600">
              <a:solidFill>
                <a:schemeClr val="dk1"/>
              </a:solidFill>
            </a:endParaRPr>
          </a:p>
        </p:txBody>
      </p:sp>
      <p:cxnSp>
        <p:nvCxnSpPr>
          <p:cNvPr id="218" name="Google Shape;218;g122dc1a69f9_0_0"/>
          <p:cNvCxnSpPr>
            <a:stCxn id="205" idx="2"/>
            <a:endCxn id="219" idx="0"/>
          </p:cNvCxnSpPr>
          <p:nvPr/>
        </p:nvCxnSpPr>
        <p:spPr>
          <a:xfrm>
            <a:off x="3478887" y="4088581"/>
            <a:ext cx="0" cy="528600"/>
          </a:xfrm>
          <a:prstGeom prst="straightConnector1">
            <a:avLst/>
          </a:prstGeom>
          <a:noFill/>
          <a:ln cap="flat" cmpd="sng" w="9525">
            <a:solidFill>
              <a:srgbClr val="9900FF"/>
            </a:solidFill>
            <a:prstDash val="solid"/>
            <a:round/>
            <a:headEnd len="med" w="med" type="none"/>
            <a:tailEnd len="med" w="med" type="triangle"/>
          </a:ln>
        </p:spPr>
      </p:cxnSp>
      <p:sp>
        <p:nvSpPr>
          <p:cNvPr id="219" name="Google Shape;219;g122dc1a69f9_0_0"/>
          <p:cNvSpPr txBox="1"/>
          <p:nvPr/>
        </p:nvSpPr>
        <p:spPr>
          <a:xfrm>
            <a:off x="2085366" y="4617100"/>
            <a:ext cx="2787000" cy="431100"/>
          </a:xfrm>
          <a:prstGeom prst="rect">
            <a:avLst/>
          </a:prstGeom>
          <a:solidFill>
            <a:srgbClr val="C9DA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Pines Analogicos/Digitales</a:t>
            </a:r>
            <a:endParaRPr sz="1600">
              <a:solidFill>
                <a:schemeClr val="dk1"/>
              </a:solidFill>
            </a:endParaRPr>
          </a:p>
        </p:txBody>
      </p:sp>
      <p:sp>
        <p:nvSpPr>
          <p:cNvPr id="220" name="Google Shape;220;g122dc1a69f9_0_0"/>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221" name="Google Shape;221;g122dc1a69f9_0_0"/>
          <p:cNvSpPr txBox="1"/>
          <p:nvPr/>
        </p:nvSpPr>
        <p:spPr>
          <a:xfrm>
            <a:off x="474350" y="721550"/>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Arduino Uno</a:t>
            </a:r>
            <a:endParaRPr b="1" i="0" sz="26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rgbClr val="43434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 name="Shape 225"/>
        <p:cNvGrpSpPr/>
        <p:nvPr/>
      </p:nvGrpSpPr>
      <p:grpSpPr>
        <a:xfrm>
          <a:off x="0" y="0"/>
          <a:ext cx="0" cy="0"/>
          <a:chOff x="0" y="0"/>
          <a:chExt cx="0" cy="0"/>
        </a:xfrm>
      </p:grpSpPr>
      <p:cxnSp>
        <p:nvCxnSpPr>
          <p:cNvPr id="226" name="Google Shape;226;g122dc1a69f9_0_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27" name="Google Shape;227;g122dc1a69f9_0_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28" name="Google Shape;228;g122dc1a69f9_0_8"/>
          <p:cNvSpPr txBox="1"/>
          <p:nvPr/>
        </p:nvSpPr>
        <p:spPr>
          <a:xfrm>
            <a:off x="474350" y="721550"/>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Protoboard</a:t>
            </a:r>
            <a:endParaRPr b="1" i="0" sz="26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rgbClr val="434343"/>
              </a:solidFill>
              <a:latin typeface="Arial"/>
              <a:ea typeface="Arial"/>
              <a:cs typeface="Arial"/>
              <a:sym typeface="Arial"/>
            </a:endParaRPr>
          </a:p>
        </p:txBody>
      </p:sp>
      <p:pic>
        <p:nvPicPr>
          <p:cNvPr id="229" name="Google Shape;229;g122dc1a69f9_0_8"/>
          <p:cNvPicPr preferRelativeResize="0"/>
          <p:nvPr/>
        </p:nvPicPr>
        <p:blipFill>
          <a:blip r:embed="rId4">
            <a:alphaModFix/>
          </a:blip>
          <a:stretch>
            <a:fillRect/>
          </a:stretch>
        </p:blipFill>
        <p:spPr>
          <a:xfrm>
            <a:off x="2001020" y="2502350"/>
            <a:ext cx="5305175" cy="1754314"/>
          </a:xfrm>
          <a:prstGeom prst="rect">
            <a:avLst/>
          </a:prstGeom>
          <a:noFill/>
          <a:ln>
            <a:noFill/>
          </a:ln>
        </p:spPr>
      </p:pic>
      <p:sp>
        <p:nvSpPr>
          <p:cNvPr id="230" name="Google Shape;230;g122dc1a69f9_0_8"/>
          <p:cNvSpPr/>
          <p:nvPr/>
        </p:nvSpPr>
        <p:spPr>
          <a:xfrm>
            <a:off x="1862470" y="2359432"/>
            <a:ext cx="2791200" cy="474000"/>
          </a:xfrm>
          <a:prstGeom prst="rect">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122dc1a69f9_0_8"/>
          <p:cNvSpPr/>
          <p:nvPr/>
        </p:nvSpPr>
        <p:spPr>
          <a:xfrm>
            <a:off x="4670237" y="2359432"/>
            <a:ext cx="2499000" cy="4350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g122dc1a69f9_0_8"/>
          <p:cNvCxnSpPr/>
          <p:nvPr/>
        </p:nvCxnSpPr>
        <p:spPr>
          <a:xfrm>
            <a:off x="2208096" y="3503783"/>
            <a:ext cx="9300" cy="290100"/>
          </a:xfrm>
          <a:prstGeom prst="straightConnector1">
            <a:avLst/>
          </a:prstGeom>
          <a:noFill/>
          <a:ln cap="flat" cmpd="sng" w="38100">
            <a:solidFill>
              <a:srgbClr val="595959"/>
            </a:solidFill>
            <a:prstDash val="solid"/>
            <a:round/>
            <a:headEnd len="med" w="med" type="none"/>
            <a:tailEnd len="med" w="med" type="triangle"/>
          </a:ln>
        </p:spPr>
      </p:cxnSp>
      <p:cxnSp>
        <p:nvCxnSpPr>
          <p:cNvPr id="233" name="Google Shape;233;g122dc1a69f9_0_8"/>
          <p:cNvCxnSpPr/>
          <p:nvPr/>
        </p:nvCxnSpPr>
        <p:spPr>
          <a:xfrm>
            <a:off x="2592585" y="2596361"/>
            <a:ext cx="758100" cy="0"/>
          </a:xfrm>
          <a:prstGeom prst="straightConnector1">
            <a:avLst/>
          </a:prstGeom>
          <a:noFill/>
          <a:ln cap="flat" cmpd="sng" w="76200">
            <a:solidFill>
              <a:srgbClr val="595959"/>
            </a:solidFill>
            <a:prstDash val="solid"/>
            <a:round/>
            <a:headEnd len="med" w="med" type="none"/>
            <a:tailEnd len="med" w="med" type="triangle"/>
          </a:ln>
        </p:spPr>
      </p:cxnSp>
      <p:cxnSp>
        <p:nvCxnSpPr>
          <p:cNvPr id="234" name="Google Shape;234;g122dc1a69f9_0_8"/>
          <p:cNvCxnSpPr>
            <a:stCxn id="230" idx="0"/>
            <a:endCxn id="235" idx="3"/>
          </p:cNvCxnSpPr>
          <p:nvPr/>
        </p:nvCxnSpPr>
        <p:spPr>
          <a:xfrm rot="10800000">
            <a:off x="2376070" y="1753732"/>
            <a:ext cx="882000" cy="605700"/>
          </a:xfrm>
          <a:prstGeom prst="straightConnector1">
            <a:avLst/>
          </a:prstGeom>
          <a:noFill/>
          <a:ln cap="flat" cmpd="sng" w="9525">
            <a:solidFill>
              <a:srgbClr val="FFFF00"/>
            </a:solidFill>
            <a:prstDash val="solid"/>
            <a:round/>
            <a:headEnd len="med" w="med" type="none"/>
            <a:tailEnd len="med" w="med" type="triangle"/>
          </a:ln>
        </p:spPr>
      </p:cxnSp>
      <p:cxnSp>
        <p:nvCxnSpPr>
          <p:cNvPr id="236" name="Google Shape;236;g122dc1a69f9_0_8"/>
          <p:cNvCxnSpPr>
            <a:stCxn id="231" idx="0"/>
            <a:endCxn id="237" idx="2"/>
          </p:cNvCxnSpPr>
          <p:nvPr/>
        </p:nvCxnSpPr>
        <p:spPr>
          <a:xfrm rot="10800000">
            <a:off x="4635437" y="1754032"/>
            <a:ext cx="1284300" cy="605400"/>
          </a:xfrm>
          <a:prstGeom prst="straightConnector1">
            <a:avLst/>
          </a:prstGeom>
          <a:noFill/>
          <a:ln cap="flat" cmpd="sng" w="9525">
            <a:solidFill>
              <a:srgbClr val="FF9900"/>
            </a:solidFill>
            <a:prstDash val="solid"/>
            <a:round/>
            <a:headEnd len="med" w="med" type="none"/>
            <a:tailEnd len="med" w="med" type="triangle"/>
          </a:ln>
        </p:spPr>
      </p:cxnSp>
      <p:sp>
        <p:nvSpPr>
          <p:cNvPr id="235" name="Google Shape;235;g122dc1a69f9_0_8"/>
          <p:cNvSpPr txBox="1"/>
          <p:nvPr/>
        </p:nvSpPr>
        <p:spPr>
          <a:xfrm>
            <a:off x="531453" y="1538275"/>
            <a:ext cx="1844700" cy="431100"/>
          </a:xfrm>
          <a:prstGeom prst="rect">
            <a:avLst/>
          </a:prstGeom>
          <a:solidFill>
            <a:srgbClr val="B4A7D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Sección 1</a:t>
            </a:r>
            <a:endParaRPr sz="1600">
              <a:solidFill>
                <a:schemeClr val="dk1"/>
              </a:solidFill>
            </a:endParaRPr>
          </a:p>
        </p:txBody>
      </p:sp>
      <p:sp>
        <p:nvSpPr>
          <p:cNvPr id="237" name="Google Shape;237;g122dc1a69f9_0_8"/>
          <p:cNvSpPr txBox="1"/>
          <p:nvPr/>
        </p:nvSpPr>
        <p:spPr>
          <a:xfrm>
            <a:off x="3821260" y="1322875"/>
            <a:ext cx="1628100" cy="431100"/>
          </a:xfrm>
          <a:prstGeom prst="rect">
            <a:avLst/>
          </a:prstGeom>
          <a:solidFill>
            <a:srgbClr val="B4A7D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chemeClr val="dk1"/>
                </a:solidFill>
              </a:rPr>
              <a:t>Sección 2</a:t>
            </a:r>
            <a:endParaRPr sz="1600">
              <a:solidFill>
                <a:schemeClr val="dk1"/>
              </a:solidFill>
            </a:endParaRPr>
          </a:p>
        </p:txBody>
      </p:sp>
      <p:sp>
        <p:nvSpPr>
          <p:cNvPr id="238" name="Google Shape;238;g122dc1a69f9_0_8"/>
          <p:cNvSpPr txBox="1"/>
          <p:nvPr/>
        </p:nvSpPr>
        <p:spPr>
          <a:xfrm>
            <a:off x="2426326" y="3418013"/>
            <a:ext cx="45630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FFFFFF"/>
                </a:solidFill>
              </a:rPr>
              <a:t>LA ENERGÍA CORRE VERTICALMENTE</a:t>
            </a:r>
            <a:endParaRPr b="1" sz="1800">
              <a:solidFill>
                <a:srgbClr val="FFFFFF"/>
              </a:solidFill>
            </a:endParaRPr>
          </a:p>
        </p:txBody>
      </p:sp>
      <p:sp>
        <p:nvSpPr>
          <p:cNvPr id="239" name="Google Shape;239;g122dc1a69f9_0_8"/>
          <p:cNvSpPr txBox="1"/>
          <p:nvPr/>
        </p:nvSpPr>
        <p:spPr>
          <a:xfrm>
            <a:off x="6247826" y="1557248"/>
            <a:ext cx="2742000" cy="7389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FFFFFF"/>
                </a:solidFill>
              </a:rPr>
              <a:t>LA ENERGÍA CORRE HORIZONTALMENTE</a:t>
            </a:r>
            <a:endParaRPr b="1" sz="1800">
              <a:solidFill>
                <a:srgbClr val="FFFFFF"/>
              </a:solidFill>
            </a:endParaRPr>
          </a:p>
        </p:txBody>
      </p:sp>
      <p:cxnSp>
        <p:nvCxnSpPr>
          <p:cNvPr id="240" name="Google Shape;240;g122dc1a69f9_0_8"/>
          <p:cNvCxnSpPr/>
          <p:nvPr/>
        </p:nvCxnSpPr>
        <p:spPr>
          <a:xfrm>
            <a:off x="1082250" y="3334535"/>
            <a:ext cx="6979500" cy="18600"/>
          </a:xfrm>
          <a:prstGeom prst="straightConnector1">
            <a:avLst/>
          </a:prstGeom>
          <a:noFill/>
          <a:ln cap="flat" cmpd="sng" w="38100">
            <a:solidFill>
              <a:srgbClr val="FF0000"/>
            </a:solidFill>
            <a:prstDash val="solid"/>
            <a:round/>
            <a:headEnd len="med" w="med" type="none"/>
            <a:tailEnd len="med" w="med" type="none"/>
          </a:ln>
        </p:spPr>
      </p:cxnSp>
      <p:cxnSp>
        <p:nvCxnSpPr>
          <p:cNvPr id="241" name="Google Shape;241;g122dc1a69f9_0_8"/>
          <p:cNvCxnSpPr/>
          <p:nvPr/>
        </p:nvCxnSpPr>
        <p:spPr>
          <a:xfrm>
            <a:off x="4614100" y="2136449"/>
            <a:ext cx="0" cy="802500"/>
          </a:xfrm>
          <a:prstGeom prst="straightConnector1">
            <a:avLst/>
          </a:prstGeom>
          <a:noFill/>
          <a:ln cap="flat" cmpd="sng" w="38100">
            <a:solidFill>
              <a:srgbClr val="00FF00"/>
            </a:solidFill>
            <a:prstDash val="solid"/>
            <a:round/>
            <a:headEnd len="med" w="med" type="none"/>
            <a:tailEnd len="med" w="med" type="none"/>
          </a:ln>
        </p:spPr>
      </p:cxnSp>
      <p:cxnSp>
        <p:nvCxnSpPr>
          <p:cNvPr id="242" name="Google Shape;242;g122dc1a69f9_0_8"/>
          <p:cNvCxnSpPr/>
          <p:nvPr/>
        </p:nvCxnSpPr>
        <p:spPr>
          <a:xfrm>
            <a:off x="4614100" y="3944611"/>
            <a:ext cx="0" cy="802500"/>
          </a:xfrm>
          <a:prstGeom prst="straightConnector1">
            <a:avLst/>
          </a:prstGeom>
          <a:noFill/>
          <a:ln cap="flat" cmpd="sng" w="38100">
            <a:solidFill>
              <a:srgbClr val="00FF00"/>
            </a:solidFill>
            <a:prstDash val="solid"/>
            <a:round/>
            <a:headEnd len="med" w="med" type="none"/>
            <a:tailEnd len="med" w="med" type="none"/>
          </a:ln>
        </p:spPr>
      </p:cxnSp>
      <p:sp>
        <p:nvSpPr>
          <p:cNvPr id="243" name="Google Shape;243;g122dc1a69f9_0_8"/>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244" name="Google Shape;244;g122dc1a69f9_0_8"/>
          <p:cNvSpPr txBox="1"/>
          <p:nvPr/>
        </p:nvSpPr>
        <p:spPr>
          <a:xfrm>
            <a:off x="2426326" y="2833613"/>
            <a:ext cx="45630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FFFFFF"/>
                </a:solidFill>
              </a:rPr>
              <a:t>LA ENERGÍA CORRE VERTICALMENTE</a:t>
            </a:r>
            <a:endParaRPr b="1" sz="18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g1258892fe63_0_57"/>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50" name="Google Shape;250;g1258892fe63_0_57"/>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1258892fe63_0_57"/>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cxnSp>
        <p:nvCxnSpPr>
          <p:cNvPr id="252" name="Google Shape;252;g1258892fe63_0_57"/>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53" name="Google Shape;253;g1258892fe63_0_57"/>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54" name="Google Shape;254;g1258892fe63_0_57"/>
          <p:cNvSpPr txBox="1"/>
          <p:nvPr>
            <p:ph idx="4294967295" type="ctrTitle"/>
          </p:nvPr>
        </p:nvSpPr>
        <p:spPr>
          <a:xfrm>
            <a:off x="1812600" y="2011202"/>
            <a:ext cx="5518800" cy="113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El software del Curso: Arduino IDE, CircuitoIO y Tinkercad</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125f2de292f_0_2"/>
          <p:cNvSpPr txBox="1"/>
          <p:nvPr/>
        </p:nvSpPr>
        <p:spPr>
          <a:xfrm>
            <a:off x="5292025" y="25364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chemeClr val="lt1"/>
                </a:highlight>
              </a:rPr>
              <a:t>Arduino IDE</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rgbClr val="000000"/>
              </a:buClr>
              <a:buSzPts val="1200"/>
              <a:buFont typeface="Arial"/>
              <a:buNone/>
            </a:pPr>
            <a:r>
              <a:rPr lang="es" sz="1200">
                <a:solidFill>
                  <a:srgbClr val="556271"/>
                </a:solidFill>
              </a:rPr>
              <a:t>Es el editor de texto, compilador y subidor de código nativo de Arduino. En el vamos a escribir nuestro código, importar librerías, compilar el código, subirlo a Arduino y más.</a:t>
            </a:r>
            <a:endParaRPr b="0" i="0" sz="1100" u="none" cap="none" strike="noStrike">
              <a:solidFill>
                <a:srgbClr val="666666"/>
              </a:solidFill>
              <a:highlight>
                <a:srgbClr val="FFFFFF"/>
              </a:highlight>
              <a:latin typeface="Arial"/>
              <a:ea typeface="Arial"/>
              <a:cs typeface="Arial"/>
              <a:sym typeface="Arial"/>
            </a:endParaRPr>
          </a:p>
        </p:txBody>
      </p:sp>
      <p:sp>
        <p:nvSpPr>
          <p:cNvPr id="260" name="Google Shape;260;g125f2de292f_0_2"/>
          <p:cNvSpPr txBox="1"/>
          <p:nvPr/>
        </p:nvSpPr>
        <p:spPr>
          <a:xfrm>
            <a:off x="474350" y="25364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rgbClr val="FFFFFF"/>
                </a:highlight>
              </a:rPr>
              <a:t>Circuito IO</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chemeClr val="dk1"/>
              </a:buClr>
              <a:buSzPts val="1100"/>
              <a:buFont typeface="Arial"/>
              <a:buNone/>
            </a:pPr>
            <a:r>
              <a:rPr lang="es" sz="1200">
                <a:solidFill>
                  <a:srgbClr val="556271"/>
                </a:solidFill>
              </a:rPr>
              <a:t>Es un programa gratuito utilizado para visualizar las conexiones de cualquier elemento de hardware que quiera conectar a mi Arduino. Es muy útil cuando compro un elemento que no se muy bien como conectar.</a:t>
            </a:r>
            <a:endParaRPr b="0" i="0" sz="1100" u="none" cap="none" strike="noStrike">
              <a:solidFill>
                <a:srgbClr val="666666"/>
              </a:solidFill>
              <a:highlight>
                <a:srgbClr val="FFFFFF"/>
              </a:highlight>
              <a:latin typeface="Arial"/>
              <a:ea typeface="Arial"/>
              <a:cs typeface="Arial"/>
              <a:sym typeface="Arial"/>
            </a:endParaRPr>
          </a:p>
        </p:txBody>
      </p:sp>
      <p:sp>
        <p:nvSpPr>
          <p:cNvPr id="261" name="Google Shape;261;g125f2de292f_0_2"/>
          <p:cNvSpPr txBox="1"/>
          <p:nvPr/>
        </p:nvSpPr>
        <p:spPr>
          <a:xfrm>
            <a:off x="2783725" y="2536475"/>
            <a:ext cx="2135100" cy="1830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1" lang="es">
                <a:solidFill>
                  <a:srgbClr val="BC182C"/>
                </a:solidFill>
                <a:highlight>
                  <a:schemeClr val="lt1"/>
                </a:highlight>
              </a:rPr>
              <a:t>Tinkercad</a:t>
            </a:r>
            <a:endParaRPr b="1" i="0" sz="1400" u="none" cap="none" strike="noStrike">
              <a:solidFill>
                <a:srgbClr val="BC182C"/>
              </a:solidFill>
              <a:highlight>
                <a:srgbClr val="FFFFFF"/>
              </a:highlight>
              <a:latin typeface="Arial"/>
              <a:ea typeface="Arial"/>
              <a:cs typeface="Arial"/>
              <a:sym typeface="Arial"/>
            </a:endParaRPr>
          </a:p>
          <a:p>
            <a:pPr indent="0" lvl="0" marL="0" marR="0" rtl="0" algn="l">
              <a:lnSpc>
                <a:spcPct val="130000"/>
              </a:lnSpc>
              <a:spcBef>
                <a:spcPts val="0"/>
              </a:spcBef>
              <a:spcAft>
                <a:spcPts val="0"/>
              </a:spcAft>
              <a:buClr>
                <a:srgbClr val="000000"/>
              </a:buClr>
              <a:buSzPts val="1200"/>
              <a:buFont typeface="Arial"/>
              <a:buNone/>
            </a:pPr>
            <a:r>
              <a:rPr lang="es" sz="1200">
                <a:solidFill>
                  <a:srgbClr val="556271"/>
                </a:solidFill>
              </a:rPr>
              <a:t>Es un simulador virtual gratuito que nos permite escribir y ejecutar programas de Arduino sin necesidad de crear el programa o el circuito con componentes reales</a:t>
            </a:r>
            <a:endParaRPr b="0" i="0" sz="1100" u="none" cap="none" strike="noStrike">
              <a:solidFill>
                <a:srgbClr val="666666"/>
              </a:solidFill>
              <a:highlight>
                <a:srgbClr val="FFFFFF"/>
              </a:highlight>
              <a:latin typeface="Arial"/>
              <a:ea typeface="Arial"/>
              <a:cs typeface="Arial"/>
              <a:sym typeface="Arial"/>
            </a:endParaRPr>
          </a:p>
        </p:txBody>
      </p:sp>
      <p:cxnSp>
        <p:nvCxnSpPr>
          <p:cNvPr id="262" name="Google Shape;262;g125f2de292f_0_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63" name="Google Shape;263;g125f2de292f_0_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pic>
        <p:nvPicPr>
          <p:cNvPr id="264" name="Google Shape;264;g125f2de292f_0_2"/>
          <p:cNvPicPr preferRelativeResize="0"/>
          <p:nvPr/>
        </p:nvPicPr>
        <p:blipFill>
          <a:blip r:embed="rId4">
            <a:alphaModFix/>
          </a:blip>
          <a:stretch>
            <a:fillRect/>
          </a:stretch>
        </p:blipFill>
        <p:spPr>
          <a:xfrm>
            <a:off x="474362" y="1364425"/>
            <a:ext cx="2135054" cy="873568"/>
          </a:xfrm>
          <a:prstGeom prst="rect">
            <a:avLst/>
          </a:prstGeom>
          <a:noFill/>
          <a:ln>
            <a:noFill/>
          </a:ln>
        </p:spPr>
      </p:pic>
      <p:pic>
        <p:nvPicPr>
          <p:cNvPr id="265" name="Google Shape;265;g125f2de292f_0_2"/>
          <p:cNvPicPr preferRelativeResize="0"/>
          <p:nvPr/>
        </p:nvPicPr>
        <p:blipFill>
          <a:blip r:embed="rId5">
            <a:alphaModFix/>
          </a:blip>
          <a:stretch>
            <a:fillRect/>
          </a:stretch>
        </p:blipFill>
        <p:spPr>
          <a:xfrm>
            <a:off x="2783735" y="1364425"/>
            <a:ext cx="2135055" cy="873568"/>
          </a:xfrm>
          <a:prstGeom prst="rect">
            <a:avLst/>
          </a:prstGeom>
          <a:noFill/>
          <a:ln>
            <a:noFill/>
          </a:ln>
        </p:spPr>
      </p:pic>
      <p:sp>
        <p:nvSpPr>
          <p:cNvPr id="266" name="Google Shape;266;g125f2de292f_0_2"/>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267" name="Google Shape;267;g125f2de292f_0_2"/>
          <p:cNvSpPr txBox="1"/>
          <p:nvPr/>
        </p:nvSpPr>
        <p:spPr>
          <a:xfrm>
            <a:off x="474350" y="721550"/>
            <a:ext cx="30972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Programas Usados</a:t>
            </a:r>
            <a:endParaRPr b="1" i="0" sz="26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rgbClr val="434343"/>
              </a:solidFill>
              <a:latin typeface="Arial"/>
              <a:ea typeface="Arial"/>
              <a:cs typeface="Arial"/>
              <a:sym typeface="Arial"/>
            </a:endParaRPr>
          </a:p>
        </p:txBody>
      </p:sp>
      <p:pic>
        <p:nvPicPr>
          <p:cNvPr id="268" name="Google Shape;268;g125f2de292f_0_2"/>
          <p:cNvPicPr preferRelativeResize="0"/>
          <p:nvPr/>
        </p:nvPicPr>
        <p:blipFill>
          <a:blip r:embed="rId6">
            <a:alphaModFix/>
          </a:blip>
          <a:stretch>
            <a:fillRect/>
          </a:stretch>
        </p:blipFill>
        <p:spPr>
          <a:xfrm>
            <a:off x="5292022" y="1364425"/>
            <a:ext cx="1853950" cy="1062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g1258892fe63_0_75"/>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74" name="Google Shape;274;g1258892fe63_0_75"/>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1258892fe63_0_75"/>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cxnSp>
        <p:nvCxnSpPr>
          <p:cNvPr id="276" name="Google Shape;276;g1258892fe63_0_75"/>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77" name="Google Shape;277;g1258892fe63_0_75"/>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78" name="Google Shape;278;g1258892fe63_0_75"/>
          <p:cNvSpPr txBox="1"/>
          <p:nvPr>
            <p:ph idx="4294967295" type="ctrTitle"/>
          </p:nvPr>
        </p:nvSpPr>
        <p:spPr>
          <a:xfrm>
            <a:off x="1812600" y="2011202"/>
            <a:ext cx="5518800" cy="113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Una base de control: Nuestro proyecto integrador</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cxnSp>
        <p:nvCxnSpPr>
          <p:cNvPr id="283" name="Google Shape;283;g1258892fe63_0_261"/>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84" name="Google Shape;284;g1258892fe63_0_261"/>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85" name="Google Shape;285;g1258892fe63_0_261"/>
          <p:cNvSpPr/>
          <p:nvPr/>
        </p:nvSpPr>
        <p:spPr>
          <a:xfrm>
            <a:off x="3847026" y="2255890"/>
            <a:ext cx="1810500" cy="180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Base de Control</a:t>
            </a:r>
            <a:endParaRPr sz="1600"/>
          </a:p>
        </p:txBody>
      </p:sp>
      <p:cxnSp>
        <p:nvCxnSpPr>
          <p:cNvPr id="286" name="Google Shape;286;g1258892fe63_0_261"/>
          <p:cNvCxnSpPr>
            <a:stCxn id="285" idx="7"/>
            <a:endCxn id="287" idx="1"/>
          </p:cNvCxnSpPr>
          <p:nvPr/>
        </p:nvCxnSpPr>
        <p:spPr>
          <a:xfrm flipH="1" rot="10800000">
            <a:off x="5392384" y="1335680"/>
            <a:ext cx="591300" cy="1185000"/>
          </a:xfrm>
          <a:prstGeom prst="straightConnector1">
            <a:avLst/>
          </a:prstGeom>
          <a:noFill/>
          <a:ln cap="flat" cmpd="sng" w="9525">
            <a:solidFill>
              <a:srgbClr val="595959"/>
            </a:solidFill>
            <a:prstDash val="solid"/>
            <a:round/>
            <a:headEnd len="med" w="med" type="none"/>
            <a:tailEnd len="med" w="med" type="triangle"/>
          </a:ln>
        </p:spPr>
      </p:cxnSp>
      <p:sp>
        <p:nvSpPr>
          <p:cNvPr id="287" name="Google Shape;287;g1258892fe63_0_261"/>
          <p:cNvSpPr/>
          <p:nvPr/>
        </p:nvSpPr>
        <p:spPr>
          <a:xfrm>
            <a:off x="5983753" y="1153800"/>
            <a:ext cx="2356500" cy="3639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Comunicaciones</a:t>
            </a:r>
            <a:endParaRPr sz="1600"/>
          </a:p>
        </p:txBody>
      </p:sp>
      <p:sp>
        <p:nvSpPr>
          <p:cNvPr id="288" name="Google Shape;288;g1258892fe63_0_261"/>
          <p:cNvSpPr/>
          <p:nvPr/>
        </p:nvSpPr>
        <p:spPr>
          <a:xfrm>
            <a:off x="7268278" y="2035475"/>
            <a:ext cx="11019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Bluetooth</a:t>
            </a:r>
            <a:endParaRPr sz="1600"/>
          </a:p>
        </p:txBody>
      </p:sp>
      <p:sp>
        <p:nvSpPr>
          <p:cNvPr id="289" name="Google Shape;289;g1258892fe63_0_261"/>
          <p:cNvSpPr/>
          <p:nvPr/>
        </p:nvSpPr>
        <p:spPr>
          <a:xfrm>
            <a:off x="5735725" y="2031175"/>
            <a:ext cx="11619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infrarrojo</a:t>
            </a:r>
            <a:endParaRPr sz="1600"/>
          </a:p>
        </p:txBody>
      </p:sp>
      <p:cxnSp>
        <p:nvCxnSpPr>
          <p:cNvPr id="290" name="Google Shape;290;g1258892fe63_0_261"/>
          <p:cNvCxnSpPr>
            <a:stCxn id="287" idx="2"/>
            <a:endCxn id="289" idx="0"/>
          </p:cNvCxnSpPr>
          <p:nvPr/>
        </p:nvCxnSpPr>
        <p:spPr>
          <a:xfrm flipH="1">
            <a:off x="6316603" y="1517700"/>
            <a:ext cx="845400" cy="513600"/>
          </a:xfrm>
          <a:prstGeom prst="straightConnector1">
            <a:avLst/>
          </a:prstGeom>
          <a:noFill/>
          <a:ln cap="flat" cmpd="sng" w="9525">
            <a:solidFill>
              <a:srgbClr val="595959"/>
            </a:solidFill>
            <a:prstDash val="solid"/>
            <a:round/>
            <a:headEnd len="med" w="med" type="none"/>
            <a:tailEnd len="med" w="med" type="triangle"/>
          </a:ln>
        </p:spPr>
      </p:cxnSp>
      <p:cxnSp>
        <p:nvCxnSpPr>
          <p:cNvPr id="291" name="Google Shape;291;g1258892fe63_0_261"/>
          <p:cNvCxnSpPr>
            <a:stCxn id="287" idx="2"/>
            <a:endCxn id="288" idx="0"/>
          </p:cNvCxnSpPr>
          <p:nvPr/>
        </p:nvCxnSpPr>
        <p:spPr>
          <a:xfrm>
            <a:off x="7162003" y="1517700"/>
            <a:ext cx="657300" cy="517800"/>
          </a:xfrm>
          <a:prstGeom prst="straightConnector1">
            <a:avLst/>
          </a:prstGeom>
          <a:noFill/>
          <a:ln cap="flat" cmpd="sng" w="9525">
            <a:solidFill>
              <a:srgbClr val="595959"/>
            </a:solidFill>
            <a:prstDash val="solid"/>
            <a:round/>
            <a:headEnd len="med" w="med" type="none"/>
            <a:tailEnd len="med" w="med" type="triangle"/>
          </a:ln>
        </p:spPr>
      </p:cxnSp>
      <p:cxnSp>
        <p:nvCxnSpPr>
          <p:cNvPr id="292" name="Google Shape;292;g1258892fe63_0_261"/>
          <p:cNvCxnSpPr>
            <a:stCxn id="285" idx="1"/>
            <a:endCxn id="293" idx="3"/>
          </p:cNvCxnSpPr>
          <p:nvPr/>
        </p:nvCxnSpPr>
        <p:spPr>
          <a:xfrm rot="10800000">
            <a:off x="3010268" y="1606580"/>
            <a:ext cx="1101900" cy="914100"/>
          </a:xfrm>
          <a:prstGeom prst="straightConnector1">
            <a:avLst/>
          </a:prstGeom>
          <a:noFill/>
          <a:ln cap="flat" cmpd="sng" w="9525">
            <a:solidFill>
              <a:srgbClr val="595959"/>
            </a:solidFill>
            <a:prstDash val="solid"/>
            <a:round/>
            <a:headEnd len="med" w="med" type="none"/>
            <a:tailEnd len="med" w="med" type="triangle"/>
          </a:ln>
        </p:spPr>
      </p:cxnSp>
      <p:sp>
        <p:nvSpPr>
          <p:cNvPr id="293" name="Google Shape;293;g1258892fe63_0_261"/>
          <p:cNvSpPr/>
          <p:nvPr/>
        </p:nvSpPr>
        <p:spPr>
          <a:xfrm>
            <a:off x="1199848" y="1364002"/>
            <a:ext cx="18105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Funcionalidades</a:t>
            </a:r>
            <a:endParaRPr sz="1600"/>
          </a:p>
        </p:txBody>
      </p:sp>
      <p:sp>
        <p:nvSpPr>
          <p:cNvPr id="294" name="Google Shape;294;g1258892fe63_0_261"/>
          <p:cNvSpPr/>
          <p:nvPr/>
        </p:nvSpPr>
        <p:spPr>
          <a:xfrm>
            <a:off x="1199848" y="2112949"/>
            <a:ext cx="1810500" cy="485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Modificar Estado de 6 leds</a:t>
            </a:r>
            <a:endParaRPr sz="1600"/>
          </a:p>
        </p:txBody>
      </p:sp>
      <p:sp>
        <p:nvSpPr>
          <p:cNvPr id="295" name="Google Shape;295;g1258892fe63_0_261"/>
          <p:cNvSpPr/>
          <p:nvPr/>
        </p:nvSpPr>
        <p:spPr>
          <a:xfrm>
            <a:off x="1438925" y="2931200"/>
            <a:ext cx="2356500" cy="7089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Verificar Estado Sensor DTH22</a:t>
            </a:r>
            <a:endParaRPr sz="1600"/>
          </a:p>
        </p:txBody>
      </p:sp>
      <p:sp>
        <p:nvSpPr>
          <p:cNvPr id="296" name="Google Shape;296;g1258892fe63_0_261"/>
          <p:cNvSpPr/>
          <p:nvPr/>
        </p:nvSpPr>
        <p:spPr>
          <a:xfrm>
            <a:off x="4019065" y="4567088"/>
            <a:ext cx="1466400" cy="46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Interfaces</a:t>
            </a:r>
            <a:endParaRPr sz="1600"/>
          </a:p>
        </p:txBody>
      </p:sp>
      <p:cxnSp>
        <p:nvCxnSpPr>
          <p:cNvPr id="297" name="Google Shape;297;g1258892fe63_0_261"/>
          <p:cNvCxnSpPr>
            <a:stCxn id="285" idx="4"/>
            <a:endCxn id="296" idx="0"/>
          </p:cNvCxnSpPr>
          <p:nvPr/>
        </p:nvCxnSpPr>
        <p:spPr>
          <a:xfrm>
            <a:off x="4752276" y="4063990"/>
            <a:ext cx="0" cy="503100"/>
          </a:xfrm>
          <a:prstGeom prst="straightConnector1">
            <a:avLst/>
          </a:prstGeom>
          <a:noFill/>
          <a:ln cap="flat" cmpd="sng" w="9525">
            <a:solidFill>
              <a:srgbClr val="595959"/>
            </a:solidFill>
            <a:prstDash val="solid"/>
            <a:round/>
            <a:headEnd len="med" w="med" type="none"/>
            <a:tailEnd len="med" w="med" type="triangle"/>
          </a:ln>
        </p:spPr>
      </p:cxnSp>
      <p:sp>
        <p:nvSpPr>
          <p:cNvPr id="298" name="Google Shape;298;g1258892fe63_0_261"/>
          <p:cNvSpPr/>
          <p:nvPr/>
        </p:nvSpPr>
        <p:spPr>
          <a:xfrm>
            <a:off x="5741725" y="2792975"/>
            <a:ext cx="2079000" cy="416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Pantalla LED 16*2</a:t>
            </a:r>
            <a:endParaRPr sz="1600"/>
          </a:p>
        </p:txBody>
      </p:sp>
      <p:sp>
        <p:nvSpPr>
          <p:cNvPr id="299" name="Google Shape;299;g1258892fe63_0_261"/>
          <p:cNvSpPr/>
          <p:nvPr/>
        </p:nvSpPr>
        <p:spPr>
          <a:xfrm>
            <a:off x="5769925" y="3453012"/>
            <a:ext cx="1558200" cy="416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Celular</a:t>
            </a:r>
            <a:endParaRPr sz="1600"/>
          </a:p>
        </p:txBody>
      </p:sp>
      <p:cxnSp>
        <p:nvCxnSpPr>
          <p:cNvPr id="300" name="Google Shape;300;g1258892fe63_0_261"/>
          <p:cNvCxnSpPr>
            <a:stCxn id="296" idx="3"/>
            <a:endCxn id="298" idx="1"/>
          </p:cNvCxnSpPr>
          <p:nvPr/>
        </p:nvCxnSpPr>
        <p:spPr>
          <a:xfrm flipH="1" rot="10800000">
            <a:off x="5485465" y="3000938"/>
            <a:ext cx="256200" cy="1800300"/>
          </a:xfrm>
          <a:prstGeom prst="straightConnector1">
            <a:avLst/>
          </a:prstGeom>
          <a:noFill/>
          <a:ln cap="flat" cmpd="sng" w="9525">
            <a:solidFill>
              <a:srgbClr val="595959"/>
            </a:solidFill>
            <a:prstDash val="solid"/>
            <a:round/>
            <a:headEnd len="med" w="med" type="none"/>
            <a:tailEnd len="med" w="med" type="triangle"/>
          </a:ln>
        </p:spPr>
      </p:cxnSp>
      <p:cxnSp>
        <p:nvCxnSpPr>
          <p:cNvPr id="301" name="Google Shape;301;g1258892fe63_0_261"/>
          <p:cNvCxnSpPr>
            <a:stCxn id="296" idx="3"/>
            <a:endCxn id="299" idx="1"/>
          </p:cNvCxnSpPr>
          <p:nvPr/>
        </p:nvCxnSpPr>
        <p:spPr>
          <a:xfrm flipH="1" rot="10800000">
            <a:off x="5485465" y="3660938"/>
            <a:ext cx="284400" cy="1140300"/>
          </a:xfrm>
          <a:prstGeom prst="straightConnector1">
            <a:avLst/>
          </a:prstGeom>
          <a:noFill/>
          <a:ln cap="flat" cmpd="sng" w="9525">
            <a:solidFill>
              <a:srgbClr val="595959"/>
            </a:solidFill>
            <a:prstDash val="solid"/>
            <a:round/>
            <a:headEnd len="med" w="med" type="none"/>
            <a:tailEnd len="med" w="med" type="triangle"/>
          </a:ln>
        </p:spPr>
      </p:cxnSp>
      <p:cxnSp>
        <p:nvCxnSpPr>
          <p:cNvPr id="302" name="Google Shape;302;g1258892fe63_0_261"/>
          <p:cNvCxnSpPr>
            <a:stCxn id="288" idx="3"/>
            <a:endCxn id="299" idx="3"/>
          </p:cNvCxnSpPr>
          <p:nvPr/>
        </p:nvCxnSpPr>
        <p:spPr>
          <a:xfrm flipH="1">
            <a:off x="7327978" y="2278175"/>
            <a:ext cx="1042200" cy="1383000"/>
          </a:xfrm>
          <a:prstGeom prst="bentConnector3">
            <a:avLst>
              <a:gd fmla="val -22848" name="adj1"/>
            </a:avLst>
          </a:prstGeom>
          <a:noFill/>
          <a:ln cap="flat" cmpd="sng" w="9525">
            <a:solidFill>
              <a:srgbClr val="595959"/>
            </a:solidFill>
            <a:prstDash val="solid"/>
            <a:round/>
            <a:headEnd len="med" w="med" type="none"/>
            <a:tailEnd len="med" w="med" type="none"/>
          </a:ln>
        </p:spPr>
      </p:cxnSp>
      <p:cxnSp>
        <p:nvCxnSpPr>
          <p:cNvPr id="303" name="Google Shape;303;g1258892fe63_0_261"/>
          <p:cNvCxnSpPr>
            <a:stCxn id="289" idx="2"/>
            <a:endCxn id="298" idx="0"/>
          </p:cNvCxnSpPr>
          <p:nvPr/>
        </p:nvCxnSpPr>
        <p:spPr>
          <a:xfrm>
            <a:off x="6316675" y="2516575"/>
            <a:ext cx="464700" cy="276300"/>
          </a:xfrm>
          <a:prstGeom prst="straightConnector1">
            <a:avLst/>
          </a:prstGeom>
          <a:noFill/>
          <a:ln cap="flat" cmpd="sng" w="9525">
            <a:solidFill>
              <a:srgbClr val="595959"/>
            </a:solidFill>
            <a:prstDash val="solid"/>
            <a:round/>
            <a:headEnd len="med" w="med" type="none"/>
            <a:tailEnd len="med" w="med" type="triangle"/>
          </a:ln>
        </p:spPr>
      </p:cxnSp>
      <p:cxnSp>
        <p:nvCxnSpPr>
          <p:cNvPr id="304" name="Google Shape;304;g1258892fe63_0_261"/>
          <p:cNvCxnSpPr>
            <a:stCxn id="293" idx="2"/>
            <a:endCxn id="294" idx="0"/>
          </p:cNvCxnSpPr>
          <p:nvPr/>
        </p:nvCxnSpPr>
        <p:spPr>
          <a:xfrm>
            <a:off x="2105098" y="1849402"/>
            <a:ext cx="0" cy="263400"/>
          </a:xfrm>
          <a:prstGeom prst="straightConnector1">
            <a:avLst/>
          </a:prstGeom>
          <a:noFill/>
          <a:ln cap="flat" cmpd="sng" w="9525">
            <a:solidFill>
              <a:srgbClr val="595959"/>
            </a:solidFill>
            <a:prstDash val="solid"/>
            <a:round/>
            <a:headEnd len="med" w="med" type="none"/>
            <a:tailEnd len="med" w="med" type="triangle"/>
          </a:ln>
        </p:spPr>
      </p:cxnSp>
      <p:sp>
        <p:nvSpPr>
          <p:cNvPr id="305" name="Google Shape;305;g1258892fe63_0_261"/>
          <p:cNvSpPr/>
          <p:nvPr/>
        </p:nvSpPr>
        <p:spPr>
          <a:xfrm>
            <a:off x="574250" y="3996513"/>
            <a:ext cx="2930100" cy="416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Manejo de Motor (A elección)</a:t>
            </a:r>
            <a:endParaRPr sz="1600"/>
          </a:p>
        </p:txBody>
      </p:sp>
      <p:sp>
        <p:nvSpPr>
          <p:cNvPr id="306" name="Google Shape;306;g1258892fe63_0_261"/>
          <p:cNvSpPr/>
          <p:nvPr/>
        </p:nvSpPr>
        <p:spPr>
          <a:xfrm>
            <a:off x="307554" y="3056435"/>
            <a:ext cx="911400" cy="4599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t>Alarma</a:t>
            </a:r>
            <a:endParaRPr sz="1600"/>
          </a:p>
        </p:txBody>
      </p:sp>
      <p:cxnSp>
        <p:nvCxnSpPr>
          <p:cNvPr id="307" name="Google Shape;307;g1258892fe63_0_261"/>
          <p:cNvCxnSpPr>
            <a:stCxn id="295" idx="1"/>
            <a:endCxn id="306" idx="3"/>
          </p:cNvCxnSpPr>
          <p:nvPr/>
        </p:nvCxnSpPr>
        <p:spPr>
          <a:xfrm flipH="1">
            <a:off x="1219025" y="3285650"/>
            <a:ext cx="219900" cy="600"/>
          </a:xfrm>
          <a:prstGeom prst="straightConnector1">
            <a:avLst/>
          </a:prstGeom>
          <a:noFill/>
          <a:ln cap="flat" cmpd="sng" w="9525">
            <a:solidFill>
              <a:srgbClr val="595959"/>
            </a:solidFill>
            <a:prstDash val="solid"/>
            <a:round/>
            <a:headEnd len="med" w="med" type="none"/>
            <a:tailEnd len="med" w="med" type="triangle"/>
          </a:ln>
        </p:spPr>
      </p:cxnSp>
      <p:cxnSp>
        <p:nvCxnSpPr>
          <p:cNvPr id="308" name="Google Shape;308;g1258892fe63_0_261"/>
          <p:cNvCxnSpPr>
            <a:stCxn id="306" idx="1"/>
            <a:endCxn id="305" idx="1"/>
          </p:cNvCxnSpPr>
          <p:nvPr/>
        </p:nvCxnSpPr>
        <p:spPr>
          <a:xfrm>
            <a:off x="307554" y="3286385"/>
            <a:ext cx="266700" cy="918300"/>
          </a:xfrm>
          <a:prstGeom prst="bentConnector3">
            <a:avLst>
              <a:gd fmla="val -89286" name="adj1"/>
            </a:avLst>
          </a:prstGeom>
          <a:noFill/>
          <a:ln cap="flat" cmpd="sng" w="9525">
            <a:solidFill>
              <a:schemeClr val="dk2"/>
            </a:solidFill>
            <a:prstDash val="solid"/>
            <a:round/>
            <a:headEnd len="med" w="med" type="none"/>
            <a:tailEnd len="med" w="med" type="triangle"/>
          </a:ln>
        </p:spPr>
      </p:cxnSp>
      <p:sp>
        <p:nvSpPr>
          <p:cNvPr id="309" name="Google Shape;309;g1258892fe63_0_261"/>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310" name="Google Shape;310;g1258892fe63_0_261"/>
          <p:cNvSpPr txBox="1"/>
          <p:nvPr/>
        </p:nvSpPr>
        <p:spPr>
          <a:xfrm>
            <a:off x="474350" y="721550"/>
            <a:ext cx="33210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Proyecto Integrador</a:t>
            </a:r>
            <a:endParaRPr b="1" i="0" sz="26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0" i="0" sz="2400" u="none" cap="none" strike="noStrike">
              <a:solidFill>
                <a:srgbClr val="434343"/>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rgbClr val="434343"/>
              </a:solidFill>
              <a:latin typeface="Arial"/>
              <a:ea typeface="Arial"/>
              <a:cs typeface="Arial"/>
              <a:sym typeface="Arial"/>
            </a:endParaRPr>
          </a:p>
        </p:txBody>
      </p:sp>
      <p:cxnSp>
        <p:nvCxnSpPr>
          <p:cNvPr id="311" name="Google Shape;311;g1258892fe63_0_261"/>
          <p:cNvCxnSpPr>
            <a:stCxn id="293" idx="1"/>
            <a:endCxn id="295" idx="0"/>
          </p:cNvCxnSpPr>
          <p:nvPr/>
        </p:nvCxnSpPr>
        <p:spPr>
          <a:xfrm>
            <a:off x="1199848" y="1606702"/>
            <a:ext cx="1417200" cy="1324500"/>
          </a:xfrm>
          <a:prstGeom prst="bentConnector4">
            <a:avLst>
              <a:gd fmla="val -16802" name="adj1"/>
              <a:gd fmla="val 86952" name="adj2"/>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g1258892fe63_0_84"/>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317" name="Google Shape;317;g1258892fe63_0_84"/>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1258892fe63_0_84"/>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cxnSp>
        <p:nvCxnSpPr>
          <p:cNvPr id="319" name="Google Shape;319;g1258892fe63_0_84"/>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320" name="Google Shape;320;g1258892fe63_0_84"/>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321" name="Google Shape;321;g1258892fe63_0_84"/>
          <p:cNvSpPr txBox="1"/>
          <p:nvPr>
            <p:ph idx="4294967295" type="ctrTitle"/>
          </p:nvPr>
        </p:nvSpPr>
        <p:spPr>
          <a:xfrm>
            <a:off x="1812600" y="2011199"/>
            <a:ext cx="5518800" cy="152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2600">
                <a:solidFill>
                  <a:schemeClr val="lt1"/>
                </a:solidFill>
              </a:rPr>
              <a:t>Almacenamiento de datos dinámica: las variables y su utilidad</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cxnSp>
        <p:nvCxnSpPr>
          <p:cNvPr id="326" name="Google Shape;326;g1258892fe63_0_24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27" name="Google Shape;327;g1258892fe63_0_24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28" name="Google Shape;328;g1258892fe63_0_240"/>
          <p:cNvSpPr/>
          <p:nvPr/>
        </p:nvSpPr>
        <p:spPr>
          <a:xfrm>
            <a:off x="1305937" y="1197150"/>
            <a:ext cx="1452300" cy="3362400"/>
          </a:xfrm>
          <a:prstGeom prst="rect">
            <a:avLst/>
          </a:prstGeom>
          <a:solidFill>
            <a:srgbClr val="6D9EE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000000"/>
                </a:solidFill>
              </a:rPr>
              <a:t>double</a:t>
            </a:r>
            <a:endParaRPr sz="1600">
              <a:solidFill>
                <a:srgbClr val="000000"/>
              </a:solidFill>
            </a:endParaRPr>
          </a:p>
        </p:txBody>
      </p:sp>
      <p:cxnSp>
        <p:nvCxnSpPr>
          <p:cNvPr id="329" name="Google Shape;329;g1258892fe63_0_240"/>
          <p:cNvCxnSpPr/>
          <p:nvPr/>
        </p:nvCxnSpPr>
        <p:spPr>
          <a:xfrm>
            <a:off x="1330228" y="1553898"/>
            <a:ext cx="1416000" cy="9000"/>
          </a:xfrm>
          <a:prstGeom prst="straightConnector1">
            <a:avLst/>
          </a:prstGeom>
          <a:noFill/>
          <a:ln cap="flat" cmpd="sng" w="9525">
            <a:solidFill>
              <a:srgbClr val="595959"/>
            </a:solidFill>
            <a:prstDash val="solid"/>
            <a:round/>
            <a:headEnd len="med" w="med" type="none"/>
            <a:tailEnd len="med" w="med" type="none"/>
          </a:ln>
        </p:spPr>
      </p:cxnSp>
      <p:cxnSp>
        <p:nvCxnSpPr>
          <p:cNvPr id="330" name="Google Shape;330;g1258892fe63_0_240"/>
          <p:cNvCxnSpPr/>
          <p:nvPr/>
        </p:nvCxnSpPr>
        <p:spPr>
          <a:xfrm>
            <a:off x="1312185" y="2374442"/>
            <a:ext cx="1439400" cy="0"/>
          </a:xfrm>
          <a:prstGeom prst="straightConnector1">
            <a:avLst/>
          </a:prstGeom>
          <a:noFill/>
          <a:ln cap="flat" cmpd="sng" w="9525">
            <a:solidFill>
              <a:srgbClr val="595959"/>
            </a:solidFill>
            <a:prstDash val="solid"/>
            <a:round/>
            <a:headEnd len="med" w="med" type="none"/>
            <a:tailEnd len="med" w="med" type="none"/>
          </a:ln>
        </p:spPr>
      </p:cxnSp>
      <p:sp>
        <p:nvSpPr>
          <p:cNvPr id="331" name="Google Shape;331;g1258892fe63_0_240"/>
          <p:cNvSpPr txBox="1"/>
          <p:nvPr/>
        </p:nvSpPr>
        <p:spPr>
          <a:xfrm>
            <a:off x="1422003" y="1219444"/>
            <a:ext cx="121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000000"/>
                </a:solidFill>
              </a:rPr>
              <a:t>Char</a:t>
            </a:r>
            <a:endParaRPr sz="1600">
              <a:solidFill>
                <a:srgbClr val="000000"/>
              </a:solidFill>
            </a:endParaRPr>
          </a:p>
        </p:txBody>
      </p:sp>
      <p:sp>
        <p:nvSpPr>
          <p:cNvPr id="332" name="Google Shape;332;g1258892fe63_0_240"/>
          <p:cNvSpPr txBox="1"/>
          <p:nvPr/>
        </p:nvSpPr>
        <p:spPr>
          <a:xfrm>
            <a:off x="1422003" y="1816293"/>
            <a:ext cx="121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000000"/>
                </a:solidFill>
              </a:rPr>
              <a:t>Int</a:t>
            </a:r>
            <a:endParaRPr sz="1600">
              <a:solidFill>
                <a:srgbClr val="000000"/>
              </a:solidFill>
            </a:endParaRPr>
          </a:p>
        </p:txBody>
      </p:sp>
      <p:cxnSp>
        <p:nvCxnSpPr>
          <p:cNvPr id="333" name="Google Shape;333;g1258892fe63_0_240"/>
          <p:cNvCxnSpPr/>
          <p:nvPr/>
        </p:nvCxnSpPr>
        <p:spPr>
          <a:xfrm>
            <a:off x="1275475" y="3721183"/>
            <a:ext cx="1513200" cy="0"/>
          </a:xfrm>
          <a:prstGeom prst="straightConnector1">
            <a:avLst/>
          </a:prstGeom>
          <a:noFill/>
          <a:ln cap="flat" cmpd="sng" w="9525">
            <a:solidFill>
              <a:srgbClr val="595959"/>
            </a:solidFill>
            <a:prstDash val="solid"/>
            <a:round/>
            <a:headEnd len="med" w="med" type="none"/>
            <a:tailEnd len="med" w="med" type="none"/>
          </a:ln>
        </p:spPr>
      </p:cxnSp>
      <p:sp>
        <p:nvSpPr>
          <p:cNvPr id="334" name="Google Shape;334;g1258892fe63_0_240"/>
          <p:cNvSpPr txBox="1"/>
          <p:nvPr/>
        </p:nvSpPr>
        <p:spPr>
          <a:xfrm>
            <a:off x="1476782" y="3961977"/>
            <a:ext cx="106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Sin usar</a:t>
            </a:r>
            <a:endParaRPr sz="1600"/>
          </a:p>
        </p:txBody>
      </p:sp>
      <p:sp>
        <p:nvSpPr>
          <p:cNvPr id="335" name="Google Shape;335;g1258892fe63_0_240"/>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336" name="Google Shape;336;g1258892fe63_0_240"/>
          <p:cNvSpPr txBox="1"/>
          <p:nvPr/>
        </p:nvSpPr>
        <p:spPr>
          <a:xfrm>
            <a:off x="474350" y="721550"/>
            <a:ext cx="43113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Las variables</a:t>
            </a:r>
            <a:endParaRPr b="0" i="0" sz="2400" u="none" cap="none" strike="noStrike">
              <a:solidFill>
                <a:srgbClr val="434343"/>
              </a:solidFill>
              <a:latin typeface="Arial"/>
              <a:ea typeface="Arial"/>
              <a:cs typeface="Arial"/>
              <a:sym typeface="Arial"/>
            </a:endParaRPr>
          </a:p>
        </p:txBody>
      </p:sp>
      <p:sp>
        <p:nvSpPr>
          <p:cNvPr id="337" name="Google Shape;337;g1258892fe63_0_240"/>
          <p:cNvSpPr txBox="1"/>
          <p:nvPr/>
        </p:nvSpPr>
        <p:spPr>
          <a:xfrm>
            <a:off x="2877725" y="1197150"/>
            <a:ext cx="4990800" cy="2031900"/>
          </a:xfrm>
          <a:prstGeom prst="rect">
            <a:avLst/>
          </a:prstGeom>
          <a:solidFill>
            <a:srgbClr val="B4A7D6"/>
          </a:solid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None/>
            </a:pPr>
            <a:r>
              <a:rPr lang="es" sz="1600">
                <a:solidFill>
                  <a:schemeClr val="dk1"/>
                </a:solidFill>
              </a:rPr>
              <a:t>Definición</a:t>
            </a:r>
            <a:r>
              <a:rPr lang="es" sz="1600">
                <a:solidFill>
                  <a:schemeClr val="dk1"/>
                </a:solidFill>
              </a:rPr>
              <a:t> de variable: </a:t>
            </a:r>
            <a:endParaRPr sz="1600">
              <a:solidFill>
                <a:schemeClr val="dk1"/>
              </a:solidFill>
            </a:endParaRPr>
          </a:p>
          <a:p>
            <a:pPr indent="0" lvl="0" marL="0" marR="0" rtl="0" algn="l">
              <a:lnSpc>
                <a:spcPct val="130000"/>
              </a:lnSpc>
              <a:spcBef>
                <a:spcPts val="0"/>
              </a:spcBef>
              <a:spcAft>
                <a:spcPts val="0"/>
              </a:spcAft>
              <a:buNone/>
            </a:pPr>
            <a:r>
              <a:rPr lang="es" sz="1600">
                <a:solidFill>
                  <a:schemeClr val="dk1"/>
                </a:solidFill>
              </a:rPr>
              <a:t>tipoDeVariable nombreVariable = 5;</a:t>
            </a:r>
            <a:endParaRPr sz="1600">
              <a:solidFill>
                <a:schemeClr val="dk1"/>
              </a:solidFill>
            </a:endParaRPr>
          </a:p>
          <a:p>
            <a:pPr indent="0" lvl="0" marL="0" marR="0" rtl="0" algn="l">
              <a:lnSpc>
                <a:spcPct val="130000"/>
              </a:lnSpc>
              <a:spcBef>
                <a:spcPts val="0"/>
              </a:spcBef>
              <a:spcAft>
                <a:spcPts val="0"/>
              </a:spcAft>
              <a:buNone/>
            </a:pPr>
            <a:r>
              <a:t/>
            </a:r>
            <a:endParaRPr sz="1600">
              <a:solidFill>
                <a:schemeClr val="dk1"/>
              </a:solidFill>
            </a:endParaRPr>
          </a:p>
          <a:p>
            <a:pPr indent="0" lvl="0" marL="0" marR="0" rtl="0" algn="l">
              <a:lnSpc>
                <a:spcPct val="130000"/>
              </a:lnSpc>
              <a:spcBef>
                <a:spcPts val="0"/>
              </a:spcBef>
              <a:spcAft>
                <a:spcPts val="0"/>
              </a:spcAft>
              <a:buNone/>
            </a:pPr>
            <a:r>
              <a:rPr lang="es" sz="1600">
                <a:solidFill>
                  <a:schemeClr val="dk1"/>
                </a:solidFill>
              </a:rPr>
              <a:t>Uso de variable:</a:t>
            </a:r>
            <a:endParaRPr sz="1600">
              <a:solidFill>
                <a:schemeClr val="dk1"/>
              </a:solidFill>
            </a:endParaRPr>
          </a:p>
          <a:p>
            <a:pPr indent="0" lvl="0" marL="0" marR="0" rtl="0" algn="l">
              <a:lnSpc>
                <a:spcPct val="130000"/>
              </a:lnSpc>
              <a:spcBef>
                <a:spcPts val="0"/>
              </a:spcBef>
              <a:spcAft>
                <a:spcPts val="0"/>
              </a:spcAft>
              <a:buNone/>
            </a:pPr>
            <a:r>
              <a:rPr lang="es" sz="1600">
                <a:solidFill>
                  <a:schemeClr val="dk1"/>
                </a:solidFill>
              </a:rPr>
              <a:t>nombreVariable += 4;</a:t>
            </a:r>
            <a:endParaRPr sz="1600">
              <a:solidFill>
                <a:schemeClr val="dk1"/>
              </a:solidFill>
            </a:endParaRPr>
          </a:p>
          <a:p>
            <a:pPr indent="0" lvl="0" marL="0" marR="0" rtl="0" algn="l">
              <a:lnSpc>
                <a:spcPct val="130000"/>
              </a:lnSpc>
              <a:spcBef>
                <a:spcPts val="0"/>
              </a:spcBef>
              <a:spcAft>
                <a:spcPts val="0"/>
              </a:spcAft>
              <a:buNone/>
            </a:pPr>
            <a:r>
              <a:rPr lang="es" sz="1600">
                <a:solidFill>
                  <a:schemeClr val="dk1"/>
                </a:solidFill>
              </a:rPr>
              <a:t>Serial.println(nombreVariable);</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cxnSp>
        <p:nvCxnSpPr>
          <p:cNvPr id="342" name="Google Shape;342;g1273430ecbc_1_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43" name="Google Shape;343;g1273430ecbc_1_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44" name="Google Shape;344;g1273430ecbc_1_6"/>
          <p:cNvSpPr/>
          <p:nvPr/>
        </p:nvSpPr>
        <p:spPr>
          <a:xfrm>
            <a:off x="504812" y="1197150"/>
            <a:ext cx="1452300" cy="3362400"/>
          </a:xfrm>
          <a:prstGeom prst="rect">
            <a:avLst/>
          </a:prstGeom>
          <a:solidFill>
            <a:srgbClr val="6D9EE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000000"/>
                </a:solidFill>
              </a:rPr>
              <a:t>double</a:t>
            </a:r>
            <a:endParaRPr sz="1600">
              <a:solidFill>
                <a:srgbClr val="000000"/>
              </a:solidFill>
            </a:endParaRPr>
          </a:p>
        </p:txBody>
      </p:sp>
      <p:cxnSp>
        <p:nvCxnSpPr>
          <p:cNvPr id="345" name="Google Shape;345;g1273430ecbc_1_6"/>
          <p:cNvCxnSpPr/>
          <p:nvPr/>
        </p:nvCxnSpPr>
        <p:spPr>
          <a:xfrm>
            <a:off x="529103" y="1553898"/>
            <a:ext cx="1416000" cy="9000"/>
          </a:xfrm>
          <a:prstGeom prst="straightConnector1">
            <a:avLst/>
          </a:prstGeom>
          <a:noFill/>
          <a:ln cap="flat" cmpd="sng" w="9525">
            <a:solidFill>
              <a:srgbClr val="595959"/>
            </a:solidFill>
            <a:prstDash val="solid"/>
            <a:round/>
            <a:headEnd len="med" w="med" type="none"/>
            <a:tailEnd len="med" w="med" type="none"/>
          </a:ln>
        </p:spPr>
      </p:cxnSp>
      <p:cxnSp>
        <p:nvCxnSpPr>
          <p:cNvPr id="346" name="Google Shape;346;g1273430ecbc_1_6"/>
          <p:cNvCxnSpPr/>
          <p:nvPr/>
        </p:nvCxnSpPr>
        <p:spPr>
          <a:xfrm>
            <a:off x="511060" y="2374442"/>
            <a:ext cx="1439400" cy="0"/>
          </a:xfrm>
          <a:prstGeom prst="straightConnector1">
            <a:avLst/>
          </a:prstGeom>
          <a:noFill/>
          <a:ln cap="flat" cmpd="sng" w="9525">
            <a:solidFill>
              <a:srgbClr val="595959"/>
            </a:solidFill>
            <a:prstDash val="solid"/>
            <a:round/>
            <a:headEnd len="med" w="med" type="none"/>
            <a:tailEnd len="med" w="med" type="none"/>
          </a:ln>
        </p:spPr>
      </p:cxnSp>
      <p:sp>
        <p:nvSpPr>
          <p:cNvPr id="347" name="Google Shape;347;g1273430ecbc_1_6"/>
          <p:cNvSpPr txBox="1"/>
          <p:nvPr/>
        </p:nvSpPr>
        <p:spPr>
          <a:xfrm>
            <a:off x="620878" y="1219444"/>
            <a:ext cx="121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000000"/>
                </a:solidFill>
              </a:rPr>
              <a:t>Char</a:t>
            </a:r>
            <a:endParaRPr sz="1600">
              <a:solidFill>
                <a:srgbClr val="000000"/>
              </a:solidFill>
            </a:endParaRPr>
          </a:p>
        </p:txBody>
      </p:sp>
      <p:sp>
        <p:nvSpPr>
          <p:cNvPr id="348" name="Google Shape;348;g1273430ecbc_1_6"/>
          <p:cNvSpPr txBox="1"/>
          <p:nvPr/>
        </p:nvSpPr>
        <p:spPr>
          <a:xfrm>
            <a:off x="620878" y="1816293"/>
            <a:ext cx="121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000000"/>
                </a:solidFill>
              </a:rPr>
              <a:t>Int</a:t>
            </a:r>
            <a:endParaRPr sz="1600">
              <a:solidFill>
                <a:srgbClr val="000000"/>
              </a:solidFill>
            </a:endParaRPr>
          </a:p>
        </p:txBody>
      </p:sp>
      <p:cxnSp>
        <p:nvCxnSpPr>
          <p:cNvPr id="349" name="Google Shape;349;g1273430ecbc_1_6"/>
          <p:cNvCxnSpPr/>
          <p:nvPr/>
        </p:nvCxnSpPr>
        <p:spPr>
          <a:xfrm>
            <a:off x="474350" y="3721183"/>
            <a:ext cx="1513200" cy="0"/>
          </a:xfrm>
          <a:prstGeom prst="straightConnector1">
            <a:avLst/>
          </a:prstGeom>
          <a:noFill/>
          <a:ln cap="flat" cmpd="sng" w="9525">
            <a:solidFill>
              <a:srgbClr val="595959"/>
            </a:solidFill>
            <a:prstDash val="solid"/>
            <a:round/>
            <a:headEnd len="med" w="med" type="none"/>
            <a:tailEnd len="med" w="med" type="none"/>
          </a:ln>
        </p:spPr>
      </p:cxnSp>
      <p:sp>
        <p:nvSpPr>
          <p:cNvPr id="350" name="Google Shape;350;g1273430ecbc_1_6"/>
          <p:cNvSpPr txBox="1"/>
          <p:nvPr/>
        </p:nvSpPr>
        <p:spPr>
          <a:xfrm>
            <a:off x="675657" y="3961977"/>
            <a:ext cx="106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Sin usar</a:t>
            </a:r>
            <a:endParaRPr sz="1600"/>
          </a:p>
        </p:txBody>
      </p:sp>
      <p:sp>
        <p:nvSpPr>
          <p:cNvPr id="351" name="Google Shape;351;g1273430ecbc_1_6"/>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graphicFrame>
        <p:nvGraphicFramePr>
          <p:cNvPr id="352" name="Google Shape;352;g1273430ecbc_1_6"/>
          <p:cNvGraphicFramePr/>
          <p:nvPr/>
        </p:nvGraphicFramePr>
        <p:xfrm>
          <a:off x="2384600" y="1640100"/>
          <a:ext cx="3000000" cy="3000000"/>
        </p:xfrm>
        <a:graphic>
          <a:graphicData uri="http://schemas.openxmlformats.org/drawingml/2006/table">
            <a:tbl>
              <a:tblPr bandRow="1">
                <a:noFill/>
                <a:tableStyleId>{57598BFA-3A8B-4477-8BC1-98E481AFADDD}</a:tableStyleId>
              </a:tblPr>
              <a:tblGrid>
                <a:gridCol w="816775"/>
                <a:gridCol w="1407675"/>
                <a:gridCol w="838925"/>
                <a:gridCol w="1929150"/>
              </a:tblGrid>
              <a:tr h="504450">
                <a:tc>
                  <a:txBody>
                    <a:bodyPr/>
                    <a:lstStyle/>
                    <a:p>
                      <a:pPr indent="0" lvl="0" marL="0" rtl="0" algn="ctr">
                        <a:spcBef>
                          <a:spcPts val="0"/>
                        </a:spcBef>
                        <a:spcAft>
                          <a:spcPts val="0"/>
                        </a:spcAft>
                        <a:buNone/>
                      </a:pPr>
                      <a:r>
                        <a:rPr lang="es" sz="1600"/>
                        <a:t>short</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2 bytes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-32,768 a 32,767</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 Guarda números enteros con menor capacidad de almacenamiento(y rango) que int </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r h="504450">
                <a:tc>
                  <a:txBody>
                    <a:bodyPr/>
                    <a:lstStyle/>
                    <a:p>
                      <a:pPr indent="0" lvl="0" marL="0" rtl="0" algn="ctr">
                        <a:spcBef>
                          <a:spcPts val="0"/>
                        </a:spcBef>
                        <a:spcAft>
                          <a:spcPts val="0"/>
                        </a:spcAft>
                        <a:buNone/>
                      </a:pPr>
                      <a:r>
                        <a:rPr lang="es" sz="1600"/>
                        <a:t>double</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4 u 8 bytes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2.3E-308 a 1.7E+308</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 Igual que float pero con mayor precisión (hasta 15 dígitos decimales) y mayor rango</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bl>
          </a:graphicData>
        </a:graphic>
      </p:graphicFrame>
      <p:sp>
        <p:nvSpPr>
          <p:cNvPr id="353" name="Google Shape;353;g1273430ecbc_1_6"/>
          <p:cNvSpPr txBox="1"/>
          <p:nvPr/>
        </p:nvSpPr>
        <p:spPr>
          <a:xfrm>
            <a:off x="474350" y="721550"/>
            <a:ext cx="43113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Tamaños de variables</a:t>
            </a:r>
            <a:endParaRPr b="0" i="0" sz="2400" u="none" cap="none" strike="noStrike">
              <a:solidFill>
                <a:srgbClr val="43434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 name="Shape 357"/>
        <p:cNvGrpSpPr/>
        <p:nvPr/>
      </p:nvGrpSpPr>
      <p:grpSpPr>
        <a:xfrm>
          <a:off x="0" y="0"/>
          <a:ext cx="0" cy="0"/>
          <a:chOff x="0" y="0"/>
          <a:chExt cx="0" cy="0"/>
        </a:xfrm>
      </p:grpSpPr>
      <p:cxnSp>
        <p:nvCxnSpPr>
          <p:cNvPr id="358" name="Google Shape;358;g1258892fe63_0_375"/>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59" name="Google Shape;359;g1258892fe63_0_375"/>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graphicFrame>
        <p:nvGraphicFramePr>
          <p:cNvPr id="360" name="Google Shape;360;g1258892fe63_0_375"/>
          <p:cNvGraphicFramePr/>
          <p:nvPr/>
        </p:nvGraphicFramePr>
        <p:xfrm>
          <a:off x="474350" y="1342425"/>
          <a:ext cx="3000000" cy="3000000"/>
        </p:xfrm>
        <a:graphic>
          <a:graphicData uri="http://schemas.openxmlformats.org/drawingml/2006/table">
            <a:tbl>
              <a:tblPr bandRow="1">
                <a:noFill/>
                <a:tableStyleId>{57598BFA-3A8B-4477-8BC1-98E481AFADDD}</a:tableStyleId>
              </a:tblPr>
              <a:tblGrid>
                <a:gridCol w="1459875"/>
                <a:gridCol w="1426150"/>
                <a:gridCol w="1497650"/>
                <a:gridCol w="2529850"/>
              </a:tblGrid>
              <a:tr h="301900">
                <a:tc>
                  <a:txBody>
                    <a:bodyPr/>
                    <a:lstStyle/>
                    <a:p>
                      <a:pPr indent="0" lvl="0" marL="0" rtl="0" algn="ctr">
                        <a:spcBef>
                          <a:spcPts val="0"/>
                        </a:spcBef>
                        <a:spcAft>
                          <a:spcPts val="0"/>
                        </a:spcAft>
                        <a:buNone/>
                      </a:pPr>
                      <a:r>
                        <a:rPr lang="es" sz="1600"/>
                        <a:t>Nombre</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Tamaño en bytes</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Alcance</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Descripción</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r h="452850">
                <a:tc>
                  <a:txBody>
                    <a:bodyPr/>
                    <a:lstStyle/>
                    <a:p>
                      <a:pPr indent="0" lvl="0" marL="0" rtl="0" algn="ctr">
                        <a:spcBef>
                          <a:spcPts val="0"/>
                        </a:spcBef>
                        <a:spcAft>
                          <a:spcPts val="0"/>
                        </a:spcAft>
                        <a:buNone/>
                      </a:pPr>
                      <a:r>
                        <a:rPr lang="es" sz="1600"/>
                        <a:t>char/unsigned char</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1 byte</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-128 a 127 o 0 a 255</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 Guarda caracteres del código ASCII</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r h="905700">
                <a:tc>
                  <a:txBody>
                    <a:bodyPr/>
                    <a:lstStyle/>
                    <a:p>
                      <a:pPr indent="0" lvl="0" marL="0" rtl="0" algn="ctr">
                        <a:spcBef>
                          <a:spcPts val="0"/>
                        </a:spcBef>
                        <a:spcAft>
                          <a:spcPts val="0"/>
                        </a:spcAft>
                        <a:buNone/>
                      </a:pPr>
                      <a:r>
                        <a:rPr lang="es" sz="1600"/>
                        <a:t>long double</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10 bytes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3.4E-4932 to 1.1E+4932</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Mucho mayor precisión en cálculo decimal, incluso mayor que double (hasta 19 digitos decimales)</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r h="603800">
                <a:tc>
                  <a:txBody>
                    <a:bodyPr/>
                    <a:lstStyle/>
                    <a:p>
                      <a:pPr indent="0" lvl="0" marL="0" rtl="0" algn="ctr">
                        <a:spcBef>
                          <a:spcPts val="0"/>
                        </a:spcBef>
                        <a:spcAft>
                          <a:spcPts val="0"/>
                        </a:spcAft>
                        <a:buNone/>
                      </a:pPr>
                      <a:r>
                        <a:rPr lang="es" sz="1600"/>
                        <a:t>float</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4 bytes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1.2E-38 a 3.4E+38</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 Guarda números reales con precisión de 6 dígitos decimales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FFFF"/>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bl>
          </a:graphicData>
        </a:graphic>
      </p:graphicFrame>
      <p:sp>
        <p:nvSpPr>
          <p:cNvPr id="361" name="Google Shape;361;g1258892fe63_0_375"/>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362" name="Google Shape;362;g1258892fe63_0_375"/>
          <p:cNvSpPr txBox="1"/>
          <p:nvPr/>
        </p:nvSpPr>
        <p:spPr>
          <a:xfrm>
            <a:off x="474350" y="721550"/>
            <a:ext cx="43113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Tamaños de variables</a:t>
            </a:r>
            <a:endParaRPr b="0" i="0" sz="2400" u="none" cap="none" strike="noStrike">
              <a:solidFill>
                <a:srgbClr val="43434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cxnSp>
        <p:nvCxnSpPr>
          <p:cNvPr id="367" name="Google Shape;367;g1258892fe63_0_291"/>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68" name="Google Shape;368;g1258892fe63_0_291"/>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graphicFrame>
        <p:nvGraphicFramePr>
          <p:cNvPr id="369" name="Google Shape;369;g1258892fe63_0_291"/>
          <p:cNvGraphicFramePr/>
          <p:nvPr/>
        </p:nvGraphicFramePr>
        <p:xfrm>
          <a:off x="474350" y="1394500"/>
          <a:ext cx="3000000" cy="3000000"/>
        </p:xfrm>
        <a:graphic>
          <a:graphicData uri="http://schemas.openxmlformats.org/drawingml/2006/table">
            <a:tbl>
              <a:tblPr bandRow="1">
                <a:noFill/>
                <a:tableStyleId>{57598BFA-3A8B-4477-8BC1-98E481AFADDD}</a:tableStyleId>
              </a:tblPr>
              <a:tblGrid>
                <a:gridCol w="1303400"/>
                <a:gridCol w="1770750"/>
                <a:gridCol w="1237150"/>
                <a:gridCol w="2588375"/>
              </a:tblGrid>
              <a:tr h="380575">
                <a:tc>
                  <a:txBody>
                    <a:bodyPr/>
                    <a:lstStyle/>
                    <a:p>
                      <a:pPr indent="0" lvl="0" marL="0" marR="0" rtl="0" algn="ctr">
                        <a:lnSpc>
                          <a:spcPct val="100000"/>
                        </a:lnSpc>
                        <a:spcBef>
                          <a:spcPts val="0"/>
                        </a:spcBef>
                        <a:spcAft>
                          <a:spcPts val="0"/>
                        </a:spcAft>
                        <a:buNone/>
                      </a:pPr>
                      <a:r>
                        <a:rPr lang="es" sz="1600"/>
                        <a:t>Nombre</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Tamaño en bytes</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Alcance</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Descripción</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r>
              <a:tr h="12700">
                <a:tc>
                  <a:txBody>
                    <a:bodyPr/>
                    <a:lstStyle/>
                    <a:p>
                      <a:pPr indent="0" lvl="0" marL="0" marR="0" rtl="0" algn="ctr">
                        <a:lnSpc>
                          <a:spcPct val="100000"/>
                        </a:lnSpc>
                        <a:spcBef>
                          <a:spcPts val="0"/>
                        </a:spcBef>
                        <a:spcAft>
                          <a:spcPts val="0"/>
                        </a:spcAft>
                        <a:buNone/>
                      </a:pPr>
                      <a:r>
                        <a:rPr lang="es" sz="1600"/>
                        <a:t>boolean</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1 byte</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0-1</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Guarda un valor booleano, es decir, verdadero (1) o falso (0)</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r>
              <a:tr h="12700">
                <a:tc>
                  <a:txBody>
                    <a:bodyPr/>
                    <a:lstStyle/>
                    <a:p>
                      <a:pPr indent="0" lvl="0" marL="0" marR="0" rtl="0" algn="ctr">
                        <a:lnSpc>
                          <a:spcPct val="100000"/>
                        </a:lnSpc>
                        <a:spcBef>
                          <a:spcPts val="0"/>
                        </a:spcBef>
                        <a:spcAft>
                          <a:spcPts val="0"/>
                        </a:spcAft>
                        <a:buNone/>
                      </a:pPr>
                      <a:r>
                        <a:rPr lang="es" sz="1600"/>
                        <a:t>byte</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1 byte</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01010101</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Guarda un conjunto de 8 bits</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r>
              <a:tr h="12700">
                <a:tc>
                  <a:txBody>
                    <a:bodyPr/>
                    <a:lstStyle/>
                    <a:p>
                      <a:pPr indent="0" lvl="0" marL="0" marR="0" rtl="0" algn="ctr">
                        <a:lnSpc>
                          <a:spcPct val="100000"/>
                        </a:lnSpc>
                        <a:spcBef>
                          <a:spcPts val="0"/>
                        </a:spcBef>
                        <a:spcAft>
                          <a:spcPts val="0"/>
                        </a:spcAft>
                        <a:buNone/>
                      </a:pPr>
                      <a:r>
                        <a:rPr lang="es" sz="1600"/>
                        <a:t>String</a:t>
                      </a:r>
                      <a:endParaRPr sz="1600"/>
                    </a:p>
                  </a:txBody>
                  <a:tcPr marT="0" marB="0" marR="68575" marL="68575">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4 bytes</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0-255 caracteres</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c>
                  <a:txBody>
                    <a:bodyPr/>
                    <a:lstStyle/>
                    <a:p>
                      <a:pPr indent="0" lvl="0" marL="0" marR="0" rtl="0" algn="ctr">
                        <a:lnSpc>
                          <a:spcPct val="100000"/>
                        </a:lnSpc>
                        <a:spcBef>
                          <a:spcPts val="0"/>
                        </a:spcBef>
                        <a:spcAft>
                          <a:spcPts val="0"/>
                        </a:spcAft>
                        <a:buNone/>
                      </a:pPr>
                      <a:r>
                        <a:rPr lang="es" sz="1600"/>
                        <a:t>Guarda un conjunto de caracteres</a:t>
                      </a:r>
                      <a:endParaRPr sz="1600"/>
                    </a:p>
                  </a:txBody>
                  <a:tcPr marT="0" marB="0" marR="68575" marL="68575" anchor="ctr">
                    <a:lnL cap="flat" cmpd="sng" w="6350">
                      <a:solidFill>
                        <a:srgbClr val="EEEEEE"/>
                      </a:solidFill>
                      <a:prstDash val="solid"/>
                      <a:round/>
                      <a:headEnd len="sm" w="sm" type="none"/>
                      <a:tailEnd len="sm" w="sm" type="none"/>
                    </a:lnL>
                    <a:lnR cap="flat" cmpd="sng" w="6350">
                      <a:solidFill>
                        <a:srgbClr val="EEEEEE"/>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EEEEEE"/>
                      </a:solidFill>
                      <a:prstDash val="solid"/>
                      <a:round/>
                      <a:headEnd len="sm" w="sm" type="none"/>
                      <a:tailEnd len="sm" w="sm" type="none"/>
                    </a:lnB>
                    <a:solidFill>
                      <a:srgbClr val="B4A7D6"/>
                    </a:solidFill>
                  </a:tcPr>
                </a:tc>
              </a:tr>
              <a:tr h="12700">
                <a:tc>
                  <a:txBody>
                    <a:bodyPr/>
                    <a:lstStyle/>
                    <a:p>
                      <a:pPr indent="0" lvl="0" marL="0" rtl="0" algn="ctr">
                        <a:spcBef>
                          <a:spcPts val="0"/>
                        </a:spcBef>
                        <a:spcAft>
                          <a:spcPts val="0"/>
                        </a:spcAft>
                        <a:buNone/>
                      </a:pPr>
                      <a:r>
                        <a:rPr lang="es" sz="1600"/>
                        <a:t>long</a:t>
                      </a:r>
                      <a:endParaRPr sz="1600"/>
                    </a:p>
                  </a:txBody>
                  <a:tcPr marT="0" marB="0" marR="68575" marL="68575">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4 bytes</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-2,147,483,648 a 2,147,483,647</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c>
                  <a:txBody>
                    <a:bodyPr/>
                    <a:lstStyle/>
                    <a:p>
                      <a:pPr indent="0" lvl="0" marL="0" rtl="0" algn="ctr">
                        <a:spcBef>
                          <a:spcPts val="0"/>
                        </a:spcBef>
                        <a:spcAft>
                          <a:spcPts val="0"/>
                        </a:spcAft>
                        <a:buNone/>
                      </a:pPr>
                      <a:r>
                        <a:rPr lang="es" sz="1600"/>
                        <a:t> Guarda números enteros con mayor capacidad de almacenamiento que int</a:t>
                      </a:r>
                      <a:endParaRPr sz="1600"/>
                    </a:p>
                  </a:txBody>
                  <a:tcPr marT="0" marB="0" marR="68575" marL="6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EEEEEE"/>
                      </a:solidFill>
                      <a:prstDash val="solid"/>
                      <a:round/>
                      <a:headEnd len="sm" w="sm" type="none"/>
                      <a:tailEnd len="sm" w="sm" type="none"/>
                    </a:lnT>
                    <a:lnB cap="flat" cmpd="sng" w="6350">
                      <a:solidFill>
                        <a:srgbClr val="FFFFFF"/>
                      </a:solidFill>
                      <a:prstDash val="solid"/>
                      <a:round/>
                      <a:headEnd len="sm" w="sm" type="none"/>
                      <a:tailEnd len="sm" w="sm" type="none"/>
                    </a:lnB>
                    <a:solidFill>
                      <a:srgbClr val="B4A7D6"/>
                    </a:solidFill>
                  </a:tcPr>
                </a:tc>
              </a:tr>
            </a:tbl>
          </a:graphicData>
        </a:graphic>
      </p:graphicFrame>
      <p:sp>
        <p:nvSpPr>
          <p:cNvPr id="370" name="Google Shape;370;g1258892fe63_0_291"/>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371" name="Google Shape;371;g1258892fe63_0_291"/>
          <p:cNvSpPr txBox="1"/>
          <p:nvPr/>
        </p:nvSpPr>
        <p:spPr>
          <a:xfrm>
            <a:off x="474350" y="721550"/>
            <a:ext cx="43113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Tamaños de variables</a:t>
            </a:r>
            <a:endParaRPr b="0" i="0" sz="2400" u="none" cap="none" strike="noStrike">
              <a:solidFill>
                <a:srgbClr val="43434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cxnSp>
        <p:nvCxnSpPr>
          <p:cNvPr id="376" name="Google Shape;376;g1258892fe63_0_361"/>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77" name="Google Shape;377;g1258892fe63_0_361"/>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78" name="Google Shape;378;g1258892fe63_0_361"/>
          <p:cNvSpPr/>
          <p:nvPr/>
        </p:nvSpPr>
        <p:spPr>
          <a:xfrm>
            <a:off x="125700" y="1424100"/>
            <a:ext cx="8892600" cy="3011100"/>
          </a:xfrm>
          <a:prstGeom prst="rect">
            <a:avLst/>
          </a:prstGeom>
          <a:solidFill>
            <a:srgbClr val="CC412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1258892fe63_0_361"/>
          <p:cNvSpPr/>
          <p:nvPr/>
        </p:nvSpPr>
        <p:spPr>
          <a:xfrm>
            <a:off x="336575" y="1892775"/>
            <a:ext cx="8447400" cy="2390100"/>
          </a:xfrm>
          <a:prstGeom prst="rect">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1258892fe63_0_361"/>
          <p:cNvSpPr/>
          <p:nvPr/>
        </p:nvSpPr>
        <p:spPr>
          <a:xfrm>
            <a:off x="734950" y="2291125"/>
            <a:ext cx="7779600" cy="1769100"/>
          </a:xfrm>
          <a:prstGeom prst="rect">
            <a:avLst/>
          </a:prstGeom>
          <a:solidFill>
            <a:srgbClr val="76A5A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1258892fe63_0_361"/>
          <p:cNvSpPr txBox="1"/>
          <p:nvPr/>
        </p:nvSpPr>
        <p:spPr>
          <a:xfrm>
            <a:off x="348300" y="1506125"/>
            <a:ext cx="372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Int globalTotal = 5; </a:t>
            </a:r>
            <a:endParaRPr sz="1600"/>
          </a:p>
        </p:txBody>
      </p:sp>
      <p:sp>
        <p:nvSpPr>
          <p:cNvPr id="382" name="Google Shape;382;g1258892fe63_0_361"/>
          <p:cNvSpPr txBox="1"/>
          <p:nvPr/>
        </p:nvSpPr>
        <p:spPr>
          <a:xfrm>
            <a:off x="524125" y="1892775"/>
            <a:ext cx="372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Int globalBInternoA = 5;</a:t>
            </a:r>
            <a:endParaRPr sz="1600"/>
          </a:p>
        </p:txBody>
      </p:sp>
      <p:sp>
        <p:nvSpPr>
          <p:cNvPr id="383" name="Google Shape;383;g1258892fe63_0_361"/>
          <p:cNvSpPr txBox="1"/>
          <p:nvPr/>
        </p:nvSpPr>
        <p:spPr>
          <a:xfrm>
            <a:off x="899150" y="2455250"/>
            <a:ext cx="372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t>Int globalCInternoB = 5;</a:t>
            </a:r>
            <a:endParaRPr sz="1600"/>
          </a:p>
        </p:txBody>
      </p:sp>
      <p:sp>
        <p:nvSpPr>
          <p:cNvPr id="384" name="Google Shape;384;g1258892fe63_0_361"/>
          <p:cNvSpPr txBox="1"/>
          <p:nvPr>
            <p:ph idx="4294967295" type="ctrTitle"/>
          </p:nvPr>
        </p:nvSpPr>
        <p:spPr>
          <a:xfrm>
            <a:off x="4529250" y="316363"/>
            <a:ext cx="2787000" cy="1287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chemeClr val="dk1"/>
              </a:buClr>
              <a:buSzPts val="2800"/>
              <a:buFont typeface="Arial"/>
              <a:buNone/>
            </a:pPr>
            <a:r>
              <a:rPr lang="es" sz="700">
                <a:solidFill>
                  <a:srgbClr val="556271"/>
                </a:solidFill>
              </a:rPr>
              <a:t>Aprendiendo a programar con Arduino</a:t>
            </a:r>
            <a:r>
              <a:rPr b="0" i="0" lang="es" sz="700" u="none" cap="none" strike="noStrike">
                <a:solidFill>
                  <a:srgbClr val="556271"/>
                </a:solidFill>
                <a:latin typeface="Arial"/>
                <a:ea typeface="Arial"/>
                <a:cs typeface="Arial"/>
                <a:sym typeface="Arial"/>
              </a:rPr>
              <a:t>  / Módulo 1 / Unidad 1  / </a:t>
            </a:r>
            <a:r>
              <a:rPr lang="es" sz="700">
                <a:solidFill>
                  <a:srgbClr val="556271"/>
                </a:solidFill>
              </a:rPr>
              <a:t>Arduino y la programación: ¿Qué son y como los vamos a utilizar?</a:t>
            </a:r>
            <a:r>
              <a:rPr b="0" i="0" lang="es" sz="700" u="none" cap="none" strike="noStrike">
                <a:solidFill>
                  <a:srgbClr val="556271"/>
                </a:solidFill>
                <a:latin typeface="Arial"/>
                <a:ea typeface="Arial"/>
                <a:cs typeface="Arial"/>
                <a:sym typeface="Arial"/>
              </a:rPr>
              <a:t> </a:t>
            </a:r>
            <a:endParaRPr b="0" i="0" sz="700" u="none" cap="none" strike="noStrike">
              <a:solidFill>
                <a:srgbClr val="556271"/>
              </a:solidFill>
              <a:latin typeface="Arial"/>
              <a:ea typeface="Arial"/>
              <a:cs typeface="Arial"/>
              <a:sym typeface="Arial"/>
            </a:endParaRPr>
          </a:p>
        </p:txBody>
      </p:sp>
      <p:sp>
        <p:nvSpPr>
          <p:cNvPr id="385" name="Google Shape;385;g1258892fe63_0_361"/>
          <p:cNvSpPr txBox="1"/>
          <p:nvPr/>
        </p:nvSpPr>
        <p:spPr>
          <a:xfrm>
            <a:off x="474350" y="721550"/>
            <a:ext cx="43113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s" sz="2600">
                <a:solidFill>
                  <a:srgbClr val="434343"/>
                </a:solidFill>
              </a:rPr>
              <a:t>Alcance </a:t>
            </a:r>
            <a:r>
              <a:rPr b="1" lang="es" sz="2600">
                <a:solidFill>
                  <a:srgbClr val="434343"/>
                </a:solidFill>
              </a:rPr>
              <a:t>de variables</a:t>
            </a:r>
            <a:endParaRPr b="0" i="0" sz="2400" u="none" cap="none" strike="noStrike">
              <a:solidFill>
                <a:srgbClr val="43434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12"/>
          <p:cNvPicPr preferRelativeResize="0"/>
          <p:nvPr/>
        </p:nvPicPr>
        <p:blipFill rotWithShape="1">
          <a:blip r:embed="rId3">
            <a:alphaModFix/>
          </a:blip>
          <a:srcRect b="10202" l="8" r="1028" t="6295"/>
          <a:stretch/>
        </p:blipFill>
        <p:spPr>
          <a:xfrm>
            <a:off x="0" y="0"/>
            <a:ext cx="9144000" cy="5143500"/>
          </a:xfrm>
          <a:prstGeom prst="rect">
            <a:avLst/>
          </a:prstGeom>
          <a:noFill/>
          <a:ln>
            <a:noFill/>
          </a:ln>
        </p:spPr>
      </p:pic>
      <p:sp>
        <p:nvSpPr>
          <p:cNvPr id="391" name="Google Shape;391;p12"/>
          <p:cNvSpPr/>
          <p:nvPr/>
        </p:nvSpPr>
        <p:spPr>
          <a:xfrm>
            <a:off x="-75" y="0"/>
            <a:ext cx="9144000" cy="5153100"/>
          </a:xfrm>
          <a:prstGeom prst="rect">
            <a:avLst/>
          </a:prstGeom>
          <a:solidFill>
            <a:srgbClr val="556271">
              <a:alpha val="564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92" name="Google Shape;392;p12"/>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393" name="Google Shape;393;p12"/>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394" name="Google Shape;394;p12"/>
          <p:cNvSpPr txBox="1"/>
          <p:nvPr>
            <p:ph idx="4294967295" type="ctrTitle"/>
          </p:nvPr>
        </p:nvSpPr>
        <p:spPr>
          <a:xfrm>
            <a:off x="1086150" y="2041425"/>
            <a:ext cx="6814500" cy="81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 sz="3600" u="none" cap="none" strike="noStrike">
                <a:solidFill>
                  <a:schemeClr val="lt1"/>
                </a:solidFill>
                <a:latin typeface="Arial"/>
                <a:ea typeface="Arial"/>
                <a:cs typeface="Arial"/>
                <a:sym typeface="Arial"/>
              </a:rPr>
              <a:t>¡Gracias!</a:t>
            </a:r>
            <a:endParaRPr b="1" i="0" sz="3600" u="none" cap="none" strike="noStrike">
              <a:solidFill>
                <a:schemeClr val="lt1"/>
              </a:solidFill>
              <a:latin typeface="Arial"/>
              <a:ea typeface="Arial"/>
              <a:cs typeface="Arial"/>
              <a:sym typeface="Arial"/>
            </a:endParaRPr>
          </a:p>
        </p:txBody>
      </p:sp>
      <p:sp>
        <p:nvSpPr>
          <p:cNvPr id="395" name="Google Shape;395;p12"/>
          <p:cNvSpPr txBox="1"/>
          <p:nvPr>
            <p:ph idx="4294967295" type="ctrTitle"/>
          </p:nvPr>
        </p:nvSpPr>
        <p:spPr>
          <a:xfrm>
            <a:off x="5505750" y="261625"/>
            <a:ext cx="17142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2800"/>
              <a:buFont typeface="Arial"/>
              <a:buNone/>
            </a:pPr>
            <a:r>
              <a:rPr lang="es" sz="1000">
                <a:solidFill>
                  <a:schemeClr val="lt1"/>
                </a:solidFill>
              </a:rPr>
              <a:t>Aprendiendo a programar con Arduino U1</a:t>
            </a:r>
            <a:endParaRPr b="0" i="0" sz="30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