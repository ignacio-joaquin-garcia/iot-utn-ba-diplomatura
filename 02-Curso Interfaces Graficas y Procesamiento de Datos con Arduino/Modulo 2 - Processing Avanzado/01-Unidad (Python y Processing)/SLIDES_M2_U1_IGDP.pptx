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dc602feb8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1dc602feb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dc602feb8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1dc602feb8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dc602feb89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1dc602feb8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80c5d912f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80c5d912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7f7dacfe9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7f7dacfe9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f7dacfe9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27f7dacfe9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f7dacfe9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7f7dacfe9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7f681e6ae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7f681e6ae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f7dacfe9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27f7dacfe9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f681e6ae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7f681e6ae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f7dacfe9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27f7dacfe9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f681e6ae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7f681e6a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f681e6ae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27f681e6ae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f7dacfe9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27f7dacfe9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f681e6ae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27f681e6ae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80c5d912f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280c5d912f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7f681e6ae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27f681e6ae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80c5d912f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80c5d912f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7f681e6ae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27f681e6ae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7f681e6ae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7f681e6ae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www.python.org/download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7800" y="4643150"/>
            <a:ext cx="20955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/>
          <p:cNvPicPr preferRelativeResize="0"/>
          <p:nvPr/>
        </p:nvPicPr>
        <p:blipFill rotWithShape="1">
          <a:blip r:embed="rId4">
            <a:alphaModFix/>
          </a:blip>
          <a:srcRect b="7144" l="2735" r="6701" t="27251"/>
          <a:stretch/>
        </p:blipFill>
        <p:spPr>
          <a:xfrm>
            <a:off x="0" y="0"/>
            <a:ext cx="9144000" cy="441542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5"/>
          <p:cNvSpPr/>
          <p:nvPr/>
        </p:nvSpPr>
        <p:spPr>
          <a:xfrm>
            <a:off x="0" y="0"/>
            <a:ext cx="7429500" cy="4415425"/>
          </a:xfrm>
          <a:prstGeom prst="flowChartInputOutput">
            <a:avLst/>
          </a:prstGeom>
          <a:solidFill>
            <a:srgbClr val="BC182C">
              <a:alpha val="623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5"/>
          <p:cNvSpPr txBox="1"/>
          <p:nvPr>
            <p:ph type="ctrTitle"/>
          </p:nvPr>
        </p:nvSpPr>
        <p:spPr>
          <a:xfrm>
            <a:off x="1049250" y="1995900"/>
            <a:ext cx="54291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900">
                <a:solidFill>
                  <a:schemeClr val="lt1"/>
                </a:solidFill>
              </a:rPr>
              <a:t>Python para Arduino y Processing: Un lenguaje muy poderoso</a:t>
            </a:r>
            <a:endParaRPr b="1"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 txBox="1"/>
          <p:nvPr>
            <p:ph type="ctrTitle"/>
          </p:nvPr>
        </p:nvSpPr>
        <p:spPr>
          <a:xfrm>
            <a:off x="1093800" y="1575225"/>
            <a:ext cx="5340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lt1"/>
                </a:solidFill>
              </a:rPr>
              <a:t>Unidad 5</a:t>
            </a:r>
            <a:endParaRPr sz="1800" u="sng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4050" l="0" r="0" t="12442"/>
          <a:stretch/>
        </p:blipFill>
        <p:spPr>
          <a:xfrm>
            <a:off x="0" y="0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556271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 txBox="1"/>
          <p:nvPr>
            <p:ph idx="4294967295" type="ctrTitle"/>
          </p:nvPr>
        </p:nvSpPr>
        <p:spPr>
          <a:xfrm>
            <a:off x="4368975" y="261625"/>
            <a:ext cx="2850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lt1"/>
                </a:solidFill>
              </a:rPr>
              <a:t>Python para Arduino y Processing: Un lenguaje muy poderoso</a:t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111" name="Google Shape;111;p26"/>
          <p:cNvCxnSpPr/>
          <p:nvPr/>
        </p:nvCxnSpPr>
        <p:spPr>
          <a:xfrm flipH="1">
            <a:off x="7259850" y="309275"/>
            <a:ext cx="132000" cy="27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2" name="Google Shape;11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2238" y="256888"/>
            <a:ext cx="13620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6"/>
          <p:cNvSpPr txBox="1"/>
          <p:nvPr>
            <p:ph idx="4294967295" type="ctrTitle"/>
          </p:nvPr>
        </p:nvSpPr>
        <p:spPr>
          <a:xfrm>
            <a:off x="1086150" y="2041414"/>
            <a:ext cx="54291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lt1"/>
                </a:solidFill>
              </a:rPr>
              <a:t>El lenguaje Python: Conceptos, sintaxis y comparación con Java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27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9" name="Google Shape;1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 txBox="1"/>
          <p:nvPr/>
        </p:nvSpPr>
        <p:spPr>
          <a:xfrm>
            <a:off x="554400" y="1733550"/>
            <a:ext cx="80352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Python es un lenguaje </a:t>
            </a:r>
            <a:r>
              <a:rPr lang="en-GB" sz="1600">
                <a:solidFill>
                  <a:srgbClr val="556271"/>
                </a:solidFill>
              </a:rPr>
              <a:t>tipado (requiere categorización de tipos de datos como int, String, etc.) y</a:t>
            </a:r>
            <a:r>
              <a:rPr lang="en-GB" sz="1600">
                <a:solidFill>
                  <a:srgbClr val="556271"/>
                </a:solidFill>
              </a:rPr>
              <a:t> de alto nivel (</a:t>
            </a:r>
            <a:r>
              <a:rPr lang="en-GB" sz="1600">
                <a:solidFill>
                  <a:srgbClr val="556271"/>
                </a:solidFill>
              </a:rPr>
              <a:t>está</a:t>
            </a:r>
            <a:r>
              <a:rPr lang="en-GB" sz="1600">
                <a:solidFill>
                  <a:srgbClr val="556271"/>
                </a:solidFill>
              </a:rPr>
              <a:t> </a:t>
            </a:r>
            <a:r>
              <a:rPr lang="en-GB" sz="1600">
                <a:solidFill>
                  <a:srgbClr val="556271"/>
                </a:solidFill>
              </a:rPr>
              <a:t>abstraído</a:t>
            </a:r>
            <a:r>
              <a:rPr lang="en-GB" sz="1600">
                <a:solidFill>
                  <a:srgbClr val="556271"/>
                </a:solidFill>
              </a:rPr>
              <a:t> de los componentes de capas bajas cercanas al hardware). Su sintaxis y estructura están diseñadas para un alto nivel de flexibilidad el </a:t>
            </a:r>
            <a:r>
              <a:rPr lang="en-GB" sz="1600">
                <a:solidFill>
                  <a:srgbClr val="556271"/>
                </a:solidFill>
              </a:rPr>
              <a:t>cual</a:t>
            </a:r>
            <a:r>
              <a:rPr lang="en-GB" sz="1600">
                <a:solidFill>
                  <a:srgbClr val="556271"/>
                </a:solidFill>
              </a:rPr>
              <a:t> le permite acceder a muchos casos de uso yendo de procesamiento web a procesamiento de datos para </a:t>
            </a:r>
            <a:r>
              <a:rPr lang="en-GB" sz="1600">
                <a:solidFill>
                  <a:srgbClr val="556271"/>
                </a:solidFill>
              </a:rPr>
              <a:t>aplicaciones</a:t>
            </a:r>
            <a:r>
              <a:rPr lang="en-GB" sz="1600">
                <a:solidFill>
                  <a:srgbClr val="556271"/>
                </a:solidFill>
              </a:rPr>
              <a:t> </a:t>
            </a:r>
            <a:r>
              <a:rPr lang="en-GB" sz="1600">
                <a:solidFill>
                  <a:srgbClr val="556271"/>
                </a:solidFill>
              </a:rPr>
              <a:t>científicas</a:t>
            </a:r>
            <a:r>
              <a:rPr lang="en-GB" sz="1600">
                <a:solidFill>
                  <a:srgbClr val="556271"/>
                </a:solidFill>
              </a:rPr>
              <a:t>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Conceptos fundamentales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28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8" name="Google Shape;1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8"/>
          <p:cNvSpPr txBox="1"/>
          <p:nvPr/>
        </p:nvSpPr>
        <p:spPr>
          <a:xfrm>
            <a:off x="554400" y="1444350"/>
            <a:ext cx="8035200" cy="2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Para descargar su entorno y poder ejecutarlo por comando, debemos descargarlo en: </a:t>
            </a:r>
            <a:r>
              <a:rPr lang="en-GB" sz="1600" u="sng">
                <a:solidFill>
                  <a:schemeClr val="hlink"/>
                </a:solidFill>
                <a:hlinkClick r:id="rId4"/>
              </a:rPr>
              <a:t>https://www.python.org/downloads/</a:t>
            </a:r>
            <a:r>
              <a:rPr lang="en-GB" sz="1600">
                <a:solidFill>
                  <a:srgbClr val="556271"/>
                </a:solidFill>
              </a:rPr>
              <a:t>. </a:t>
            </a:r>
            <a:r>
              <a:rPr b="1" lang="en-GB" sz="1600">
                <a:solidFill>
                  <a:srgbClr val="556271"/>
                </a:solidFill>
              </a:rPr>
              <a:t>Elegir la versión 3.7 para no tener problemas más adelante al usar Firmata.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Una vez que descarguen y ejecuten el archivo, recuerden guardar o recordar el nombre de carpeta de instalación ya que es posible que sea requerida para cambios en las rutas de entorno (donde su computadora va a buscar para saber como ejecutar programas python).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30" name="Google Shape;130;p28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Conceptos fundamentales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9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7" name="Google Shape;13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9"/>
          <p:cNvSpPr txBox="1"/>
          <p:nvPr/>
        </p:nvSpPr>
        <p:spPr>
          <a:xfrm>
            <a:off x="554400" y="1411850"/>
            <a:ext cx="80352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Una vez que python esté instalado, </a:t>
            </a:r>
            <a:r>
              <a:rPr lang="en-GB" sz="1600">
                <a:solidFill>
                  <a:srgbClr val="556271"/>
                </a:solidFill>
              </a:rPr>
              <a:t>inicialmente</a:t>
            </a:r>
            <a:r>
              <a:rPr lang="en-GB" sz="1600">
                <a:solidFill>
                  <a:srgbClr val="556271"/>
                </a:solidFill>
              </a:rPr>
              <a:t>, podemos correr </a:t>
            </a:r>
            <a:r>
              <a:rPr lang="en-GB" sz="1600">
                <a:solidFill>
                  <a:srgbClr val="556271"/>
                </a:solidFill>
              </a:rPr>
              <a:t>líneas</a:t>
            </a:r>
            <a:r>
              <a:rPr lang="en-GB" sz="1600">
                <a:solidFill>
                  <a:srgbClr val="556271"/>
                </a:solidFill>
              </a:rPr>
              <a:t> de </a:t>
            </a:r>
            <a:r>
              <a:rPr lang="en-GB" sz="1600">
                <a:solidFill>
                  <a:srgbClr val="556271"/>
                </a:solidFill>
              </a:rPr>
              <a:t>código incluso sin compilar un programa. Para ello, en el buscador de su computadora, deben tipear “cmd” y así entrar a su consola.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39" name="Google Shape;139;p29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Conceptos fundamentales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40" name="Google Shape;140;p29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pic>
        <p:nvPicPr>
          <p:cNvPr id="141" name="Google Shape;14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188" y="2613475"/>
            <a:ext cx="3237625" cy="189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30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7" name="Google Shape;14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0"/>
          <p:cNvSpPr txBox="1"/>
          <p:nvPr/>
        </p:nvSpPr>
        <p:spPr>
          <a:xfrm>
            <a:off x="554400" y="833038"/>
            <a:ext cx="80352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Una vez </a:t>
            </a:r>
            <a:r>
              <a:rPr lang="en-GB" sz="1600">
                <a:solidFill>
                  <a:srgbClr val="556271"/>
                </a:solidFill>
              </a:rPr>
              <a:t>ahí</a:t>
            </a:r>
            <a:r>
              <a:rPr lang="en-GB" sz="1600">
                <a:solidFill>
                  <a:srgbClr val="556271"/>
                </a:solidFill>
              </a:rPr>
              <a:t>, al ingresar la palabra “python”, entrarán en el modo tal para poder ejecutar </a:t>
            </a:r>
            <a:r>
              <a:rPr lang="en-GB" sz="1600">
                <a:solidFill>
                  <a:srgbClr val="556271"/>
                </a:solidFill>
              </a:rPr>
              <a:t>código</a:t>
            </a:r>
            <a:r>
              <a:rPr lang="en-GB" sz="1600">
                <a:solidFill>
                  <a:srgbClr val="556271"/>
                </a:solidFill>
              </a:rPr>
              <a:t>.</a:t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49" name="Google Shape;149;p30"/>
          <p:cNvSpPr txBox="1"/>
          <p:nvPr/>
        </p:nvSpPr>
        <p:spPr>
          <a:xfrm>
            <a:off x="326450" y="242575"/>
            <a:ext cx="3838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CMD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50" name="Google Shape;150;p30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151" name="Google Shape;151;p30"/>
          <p:cNvSpPr txBox="1"/>
          <p:nvPr/>
        </p:nvSpPr>
        <p:spPr>
          <a:xfrm>
            <a:off x="554388" y="2173863"/>
            <a:ext cx="80352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Sin embargo, podemos usar un entorno </a:t>
            </a:r>
            <a:r>
              <a:rPr lang="en-GB" sz="1600">
                <a:solidFill>
                  <a:srgbClr val="556271"/>
                </a:solidFill>
              </a:rPr>
              <a:t>más</a:t>
            </a:r>
            <a:r>
              <a:rPr lang="en-GB" sz="1600">
                <a:solidFill>
                  <a:srgbClr val="556271"/>
                </a:solidFill>
              </a:rPr>
              <a:t> amigable mediante el paquete de software llamado “ipython”. Para ello, debemos instalar el paquete a </a:t>
            </a:r>
            <a:r>
              <a:rPr lang="en-GB" sz="1600">
                <a:solidFill>
                  <a:srgbClr val="556271"/>
                </a:solidFill>
              </a:rPr>
              <a:t>través</a:t>
            </a:r>
            <a:r>
              <a:rPr lang="en-GB" sz="1600">
                <a:solidFill>
                  <a:srgbClr val="556271"/>
                </a:solidFill>
              </a:rPr>
              <a:t> del comando pip install seguido del nombre del software.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Pip es un sistema de manejo de paquetes incluido con la instalación de python con una versión 3 para Python 3. 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Una vez instalado, ingresamos “ipython” y habremos entrado en un modo de ejecución con más usabilidad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pic>
        <p:nvPicPr>
          <p:cNvPr id="152" name="Google Shape;15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5249" y="2842375"/>
            <a:ext cx="2710525" cy="19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8163" y="4110938"/>
            <a:ext cx="1650122" cy="19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7075" y="1471499"/>
            <a:ext cx="5089857" cy="3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31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0" name="Google Shape;1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1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Entornos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62" name="Google Shape;162;p31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163" name="Google Shape;163;p31"/>
          <p:cNvSpPr txBox="1"/>
          <p:nvPr/>
        </p:nvSpPr>
        <p:spPr>
          <a:xfrm>
            <a:off x="554400" y="968250"/>
            <a:ext cx="8035200" cy="3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Si bien podemos ejecutar código desde el CMD, es útil conocer los entornos de desarrollo y frameworks que permiten realizar código en proyectos. 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n-GB" sz="1600">
                <a:solidFill>
                  <a:srgbClr val="556271"/>
                </a:solidFill>
              </a:rPr>
              <a:t>Anaconda: Es una distribución de Python y R dentro de un entorno que apunta a ofrecer funcionalidades para computación de aplicación científica (data science, ML, etc.). Al instalarlo, tendremos acceso a varios paquetes y entornos para ejecutar programas en múltiples lenguajes. 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n-GB" sz="1600">
                <a:solidFill>
                  <a:srgbClr val="556271"/>
                </a:solidFill>
              </a:rPr>
              <a:t>Jupyter Notebooks: Es una aplicación web para la creación y ejecución de documentos de computación.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lang="en-GB" sz="1600">
                <a:solidFill>
                  <a:srgbClr val="556271"/>
                </a:solidFill>
              </a:rPr>
              <a:t>Google Colab: Es una aplicación cloud la cual sirve para la creación y ejecución de documentos de computación.  </a:t>
            </a:r>
            <a:endParaRPr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32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9" name="Google Shape;1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 txBox="1"/>
          <p:nvPr/>
        </p:nvSpPr>
        <p:spPr>
          <a:xfrm>
            <a:off x="326450" y="242575"/>
            <a:ext cx="38388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Jupyter Notebook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554400" y="1278413"/>
            <a:ext cx="80352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Para instalar Jupyter Notebook, tenemos que importarla a </a:t>
            </a:r>
            <a:r>
              <a:rPr lang="en-GB" sz="1600">
                <a:solidFill>
                  <a:srgbClr val="556271"/>
                </a:solidFill>
              </a:rPr>
              <a:t>través</a:t>
            </a:r>
            <a:r>
              <a:rPr lang="en-GB" sz="1600">
                <a:solidFill>
                  <a:srgbClr val="556271"/>
                </a:solidFill>
              </a:rPr>
              <a:t> del comando pip. </a:t>
            </a:r>
            <a:endParaRPr sz="1600">
              <a:solidFill>
                <a:srgbClr val="556271"/>
              </a:solidFill>
            </a:endParaRPr>
          </a:p>
        </p:txBody>
      </p:sp>
      <p:pic>
        <p:nvPicPr>
          <p:cNvPr id="173" name="Google Shape;17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6038" y="1755747"/>
            <a:ext cx="3511918" cy="2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2"/>
          <p:cNvSpPr txBox="1"/>
          <p:nvPr/>
        </p:nvSpPr>
        <p:spPr>
          <a:xfrm>
            <a:off x="509250" y="2153575"/>
            <a:ext cx="8125500" cy="1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Una vez instalado, vamos a crear una notebook en la dirección que deseemos. Para ello podemos usar “</a:t>
            </a:r>
            <a:r>
              <a:rPr b="1" lang="en-GB" sz="1600">
                <a:solidFill>
                  <a:srgbClr val="556271"/>
                </a:solidFill>
              </a:rPr>
              <a:t>cd</a:t>
            </a:r>
            <a:r>
              <a:rPr lang="en-GB" sz="1600">
                <a:solidFill>
                  <a:srgbClr val="556271"/>
                </a:solidFill>
              </a:rPr>
              <a:t>” para cambiar la dirección y “</a:t>
            </a:r>
            <a:r>
              <a:rPr b="1" lang="en-GB" sz="1600">
                <a:solidFill>
                  <a:srgbClr val="556271"/>
                </a:solidFill>
              </a:rPr>
              <a:t>dir</a:t>
            </a:r>
            <a:r>
              <a:rPr lang="en-GB" sz="1600">
                <a:solidFill>
                  <a:srgbClr val="556271"/>
                </a:solidFill>
              </a:rPr>
              <a:t>” para ver los archivos que tenemos ahí. Una vez en la raíz que queremos crear nuestro notebook, ingresar “</a:t>
            </a:r>
            <a:r>
              <a:rPr b="1" lang="en-GB" sz="1600">
                <a:solidFill>
                  <a:srgbClr val="556271"/>
                </a:solidFill>
              </a:rPr>
              <a:t>jupyter</a:t>
            </a:r>
            <a:r>
              <a:rPr lang="en-GB" sz="1600">
                <a:solidFill>
                  <a:srgbClr val="556271"/>
                </a:solidFill>
              </a:rPr>
              <a:t> </a:t>
            </a:r>
            <a:r>
              <a:rPr b="1" lang="en-GB" sz="1600">
                <a:solidFill>
                  <a:srgbClr val="556271"/>
                </a:solidFill>
              </a:rPr>
              <a:t>notebook</a:t>
            </a:r>
            <a:r>
              <a:rPr lang="en-GB" sz="1600">
                <a:solidFill>
                  <a:srgbClr val="556271"/>
                </a:solidFill>
              </a:rPr>
              <a:t>”. Esto va a crear un entorno local a través del puerto 8888 (generalmente).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p33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0" name="Google Shape;1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3"/>
          <p:cNvSpPr txBox="1"/>
          <p:nvPr/>
        </p:nvSpPr>
        <p:spPr>
          <a:xfrm>
            <a:off x="1059750" y="956850"/>
            <a:ext cx="70245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Ya con un entorno disponible, podemos comenzar a realizar nuestros desarrollos en Python. Es entonces que nos es necesario entender la sintaxis particular ya que será distinta de lo vista hasta el momento. La diferencia </a:t>
            </a:r>
            <a:r>
              <a:rPr lang="en-GB" sz="1600">
                <a:solidFill>
                  <a:srgbClr val="556271"/>
                </a:solidFill>
              </a:rPr>
              <a:t>quizás</a:t>
            </a:r>
            <a:r>
              <a:rPr lang="en-GB" sz="1600">
                <a:solidFill>
                  <a:srgbClr val="556271"/>
                </a:solidFill>
              </a:rPr>
              <a:t> </a:t>
            </a:r>
            <a:r>
              <a:rPr lang="en-GB" sz="1600">
                <a:solidFill>
                  <a:srgbClr val="556271"/>
                </a:solidFill>
              </a:rPr>
              <a:t>más</a:t>
            </a:r>
            <a:r>
              <a:rPr lang="en-GB" sz="1600">
                <a:solidFill>
                  <a:srgbClr val="556271"/>
                </a:solidFill>
              </a:rPr>
              <a:t> relevante es el </a:t>
            </a:r>
            <a:r>
              <a:rPr b="1" lang="en-GB" sz="1600">
                <a:solidFill>
                  <a:srgbClr val="556271"/>
                </a:solidFill>
              </a:rPr>
              <a:t>uso de </a:t>
            </a:r>
            <a:r>
              <a:rPr b="1" lang="en-GB" sz="1600">
                <a:solidFill>
                  <a:srgbClr val="556271"/>
                </a:solidFill>
              </a:rPr>
              <a:t>tabulación</a:t>
            </a:r>
            <a:r>
              <a:rPr b="1" lang="en-GB" sz="1600">
                <a:solidFill>
                  <a:srgbClr val="556271"/>
                </a:solidFill>
              </a:rPr>
              <a:t> para inferir una nueva </a:t>
            </a:r>
            <a:r>
              <a:rPr b="1" lang="en-GB" sz="1600">
                <a:solidFill>
                  <a:srgbClr val="556271"/>
                </a:solidFill>
              </a:rPr>
              <a:t>línea sin necesidad de utilizar el ‘;’</a:t>
            </a:r>
            <a:r>
              <a:rPr lang="en-GB" sz="1600">
                <a:solidFill>
                  <a:srgbClr val="556271"/>
                </a:solidFill>
              </a:rPr>
              <a:t>. </a:t>
            </a:r>
            <a:r>
              <a:rPr b="1" lang="en-GB" sz="1600">
                <a:solidFill>
                  <a:srgbClr val="556271"/>
                </a:solidFill>
              </a:rPr>
              <a:t>Tampoco usamos las llaves “{}” para un módulo sino que usamos el caracter ‘:’</a:t>
            </a:r>
            <a:r>
              <a:rPr lang="en-GB" sz="1600">
                <a:solidFill>
                  <a:srgbClr val="556271"/>
                </a:solidFill>
              </a:rPr>
              <a:t> y las tabulaciones. 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Otros elementos útiles a conocer son: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# -&gt; Comentario de una sola línea</a:t>
            </a:r>
            <a:endParaRPr b="1"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“””-&gt; Comentario multilínea</a:t>
            </a:r>
            <a:endParaRPr b="1"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‘’ o “” -&gt; String</a:t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Sintaxis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34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9" name="Google Shape;1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4"/>
          <p:cNvSpPr txBox="1"/>
          <p:nvPr/>
        </p:nvSpPr>
        <p:spPr>
          <a:xfrm>
            <a:off x="554400" y="1155475"/>
            <a:ext cx="80352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Como previamente </a:t>
            </a:r>
            <a:r>
              <a:rPr lang="en-GB" sz="1600">
                <a:solidFill>
                  <a:srgbClr val="556271"/>
                </a:solidFill>
              </a:rPr>
              <a:t>mencionado</a:t>
            </a:r>
            <a:r>
              <a:rPr lang="en-GB" sz="1600">
                <a:solidFill>
                  <a:srgbClr val="556271"/>
                </a:solidFill>
              </a:rPr>
              <a:t>, todos los datos son objetos. </a:t>
            </a:r>
            <a:r>
              <a:rPr lang="en-GB" sz="1600">
                <a:solidFill>
                  <a:srgbClr val="556271"/>
                </a:solidFill>
              </a:rPr>
              <a:t>Además</a:t>
            </a:r>
            <a:r>
              <a:rPr lang="en-GB" sz="1600">
                <a:solidFill>
                  <a:srgbClr val="556271"/>
                </a:solidFill>
              </a:rPr>
              <a:t> de los datos primitivos que ya conocemos (p.e., int, float), tenemos los siguientes: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Listas</a:t>
            </a:r>
            <a:r>
              <a:rPr lang="en-GB" sz="1600">
                <a:solidFill>
                  <a:srgbClr val="556271"/>
                </a:solidFill>
              </a:rPr>
              <a:t>: Son estructuras de datos secuenciados y de longitud variable en el que podemos acceder a cualquier elemento por index.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Diccionario</a:t>
            </a:r>
            <a:r>
              <a:rPr lang="en-GB" sz="1600">
                <a:solidFill>
                  <a:srgbClr val="556271"/>
                </a:solidFill>
              </a:rPr>
              <a:t>: Es una estructura de datos que guarda valores referenciados por palabra clave </a:t>
            </a:r>
            <a:r>
              <a:rPr lang="en-GB" sz="1600">
                <a:solidFill>
                  <a:srgbClr val="556271"/>
                </a:solidFill>
              </a:rPr>
              <a:t>además</a:t>
            </a:r>
            <a:r>
              <a:rPr lang="en-GB" sz="1600">
                <a:solidFill>
                  <a:srgbClr val="556271"/>
                </a:solidFill>
              </a:rPr>
              <a:t> de </a:t>
            </a:r>
            <a:r>
              <a:rPr lang="en-GB" sz="1600">
                <a:solidFill>
                  <a:srgbClr val="556271"/>
                </a:solidFill>
              </a:rPr>
              <a:t>ubicación</a:t>
            </a:r>
            <a:r>
              <a:rPr lang="en-GB" sz="1600">
                <a:solidFill>
                  <a:srgbClr val="556271"/>
                </a:solidFill>
              </a:rPr>
              <a:t>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Tuplas</a:t>
            </a:r>
            <a:r>
              <a:rPr lang="en-GB" sz="1600">
                <a:solidFill>
                  <a:srgbClr val="556271"/>
                </a:solidFill>
              </a:rPr>
              <a:t>: Son datos compuestos, secuenciados, y accesibles a </a:t>
            </a:r>
            <a:r>
              <a:rPr lang="en-GB" sz="1600">
                <a:solidFill>
                  <a:srgbClr val="556271"/>
                </a:solidFill>
              </a:rPr>
              <a:t>través</a:t>
            </a:r>
            <a:r>
              <a:rPr lang="en-GB" sz="1600">
                <a:solidFill>
                  <a:srgbClr val="556271"/>
                </a:solidFill>
              </a:rPr>
              <a:t> de un index	pero que no pueden ser modificados una vez creados.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Además</a:t>
            </a:r>
            <a:r>
              <a:rPr lang="en-GB" sz="1600">
                <a:solidFill>
                  <a:srgbClr val="556271"/>
                </a:solidFill>
              </a:rPr>
              <a:t>, cabe destacar que en cuanto al alcance de los datos, podemos volver a implementar el concepto previo de donde se define, pero </a:t>
            </a:r>
            <a:r>
              <a:rPr lang="en-GB" sz="1600">
                <a:solidFill>
                  <a:srgbClr val="556271"/>
                </a:solidFill>
              </a:rPr>
              <a:t>también</a:t>
            </a:r>
            <a:r>
              <a:rPr lang="en-GB" sz="1600">
                <a:solidFill>
                  <a:srgbClr val="556271"/>
                </a:solidFill>
              </a:rPr>
              <a:t> podemos usar la palabra reservada “global” para forzar un dato a ser global.</a:t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191" name="Google Shape;191;p34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Tipos de datos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192" name="Google Shape;192;p34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35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8" name="Google Shape;1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5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Sintaxis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00" name="Google Shape;200;p35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201" name="Google Shape;201;p35"/>
          <p:cNvSpPr txBox="1"/>
          <p:nvPr/>
        </p:nvSpPr>
        <p:spPr>
          <a:xfrm>
            <a:off x="326450" y="974725"/>
            <a:ext cx="85434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Para funciones, utilizaremos la palabra reservada “def”: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</p:txBody>
      </p:sp>
      <p:sp>
        <p:nvSpPr>
          <p:cNvPr id="202" name="Google Shape;202;p35"/>
          <p:cNvSpPr txBox="1"/>
          <p:nvPr/>
        </p:nvSpPr>
        <p:spPr>
          <a:xfrm>
            <a:off x="2766750" y="1472425"/>
            <a:ext cx="36105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def miFuncion(primerParametro):</a:t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	return primerParametro*3</a:t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</p:txBody>
      </p:sp>
      <p:sp>
        <p:nvSpPr>
          <p:cNvPr id="203" name="Google Shape;203;p35"/>
          <p:cNvSpPr txBox="1"/>
          <p:nvPr/>
        </p:nvSpPr>
        <p:spPr>
          <a:xfrm>
            <a:off x="326450" y="2411575"/>
            <a:ext cx="8543400" cy="1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Para llamar a la </a:t>
            </a:r>
            <a:r>
              <a:rPr lang="en-GB" sz="1600">
                <a:solidFill>
                  <a:srgbClr val="556271"/>
                </a:solidFill>
              </a:rPr>
              <a:t>función</a:t>
            </a:r>
            <a:r>
              <a:rPr lang="en-GB" sz="1600">
                <a:solidFill>
                  <a:srgbClr val="556271"/>
                </a:solidFill>
              </a:rPr>
              <a:t>, podemos hacerlo como ya conocemos, o </a:t>
            </a:r>
            <a:r>
              <a:rPr lang="en-GB" sz="1600">
                <a:solidFill>
                  <a:srgbClr val="556271"/>
                </a:solidFill>
              </a:rPr>
              <a:t>también</a:t>
            </a:r>
            <a:r>
              <a:rPr lang="en-GB" sz="1600">
                <a:solidFill>
                  <a:srgbClr val="556271"/>
                </a:solidFill>
              </a:rPr>
              <a:t> pasar los valores como key: value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204" name="Google Shape;204;p35"/>
          <p:cNvSpPr txBox="1"/>
          <p:nvPr/>
        </p:nvSpPr>
        <p:spPr>
          <a:xfrm>
            <a:off x="781350" y="3238975"/>
            <a:ext cx="75813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def miFuncion(param1, param2, param3):</a:t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  print("El segundo </a:t>
            </a:r>
            <a:r>
              <a:rPr b="1" lang="en-GB" sz="1600">
                <a:solidFill>
                  <a:srgbClr val="556271"/>
                </a:solidFill>
              </a:rPr>
              <a:t>parámetro</a:t>
            </a:r>
            <a:r>
              <a:rPr b="1" lang="en-GB" sz="1600">
                <a:solidFill>
                  <a:srgbClr val="556271"/>
                </a:solidFill>
              </a:rPr>
              <a:t> es" + param2)</a:t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miFuncion(param3 = "Param 3", param1 = "Param 1", param2= "Param 2")</a:t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36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0" name="Google Shape;2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6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Sintaxis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12" name="Google Shape;212;p36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213" name="Google Shape;213;p36"/>
          <p:cNvSpPr txBox="1"/>
          <p:nvPr/>
        </p:nvSpPr>
        <p:spPr>
          <a:xfrm>
            <a:off x="554400" y="966013"/>
            <a:ext cx="80352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Para clases, el constructor se hará con la palabra “__init__” donde la estructura __nombre__ refiere a un “super método” (por ejemplo, __new__ para nuevo objeto).</a:t>
            </a:r>
            <a:endParaRPr sz="1600">
              <a:solidFill>
                <a:srgbClr val="55627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6"/>
          <p:cNvSpPr txBox="1"/>
          <p:nvPr/>
        </p:nvSpPr>
        <p:spPr>
          <a:xfrm>
            <a:off x="1178850" y="1756472"/>
            <a:ext cx="6786300" cy="24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56271"/>
                </a:solidFill>
              </a:rPr>
              <a:t>class miClase(object): 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56271"/>
                </a:solidFill>
              </a:rPr>
              <a:t>  def __init__(self, param1, param2):  # self autoreferencia al objeto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56271"/>
                </a:solidFill>
              </a:rPr>
              <a:t>    self.x = </a:t>
            </a:r>
            <a:r>
              <a:rPr b="1" lang="en-GB" sz="1600">
                <a:solidFill>
                  <a:srgbClr val="556271"/>
                </a:solidFill>
              </a:rPr>
              <a:t>param1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56271"/>
                </a:solidFill>
              </a:rPr>
              <a:t>    self.y = </a:t>
            </a:r>
            <a:r>
              <a:rPr b="1" lang="en-GB" sz="1600">
                <a:solidFill>
                  <a:srgbClr val="556271"/>
                </a:solidFill>
              </a:rPr>
              <a:t>param2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56271"/>
                </a:solidFill>
              </a:rPr>
              <a:t>  def miMetodo(self):  # Display method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556271"/>
                </a:solidFill>
              </a:rPr>
              <a:t>    rect(self.x, self.y, 300,300)</a:t>
            </a:r>
            <a:endParaRPr b="1"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37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0" name="Google Shape;22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 txBox="1"/>
          <p:nvPr/>
        </p:nvSpPr>
        <p:spPr>
          <a:xfrm>
            <a:off x="326450" y="242575"/>
            <a:ext cx="38388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</a:t>
            </a:r>
            <a:r>
              <a:rPr b="1" lang="en-GB" sz="3000">
                <a:solidFill>
                  <a:srgbClr val="434343"/>
                </a:solidFill>
              </a:rPr>
              <a:t>Librerías</a:t>
            </a:r>
            <a:r>
              <a:rPr b="1" lang="en-GB" sz="3000">
                <a:solidFill>
                  <a:srgbClr val="434343"/>
                </a:solidFill>
              </a:rPr>
              <a:t> Útiles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22" name="Google Shape;222;p37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223" name="Google Shape;223;p37"/>
          <p:cNvSpPr txBox="1"/>
          <p:nvPr/>
        </p:nvSpPr>
        <p:spPr>
          <a:xfrm>
            <a:off x="554400" y="1266225"/>
            <a:ext cx="8035200" cy="3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Las </a:t>
            </a:r>
            <a:r>
              <a:rPr lang="en-GB" sz="1600">
                <a:solidFill>
                  <a:srgbClr val="556271"/>
                </a:solidFill>
              </a:rPr>
              <a:t>librerías</a:t>
            </a:r>
            <a:r>
              <a:rPr lang="en-GB" sz="1600">
                <a:solidFill>
                  <a:srgbClr val="556271"/>
                </a:solidFill>
              </a:rPr>
              <a:t> como antes las </a:t>
            </a:r>
            <a:r>
              <a:rPr lang="en-GB" sz="1600">
                <a:solidFill>
                  <a:srgbClr val="556271"/>
                </a:solidFill>
              </a:rPr>
              <a:t>conocíamos</a:t>
            </a:r>
            <a:r>
              <a:rPr lang="en-GB" sz="1600">
                <a:solidFill>
                  <a:srgbClr val="556271"/>
                </a:solidFill>
              </a:rPr>
              <a:t>, ahora </a:t>
            </a:r>
            <a:r>
              <a:rPr lang="en-GB" sz="1600">
                <a:solidFill>
                  <a:srgbClr val="556271"/>
                </a:solidFill>
              </a:rPr>
              <a:t>serán</a:t>
            </a:r>
            <a:r>
              <a:rPr lang="en-GB" sz="1600">
                <a:solidFill>
                  <a:srgbClr val="556271"/>
                </a:solidFill>
              </a:rPr>
              <a:t> mejor conocidas como paquetes y </a:t>
            </a:r>
            <a:r>
              <a:rPr lang="en-GB" sz="1600">
                <a:solidFill>
                  <a:srgbClr val="556271"/>
                </a:solidFill>
              </a:rPr>
              <a:t>serán</a:t>
            </a:r>
            <a:r>
              <a:rPr lang="en-GB" sz="1600">
                <a:solidFill>
                  <a:srgbClr val="556271"/>
                </a:solidFill>
              </a:rPr>
              <a:t> instalados a </a:t>
            </a:r>
            <a:r>
              <a:rPr lang="en-GB" sz="1600">
                <a:solidFill>
                  <a:srgbClr val="556271"/>
                </a:solidFill>
              </a:rPr>
              <a:t>través</a:t>
            </a:r>
            <a:r>
              <a:rPr lang="en-GB" sz="1600">
                <a:solidFill>
                  <a:srgbClr val="556271"/>
                </a:solidFill>
              </a:rPr>
              <a:t> de pip install como vimos para ipython y jupyter. </a:t>
            </a:r>
            <a:r>
              <a:rPr lang="en-GB" sz="1600">
                <a:solidFill>
                  <a:srgbClr val="556271"/>
                </a:solidFill>
              </a:rPr>
              <a:t>Si bien, existen miles de librerías, vamos a mencionar y trabajar con principalmente las siguientes 3: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Pandas</a:t>
            </a:r>
            <a:r>
              <a:rPr lang="en-GB" sz="1600">
                <a:solidFill>
                  <a:srgbClr val="556271"/>
                </a:solidFill>
              </a:rPr>
              <a:t>: Es una herramienta de manejo y análisis de datos construida sobre Python.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Numpy</a:t>
            </a:r>
            <a:r>
              <a:rPr lang="en-GB" sz="1600">
                <a:solidFill>
                  <a:srgbClr val="556271"/>
                </a:solidFill>
              </a:rPr>
              <a:t>: Es un paquete que provee herramientas computacionales existentes en C y Fortran a través de Python para simplificación y mejora.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MatplotLib</a:t>
            </a:r>
            <a:r>
              <a:rPr lang="en-GB" sz="1600">
                <a:solidFill>
                  <a:srgbClr val="556271"/>
                </a:solidFill>
              </a:rPr>
              <a:t>: Es un paquete que provee herramientas de visualización de datos para Python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8"/>
          <p:cNvPicPr preferRelativeResize="0"/>
          <p:nvPr/>
        </p:nvPicPr>
        <p:blipFill rotWithShape="1">
          <a:blip r:embed="rId3">
            <a:alphaModFix/>
          </a:blip>
          <a:srcRect b="4050" l="0" r="0" t="12442"/>
          <a:stretch/>
        </p:blipFill>
        <p:spPr>
          <a:xfrm>
            <a:off x="0" y="0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556271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8"/>
          <p:cNvSpPr txBox="1"/>
          <p:nvPr>
            <p:ph idx="4294967295" type="ctrTitle"/>
          </p:nvPr>
        </p:nvSpPr>
        <p:spPr>
          <a:xfrm>
            <a:off x="4368975" y="261625"/>
            <a:ext cx="2850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lt1"/>
                </a:solidFill>
              </a:rPr>
              <a:t>Python para Arduino y Processing: Un lenguaje muy poderoso</a:t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231" name="Google Shape;231;p38"/>
          <p:cNvCxnSpPr/>
          <p:nvPr/>
        </p:nvCxnSpPr>
        <p:spPr>
          <a:xfrm flipH="1">
            <a:off x="7259850" y="309275"/>
            <a:ext cx="132000" cy="27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2" name="Google Shape;23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2238" y="256888"/>
            <a:ext cx="13620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>
            <p:ph idx="4294967295" type="ctrTitle"/>
          </p:nvPr>
        </p:nvSpPr>
        <p:spPr>
          <a:xfrm>
            <a:off x="1086150" y="2041414"/>
            <a:ext cx="54291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lt1"/>
                </a:solidFill>
              </a:rPr>
              <a:t>Python para Arduino: Firmata, pyFirmata y pySerial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238;p39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9" name="Google Shape;23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9"/>
          <p:cNvSpPr txBox="1"/>
          <p:nvPr/>
        </p:nvSpPr>
        <p:spPr>
          <a:xfrm>
            <a:off x="326450" y="242575"/>
            <a:ext cx="38388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pySerial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41" name="Google Shape;241;p39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242" name="Google Shape;242;p39"/>
          <p:cNvSpPr txBox="1"/>
          <p:nvPr/>
        </p:nvSpPr>
        <p:spPr>
          <a:xfrm>
            <a:off x="554400" y="1613400"/>
            <a:ext cx="80352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Ya conocemos la </a:t>
            </a:r>
            <a:r>
              <a:rPr lang="en-GB" sz="1600">
                <a:solidFill>
                  <a:srgbClr val="556271"/>
                </a:solidFill>
              </a:rPr>
              <a:t>librería</a:t>
            </a:r>
            <a:r>
              <a:rPr lang="en-GB" sz="1600">
                <a:solidFill>
                  <a:srgbClr val="556271"/>
                </a:solidFill>
              </a:rPr>
              <a:t> firmata y sus capacidades ya que en la Unidad 2 - Módulo 1, lo usamos para manejar el arduino desde </a:t>
            </a:r>
            <a:r>
              <a:rPr lang="en-GB" sz="1600">
                <a:solidFill>
                  <a:srgbClr val="556271"/>
                </a:solidFill>
              </a:rPr>
              <a:t>código</a:t>
            </a:r>
            <a:r>
              <a:rPr lang="en-GB" sz="1600">
                <a:solidFill>
                  <a:srgbClr val="556271"/>
                </a:solidFill>
              </a:rPr>
              <a:t> hecho en Processing, con un objeto que simulaba la </a:t>
            </a:r>
            <a:r>
              <a:rPr lang="en-GB" sz="1600">
                <a:solidFill>
                  <a:srgbClr val="556271"/>
                </a:solidFill>
              </a:rPr>
              <a:t>comunicación</a:t>
            </a:r>
            <a:r>
              <a:rPr lang="en-GB" sz="1600">
                <a:solidFill>
                  <a:srgbClr val="556271"/>
                </a:solidFill>
              </a:rPr>
              <a:t>. Con Python, haremos esto a </a:t>
            </a:r>
            <a:r>
              <a:rPr lang="en-GB" sz="1600">
                <a:solidFill>
                  <a:srgbClr val="556271"/>
                </a:solidFill>
              </a:rPr>
              <a:t>través</a:t>
            </a:r>
            <a:r>
              <a:rPr lang="en-GB" sz="1600">
                <a:solidFill>
                  <a:srgbClr val="556271"/>
                </a:solidFill>
              </a:rPr>
              <a:t> de pyFirmata. Sin embargo, con la </a:t>
            </a:r>
            <a:r>
              <a:rPr lang="en-GB" sz="1600">
                <a:solidFill>
                  <a:srgbClr val="556271"/>
                </a:solidFill>
              </a:rPr>
              <a:t>librería</a:t>
            </a:r>
            <a:r>
              <a:rPr lang="en-GB" sz="1600">
                <a:solidFill>
                  <a:srgbClr val="556271"/>
                </a:solidFill>
              </a:rPr>
              <a:t> pySerial, nos podemos comunicar con el arduino a </a:t>
            </a:r>
            <a:r>
              <a:rPr lang="en-GB" sz="1600">
                <a:solidFill>
                  <a:srgbClr val="556271"/>
                </a:solidFill>
              </a:rPr>
              <a:t>través</a:t>
            </a:r>
            <a:r>
              <a:rPr lang="en-GB" sz="1600">
                <a:solidFill>
                  <a:srgbClr val="556271"/>
                </a:solidFill>
              </a:rPr>
              <a:t> del puerto Serial. Para instalar, </a:t>
            </a:r>
            <a:r>
              <a:rPr lang="en-GB" sz="1600">
                <a:solidFill>
                  <a:srgbClr val="556271"/>
                </a:solidFill>
              </a:rPr>
              <a:t>también</a:t>
            </a:r>
            <a:r>
              <a:rPr lang="en-GB" sz="1600">
                <a:solidFill>
                  <a:srgbClr val="556271"/>
                </a:solidFill>
              </a:rPr>
              <a:t> usamos pip: </a:t>
            </a:r>
            <a:r>
              <a:rPr b="1" lang="en-GB" sz="1600">
                <a:solidFill>
                  <a:srgbClr val="556271"/>
                </a:solidFill>
              </a:rPr>
              <a:t>pip install pyserial </a:t>
            </a:r>
            <a:r>
              <a:rPr lang="en-GB" sz="1600">
                <a:solidFill>
                  <a:srgbClr val="556271"/>
                </a:solidFill>
              </a:rPr>
              <a:t>e </a:t>
            </a:r>
            <a:r>
              <a:rPr b="1" lang="en-GB" sz="1600">
                <a:solidFill>
                  <a:srgbClr val="556271"/>
                </a:solidFill>
              </a:rPr>
              <a:t>import serial </a:t>
            </a:r>
            <a:r>
              <a:rPr lang="en-GB" sz="1600">
                <a:solidFill>
                  <a:srgbClr val="556271"/>
                </a:solidFill>
              </a:rPr>
              <a:t>para usarlo en nuestro </a:t>
            </a:r>
            <a:r>
              <a:rPr lang="en-GB" sz="1600">
                <a:solidFill>
                  <a:srgbClr val="556271"/>
                </a:solidFill>
              </a:rPr>
              <a:t>código</a:t>
            </a:r>
            <a:r>
              <a:rPr lang="en-GB" sz="1600">
                <a:solidFill>
                  <a:srgbClr val="556271"/>
                </a:solidFill>
              </a:rPr>
              <a:t>. </a:t>
            </a:r>
            <a:endParaRPr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40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8" name="Google Shape;2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0"/>
          <p:cNvSpPr txBox="1"/>
          <p:nvPr/>
        </p:nvSpPr>
        <p:spPr>
          <a:xfrm>
            <a:off x="326450" y="242575"/>
            <a:ext cx="38388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pySerial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50" name="Google Shape;250;p40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251" name="Google Shape;251;p40"/>
          <p:cNvSpPr txBox="1"/>
          <p:nvPr/>
        </p:nvSpPr>
        <p:spPr>
          <a:xfrm>
            <a:off x="554400" y="1288650"/>
            <a:ext cx="8035200" cy="25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Una vez instalado e importado: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s = serial.Serial('COM6',9600)</a:t>
            </a:r>
            <a:endParaRPr b="1"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s.readline()</a:t>
            </a:r>
            <a:endParaRPr b="1"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s.write(bytes(misBytes, 'utf-8')) 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También</a:t>
            </a:r>
            <a:r>
              <a:rPr lang="en-GB" sz="1600">
                <a:solidFill>
                  <a:srgbClr val="556271"/>
                </a:solidFill>
              </a:rPr>
              <a:t> nos es </a:t>
            </a:r>
            <a:r>
              <a:rPr lang="en-GB" sz="1600">
                <a:solidFill>
                  <a:srgbClr val="556271"/>
                </a:solidFill>
              </a:rPr>
              <a:t>útil</a:t>
            </a:r>
            <a:r>
              <a:rPr lang="en-GB" sz="1600">
                <a:solidFill>
                  <a:srgbClr val="556271"/>
                </a:solidFill>
              </a:rPr>
              <a:t> la </a:t>
            </a:r>
            <a:r>
              <a:rPr lang="en-GB" sz="1600">
                <a:solidFill>
                  <a:srgbClr val="556271"/>
                </a:solidFill>
              </a:rPr>
              <a:t>función</a:t>
            </a:r>
            <a:r>
              <a:rPr lang="en-GB" sz="1600">
                <a:solidFill>
                  <a:srgbClr val="556271"/>
                </a:solidFill>
              </a:rPr>
              <a:t> de ingreso de datos (input) y la </a:t>
            </a:r>
            <a:r>
              <a:rPr lang="en-GB" sz="1600">
                <a:solidFill>
                  <a:srgbClr val="556271"/>
                </a:solidFill>
              </a:rPr>
              <a:t>función</a:t>
            </a:r>
            <a:r>
              <a:rPr lang="en-GB" sz="1600">
                <a:solidFill>
                  <a:srgbClr val="556271"/>
                </a:solidFill>
              </a:rPr>
              <a:t> para interrumpir el programa </a:t>
            </a:r>
            <a:r>
              <a:rPr lang="en-GB" sz="1600">
                <a:solidFill>
                  <a:srgbClr val="556271"/>
                </a:solidFill>
              </a:rPr>
              <a:t>momentáneamente</a:t>
            </a:r>
            <a:r>
              <a:rPr lang="en-GB" sz="1600">
                <a:solidFill>
                  <a:srgbClr val="556271"/>
                </a:solidFill>
              </a:rPr>
              <a:t> (sleep):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datosIngresados = input("Ingresar datos: ")</a:t>
            </a:r>
            <a:endParaRPr b="1"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time.sleep(0.05) </a:t>
            </a:r>
            <a:endParaRPr b="1"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" name="Google Shape;256;p41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7" name="Google Shape;25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1"/>
          <p:cNvSpPr txBox="1"/>
          <p:nvPr/>
        </p:nvSpPr>
        <p:spPr>
          <a:xfrm>
            <a:off x="326450" y="242575"/>
            <a:ext cx="38388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pyFirmata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59" name="Google Shape;259;p41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554400" y="1102800"/>
            <a:ext cx="8035200" cy="29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Con pyFirmata vamos a crear un objeto tipo arduino el </a:t>
            </a:r>
            <a:r>
              <a:rPr lang="en-GB" sz="1600">
                <a:solidFill>
                  <a:srgbClr val="556271"/>
                </a:solidFill>
              </a:rPr>
              <a:t>cuál</a:t>
            </a:r>
            <a:r>
              <a:rPr lang="en-GB" sz="1600">
                <a:solidFill>
                  <a:srgbClr val="556271"/>
                </a:solidFill>
              </a:rPr>
              <a:t> va a manejar a la placa sin necesidad de establecer mecanismos de </a:t>
            </a:r>
            <a:r>
              <a:rPr lang="en-GB" sz="1600">
                <a:solidFill>
                  <a:srgbClr val="556271"/>
                </a:solidFill>
              </a:rPr>
              <a:t>envío</a:t>
            </a:r>
            <a:r>
              <a:rPr lang="en-GB" sz="1600">
                <a:solidFill>
                  <a:srgbClr val="556271"/>
                </a:solidFill>
              </a:rPr>
              <a:t>, </a:t>
            </a:r>
            <a:r>
              <a:rPr lang="en-GB" sz="1600">
                <a:solidFill>
                  <a:srgbClr val="556271"/>
                </a:solidFill>
              </a:rPr>
              <a:t>recepción</a:t>
            </a:r>
            <a:r>
              <a:rPr lang="en-GB" sz="1600">
                <a:solidFill>
                  <a:srgbClr val="556271"/>
                </a:solidFill>
              </a:rPr>
              <a:t> y procesamiento de </a:t>
            </a:r>
            <a:r>
              <a:rPr lang="en-GB" sz="1600">
                <a:solidFill>
                  <a:srgbClr val="556271"/>
                </a:solidFill>
              </a:rPr>
              <a:t>órdenes</a:t>
            </a:r>
            <a:r>
              <a:rPr lang="en-GB" sz="1600">
                <a:solidFill>
                  <a:srgbClr val="556271"/>
                </a:solidFill>
              </a:rPr>
              <a:t>. Para ello, es </a:t>
            </a:r>
            <a:r>
              <a:rPr lang="en-GB" sz="1600">
                <a:solidFill>
                  <a:srgbClr val="556271"/>
                </a:solidFill>
              </a:rPr>
              <a:t>útil</a:t>
            </a:r>
            <a:r>
              <a:rPr lang="en-GB" sz="1600">
                <a:solidFill>
                  <a:srgbClr val="556271"/>
                </a:solidFill>
              </a:rPr>
              <a:t> conocer los siguientes comandos: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objetoArduino = pyfirmata.Arduino(‘COM6’, 9600)</a:t>
            </a:r>
            <a:endParaRPr b="1"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objetoArduino</a:t>
            </a:r>
            <a:r>
              <a:rPr b="1" lang="en-GB" sz="1600">
                <a:solidFill>
                  <a:srgbClr val="556271"/>
                </a:solidFill>
              </a:rPr>
              <a:t>.digital[pin].write(estado)</a:t>
            </a:r>
            <a:r>
              <a:rPr lang="en-GB" sz="1600">
                <a:solidFill>
                  <a:srgbClr val="556271"/>
                </a:solidFill>
              </a:rPr>
              <a:t>: Donde el pin y el estado son enteros.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objetoArduino</a:t>
            </a:r>
            <a:r>
              <a:rPr b="1" lang="en-GB" sz="1600">
                <a:solidFill>
                  <a:srgbClr val="556271"/>
                </a:solidFill>
              </a:rPr>
              <a:t>.digital[pin].mode</a:t>
            </a:r>
            <a:r>
              <a:rPr lang="en-GB" sz="1600">
                <a:solidFill>
                  <a:srgbClr val="556271"/>
                </a:solidFill>
              </a:rPr>
              <a:t> = </a:t>
            </a:r>
            <a:r>
              <a:rPr b="1" lang="en-GB" sz="1600">
                <a:solidFill>
                  <a:srgbClr val="556271"/>
                </a:solidFill>
              </a:rPr>
              <a:t>OUTPUT/INPUT/PWM/SERVO </a:t>
            </a:r>
            <a:r>
              <a:rPr lang="en-GB" sz="1600">
                <a:solidFill>
                  <a:srgbClr val="556271"/>
                </a:solidFill>
              </a:rPr>
              <a:t>para usar estos valores debemos importarlos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objetoArduino</a:t>
            </a:r>
            <a:r>
              <a:rPr b="1" lang="en-GB" sz="1600">
                <a:solidFill>
                  <a:srgbClr val="556271"/>
                </a:solidFill>
              </a:rPr>
              <a:t>.digital[pinPWM].write(valor)</a:t>
            </a:r>
            <a:r>
              <a:rPr lang="en-GB" sz="1600">
                <a:solidFill>
                  <a:srgbClr val="556271"/>
                </a:solidFill>
              </a:rPr>
              <a:t>: Donde valor va entre 0 y 1 indicando 0 a 255</a:t>
            </a:r>
            <a:endParaRPr b="1" sz="1600">
              <a:solidFill>
                <a:srgbClr val="556271"/>
              </a:solidFill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" name="Google Shape;265;p42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6" name="Google Shape;26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2"/>
          <p:cNvSpPr txBox="1"/>
          <p:nvPr/>
        </p:nvSpPr>
        <p:spPr>
          <a:xfrm>
            <a:off x="326450" y="242575"/>
            <a:ext cx="38388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pyFirmata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68" name="Google Shape;268;p42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554400" y="1084350"/>
            <a:ext cx="8035200" cy="29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556271"/>
                </a:solidFill>
              </a:rPr>
              <a:t>Más funciones </a:t>
            </a:r>
            <a:r>
              <a:rPr lang="en-GB" sz="1600">
                <a:solidFill>
                  <a:srgbClr val="556271"/>
                </a:solidFill>
              </a:rPr>
              <a:t>útiles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objetoArduino.digital[pinServo].write(angulo)</a:t>
            </a:r>
            <a:r>
              <a:rPr lang="en-GB" sz="1600">
                <a:solidFill>
                  <a:srgbClr val="556271"/>
                </a:solidFill>
              </a:rPr>
              <a:t>: Donde pinServo tiene que ser un pin inicializado en modo SERVO y el ángulo de 0 a 180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unPin = objetoArduino.get_pin('d:7:i')</a:t>
            </a:r>
            <a:r>
              <a:rPr lang="en-GB" sz="1600">
                <a:solidFill>
                  <a:srgbClr val="556271"/>
                </a:solidFill>
              </a:rPr>
              <a:t>: En este caso obtengo el digital 7 como INPUT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valor = unPin.read()</a:t>
            </a:r>
            <a:endParaRPr b="1"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it = util.Iterator(objetoArduino): </a:t>
            </a:r>
            <a:r>
              <a:rPr lang="en-GB" sz="1600">
                <a:solidFill>
                  <a:srgbClr val="556271"/>
                </a:solidFill>
              </a:rPr>
              <a:t>Permite iterar para obtener valores cambiantes del analog</a:t>
            </a:r>
            <a:endParaRPr sz="1600">
              <a:solidFill>
                <a:srgbClr val="556271"/>
              </a:solidFill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6271"/>
              </a:buClr>
              <a:buSzPts val="1600"/>
              <a:buChar char="●"/>
            </a:pPr>
            <a:r>
              <a:rPr b="1" lang="en-GB" sz="1600">
                <a:solidFill>
                  <a:srgbClr val="556271"/>
                </a:solidFill>
              </a:rPr>
              <a:t>it.start(): </a:t>
            </a:r>
            <a:r>
              <a:rPr lang="en-GB" sz="1600">
                <a:solidFill>
                  <a:srgbClr val="556271"/>
                </a:solidFill>
              </a:rPr>
              <a:t>Inicializa la iteración, solo puede hacerse una vez</a:t>
            </a:r>
            <a:endParaRPr b="1" sz="1600">
              <a:solidFill>
                <a:srgbClr val="556271"/>
              </a:solidFill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3"/>
          <p:cNvPicPr preferRelativeResize="0"/>
          <p:nvPr/>
        </p:nvPicPr>
        <p:blipFill rotWithShape="1">
          <a:blip r:embed="rId3">
            <a:alphaModFix/>
          </a:blip>
          <a:srcRect b="4050" l="0" r="0" t="12442"/>
          <a:stretch/>
        </p:blipFill>
        <p:spPr>
          <a:xfrm>
            <a:off x="0" y="0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3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556271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3"/>
          <p:cNvSpPr txBox="1"/>
          <p:nvPr>
            <p:ph idx="4294967295" type="ctrTitle"/>
          </p:nvPr>
        </p:nvSpPr>
        <p:spPr>
          <a:xfrm>
            <a:off x="4368975" y="261625"/>
            <a:ext cx="2850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lt1"/>
                </a:solidFill>
              </a:rPr>
              <a:t>Python para Arduino y Processing: Un lenguaje muy poderoso</a:t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277" name="Google Shape;277;p43"/>
          <p:cNvCxnSpPr/>
          <p:nvPr/>
        </p:nvCxnSpPr>
        <p:spPr>
          <a:xfrm flipH="1">
            <a:off x="7259850" y="309275"/>
            <a:ext cx="132000" cy="272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8" name="Google Shape;27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2238" y="256888"/>
            <a:ext cx="13620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3"/>
          <p:cNvSpPr txBox="1"/>
          <p:nvPr>
            <p:ph idx="4294967295" type="ctrTitle"/>
          </p:nvPr>
        </p:nvSpPr>
        <p:spPr>
          <a:xfrm>
            <a:off x="1086150" y="2041414"/>
            <a:ext cx="54291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>
                <a:solidFill>
                  <a:schemeClr val="lt1"/>
                </a:solidFill>
              </a:rPr>
              <a:t>Python para Processing: Processing en Python Mode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p44"/>
          <p:cNvCxnSpPr/>
          <p:nvPr/>
        </p:nvCxnSpPr>
        <p:spPr>
          <a:xfrm flipH="1">
            <a:off x="7445238" y="242563"/>
            <a:ext cx="133500" cy="276300"/>
          </a:xfrm>
          <a:prstGeom prst="straightConnector1">
            <a:avLst/>
          </a:prstGeom>
          <a:noFill/>
          <a:ln cap="flat" cmpd="sng" w="9525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5" name="Google Shape;28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7775" y="208488"/>
            <a:ext cx="1161975" cy="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4"/>
          <p:cNvSpPr txBox="1"/>
          <p:nvPr/>
        </p:nvSpPr>
        <p:spPr>
          <a:xfrm>
            <a:off x="554400" y="1375350"/>
            <a:ext cx="80352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556271"/>
                </a:solidFill>
              </a:rPr>
              <a:t>En particular, para Processing, volvemos a tener nuestras estructuras setup y draw pero ahora bajo la sintaxis de Python</a:t>
            </a:r>
            <a:endParaRPr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56271"/>
              </a:solidFill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326450" y="242575"/>
            <a:ext cx="3838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434343"/>
                </a:solidFill>
              </a:rPr>
              <a:t>Python: Estructura en Processing</a:t>
            </a:r>
            <a:endParaRPr b="1" sz="3000">
              <a:solidFill>
                <a:srgbClr val="434343"/>
              </a:solidFill>
            </a:endParaRPr>
          </a:p>
        </p:txBody>
      </p:sp>
      <p:sp>
        <p:nvSpPr>
          <p:cNvPr id="288" name="Google Shape;288;p44"/>
          <p:cNvSpPr txBox="1"/>
          <p:nvPr/>
        </p:nvSpPr>
        <p:spPr>
          <a:xfrm>
            <a:off x="3959625" y="316375"/>
            <a:ext cx="3414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556271"/>
                </a:solidFill>
              </a:rPr>
              <a:t>Interfaces Gráficas y Procesamiento de Datos  / Módulo 2 / Unidad 1  / Unidad 1: Python para Arduino y Processing: Un lenguaje muy poderoso</a:t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56271"/>
              </a:solidFill>
            </a:endParaRPr>
          </a:p>
        </p:txBody>
      </p:sp>
      <p:sp>
        <p:nvSpPr>
          <p:cNvPr id="289" name="Google Shape;289;p44"/>
          <p:cNvSpPr txBox="1"/>
          <p:nvPr/>
        </p:nvSpPr>
        <p:spPr>
          <a:xfrm>
            <a:off x="2887200" y="2094050"/>
            <a:ext cx="33696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def setup():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    size(480, 120)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def draw():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    if  mousePressed: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        fill(0)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    else: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        fill(255)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556271"/>
                </a:solidFill>
              </a:rPr>
              <a:t>    ellipse(mouseX, mouseY, 80, 80)</a:t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55627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