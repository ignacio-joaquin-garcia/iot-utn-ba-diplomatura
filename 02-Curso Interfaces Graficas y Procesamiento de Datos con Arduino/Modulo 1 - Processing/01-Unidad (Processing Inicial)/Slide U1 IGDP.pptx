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56">
          <p15:clr>
            <a:srgbClr val="9AA0A6"/>
          </p15:clr>
        </p15:guide>
        <p15:guide id="2" pos="737">
          <p15:clr>
            <a:srgbClr val="9AA0A6"/>
          </p15:clr>
        </p15:guide>
        <p15:guide id="3" pos="5587">
          <p15:clr>
            <a:srgbClr val="9AA0A6"/>
          </p15:clr>
        </p15:guide>
        <p15:guide id="4" orient="horz" pos="3084">
          <p15:clr>
            <a:srgbClr val="9AA0A6"/>
          </p15:clr>
        </p15:guide>
        <p15:guide id="5" orient="horz" pos="540">
          <p15:clr>
            <a:srgbClr val="9AA0A6"/>
          </p15:clr>
        </p15:guide>
      </p15:sldGuideLst>
    </p:ext>
    <p:ext uri="http://customooxmlschemas.google.com/">
      <go:slidesCustomData xmlns:go="http://customooxmlschemas.google.com/" r:id="rId47" roundtripDataSignature="AMtx7mgwlMkEUy+8oYJKa8c7+1tiTkKZ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CF2C68-E0B2-42DF-8E74-00AEAB4D83F5}">
  <a:tblStyle styleId="{60CF2C68-E0B2-42DF-8E74-00AEAB4D83F5}" styleName="Table_0">
    <a:wholeTbl>
      <a:tcTxStyle>
        <a:font>
          <a:latin typeface="Arial"/>
          <a:ea typeface="Arial"/>
          <a:cs typeface="Arial"/>
        </a:font>
        <a:srgbClr val="943734"/>
      </a:tcTxStyle>
      <a:tcStyle>
        <a:tcBdr>
          <a:left>
            <a:ln cap="flat" cmpd="sng" w="12700">
              <a:solidFill>
                <a:srgbClr val="C0504D"/>
              </a:solidFill>
              <a:prstDash val="solid"/>
              <a:round/>
              <a:headEnd len="sm" w="sm" type="none"/>
              <a:tailEnd len="sm" w="sm" type="none"/>
            </a:ln>
          </a:left>
          <a:right>
            <a:ln cap="flat" cmpd="sng" w="12700">
              <a:solidFill>
                <a:srgbClr val="C0504D"/>
              </a:solidFill>
              <a:prstDash val="solid"/>
              <a:round/>
              <a:headEnd len="sm" w="sm" type="none"/>
              <a:tailEnd len="sm" w="sm" type="none"/>
            </a:ln>
          </a:right>
          <a:top>
            <a:ln cap="flat" cmpd="sng" w="12700">
              <a:solidFill>
                <a:srgbClr val="C0504D"/>
              </a:solidFill>
              <a:prstDash val="solid"/>
              <a:round/>
              <a:headEnd len="sm" w="sm" type="none"/>
              <a:tailEnd len="sm" w="sm" type="none"/>
            </a:ln>
          </a:top>
          <a:bottom>
            <a:ln cap="flat" cmpd="sng" w="12700">
              <a:solidFill>
                <a:srgbClr val="C0504D"/>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tcStyle>
        <a:tcBdr>
          <a:left>
            <a:ln cap="flat" cmpd="sng" w="12700">
              <a:solidFill>
                <a:srgbClr val="C0504D"/>
              </a:solidFill>
              <a:prstDash val="solid"/>
              <a:round/>
              <a:headEnd len="sm" w="sm" type="none"/>
              <a:tailEnd len="sm" w="sm" type="none"/>
            </a:ln>
          </a:left>
          <a:right>
            <a:ln cap="flat" cmpd="sng" w="12700">
              <a:solidFill>
                <a:srgbClr val="C0504D"/>
              </a:solidFill>
              <a:prstDash val="solid"/>
              <a:round/>
              <a:headEnd len="sm" w="sm" type="none"/>
              <a:tailEnd len="sm" w="sm" type="none"/>
            </a:ln>
          </a:right>
          <a:top>
            <a:ln cap="flat" cmpd="sng" w="12700">
              <a:solidFill>
                <a:srgbClr val="C0504D"/>
              </a:solidFill>
              <a:prstDash val="solid"/>
              <a:round/>
              <a:headEnd len="sm" w="sm" type="none"/>
              <a:tailEnd len="sm" w="sm" type="none"/>
            </a:ln>
          </a:top>
          <a:bottom>
            <a:ln cap="flat" cmpd="sng" w="12700">
              <a:solidFill>
                <a:srgbClr val="C0504D"/>
              </a:solidFill>
              <a:prstDash val="solid"/>
              <a:round/>
              <a:headEnd len="sm" w="sm" type="none"/>
              <a:tailEnd len="sm" w="sm" type="none"/>
            </a:ln>
          </a:bottom>
          <a:insideV>
            <a:ln cap="flat" cmpd="sng" w="12700">
              <a:solidFill>
                <a:srgbClr val="C0504D"/>
              </a:solidFill>
              <a:prstDash val="solid"/>
              <a:round/>
              <a:headEnd len="sm" w="sm" type="none"/>
              <a:tailEnd len="sm" w="sm" type="none"/>
            </a:ln>
          </a:insideV>
        </a:tcBdr>
        <a:fill>
          <a:solidFill>
            <a:srgbClr val="EFD3D3"/>
          </a:solidFill>
        </a:fill>
      </a:tcStyle>
    </a:band1H>
    <a:band2H>
      <a:tcTxStyle/>
      <a:tcStyle>
        <a:tcBdr>
          <a:left>
            <a:ln cap="flat" cmpd="sng" w="12700">
              <a:solidFill>
                <a:srgbClr val="C0504D"/>
              </a:solidFill>
              <a:prstDash val="solid"/>
              <a:round/>
              <a:headEnd len="sm" w="sm" type="none"/>
              <a:tailEnd len="sm" w="sm" type="none"/>
            </a:ln>
          </a:left>
          <a:right>
            <a:ln cap="flat" cmpd="sng" w="12700">
              <a:solidFill>
                <a:srgbClr val="C0504D"/>
              </a:solidFill>
              <a:prstDash val="solid"/>
              <a:round/>
              <a:headEnd len="sm" w="sm" type="none"/>
              <a:tailEnd len="sm" w="sm" type="none"/>
            </a:ln>
          </a:right>
          <a:top>
            <a:ln cap="flat" cmpd="sng" w="12700">
              <a:solidFill>
                <a:srgbClr val="C0504D"/>
              </a:solidFill>
              <a:prstDash val="solid"/>
              <a:round/>
              <a:headEnd len="sm" w="sm" type="none"/>
              <a:tailEnd len="sm" w="sm" type="none"/>
            </a:ln>
          </a:top>
          <a:bottom>
            <a:ln cap="flat" cmpd="sng" w="12700">
              <a:solidFill>
                <a:srgbClr val="C0504D"/>
              </a:solidFill>
              <a:prstDash val="solid"/>
              <a:round/>
              <a:headEnd len="sm" w="sm" type="none"/>
              <a:tailEnd len="sm" w="sm" type="none"/>
            </a:ln>
          </a:bottom>
          <a:insideV>
            <a:ln cap="flat" cmpd="sng" w="12700">
              <a:solidFill>
                <a:srgbClr val="C0504D"/>
              </a:solidFill>
              <a:prstDash val="solid"/>
              <a:round/>
              <a:headEnd len="sm" w="sm" type="none"/>
              <a:tailEnd len="sm" w="sm" type="none"/>
            </a:ln>
          </a:insideV>
        </a:tcBdr>
      </a:tcStyle>
    </a:band2H>
    <a:band1V>
      <a:tcTxStyle/>
      <a:tcStyle>
        <a:tcBdr>
          <a:left>
            <a:ln cap="flat" cmpd="sng" w="12700">
              <a:solidFill>
                <a:srgbClr val="C0504D"/>
              </a:solidFill>
              <a:prstDash val="solid"/>
              <a:round/>
              <a:headEnd len="sm" w="sm" type="none"/>
              <a:tailEnd len="sm" w="sm" type="none"/>
            </a:ln>
          </a:left>
          <a:right>
            <a:ln cap="flat" cmpd="sng" w="12700">
              <a:solidFill>
                <a:srgbClr val="C0504D"/>
              </a:solidFill>
              <a:prstDash val="solid"/>
              <a:round/>
              <a:headEnd len="sm" w="sm" type="none"/>
              <a:tailEnd len="sm" w="sm" type="none"/>
            </a:ln>
          </a:right>
          <a:top>
            <a:ln cap="flat" cmpd="sng" w="12700">
              <a:solidFill>
                <a:srgbClr val="C0504D"/>
              </a:solidFill>
              <a:prstDash val="solid"/>
              <a:round/>
              <a:headEnd len="sm" w="sm" type="none"/>
              <a:tailEnd len="sm" w="sm" type="none"/>
            </a:ln>
          </a:top>
          <a:bottom>
            <a:ln cap="flat" cmpd="sng" w="12700">
              <a:solidFill>
                <a:srgbClr val="C0504D"/>
              </a:solidFill>
              <a:prstDash val="solid"/>
              <a:round/>
              <a:headEnd len="sm" w="sm" type="none"/>
              <a:tailEnd len="sm" w="sm" type="none"/>
            </a:ln>
          </a:bottom>
        </a:tcBdr>
        <a:fill>
          <a:solidFill>
            <a:srgbClr val="EFD3D3"/>
          </a:solidFill>
        </a:fill>
      </a:tcStyle>
    </a:band1V>
    <a:band2V>
      <a:tcTxStyle/>
    </a:band2V>
    <a:lastCol>
      <a:tcTxStyle b="on">
        <a:font>
          <a:latin typeface="Calibri"/>
          <a:ea typeface="Calibri"/>
          <a:cs typeface="Calibri"/>
        </a:font>
      </a:tcTxStyle>
      <a:tcStyle>
        <a:tcBdr>
          <a:left>
            <a:ln cap="flat" cmpd="sng" w="12700">
              <a:solidFill>
                <a:srgbClr val="C0504D"/>
              </a:solidFill>
              <a:prstDash val="solid"/>
              <a:round/>
              <a:headEnd len="sm" w="sm" type="none"/>
              <a:tailEnd len="sm" w="sm" type="none"/>
            </a:ln>
          </a:left>
          <a:right>
            <a:ln cap="flat" cmpd="sng" w="12700">
              <a:solidFill>
                <a:srgbClr val="C0504D"/>
              </a:solidFill>
              <a:prstDash val="solid"/>
              <a:round/>
              <a:headEnd len="sm" w="sm" type="none"/>
              <a:tailEnd len="sm" w="sm" type="none"/>
            </a:ln>
          </a:right>
          <a:top>
            <a:ln cap="flat" cmpd="sng" w="12700">
              <a:solidFill>
                <a:srgbClr val="C0504D"/>
              </a:solidFill>
              <a:prstDash val="solid"/>
              <a:round/>
              <a:headEnd len="sm" w="sm" type="none"/>
              <a:tailEnd len="sm" w="sm" type="none"/>
            </a:ln>
          </a:top>
          <a:bottom>
            <a:ln cap="flat" cmpd="sng" w="12700">
              <a:solidFill>
                <a:srgbClr val="C0504D"/>
              </a:solidFill>
              <a:prstDash val="solid"/>
              <a:round/>
              <a:headEnd len="sm" w="sm" type="none"/>
              <a:tailEnd len="sm" w="sm" type="none"/>
            </a:ln>
          </a:bottom>
        </a:tcBdr>
      </a:tcStyle>
    </a:lastCol>
    <a:firstCol>
      <a:tcTxStyle b="on">
        <a:font>
          <a:latin typeface="Calibri"/>
          <a:ea typeface="Calibri"/>
          <a:cs typeface="Calibri"/>
        </a:font>
      </a:tcTxStyle>
    </a:firstCol>
    <a:lastRow>
      <a:tcTxStyle b="on">
        <a:font>
          <a:latin typeface="Calibri"/>
          <a:ea typeface="Calibri"/>
          <a:cs typeface="Calibri"/>
        </a:font>
      </a:tcTxStyle>
      <a:tcStyle>
        <a:tcBdr>
          <a:left>
            <a:ln cap="flat" cmpd="sng" w="12700">
              <a:solidFill>
                <a:srgbClr val="C0504D"/>
              </a:solidFill>
              <a:prstDash val="solid"/>
              <a:round/>
              <a:headEnd len="sm" w="sm" type="none"/>
              <a:tailEnd len="sm" w="sm" type="none"/>
            </a:ln>
          </a:left>
          <a:right>
            <a:ln cap="flat" cmpd="sng" w="12700">
              <a:solidFill>
                <a:srgbClr val="C0504D"/>
              </a:solidFill>
              <a:prstDash val="solid"/>
              <a:round/>
              <a:headEnd len="sm" w="sm" type="none"/>
              <a:tailEnd len="sm" w="sm" type="none"/>
            </a:ln>
          </a:right>
          <a:top>
            <a:ln cap="flat" cmpd="sng" w="9525">
              <a:solidFill>
                <a:srgbClr val="C0504D"/>
              </a:solidFill>
              <a:prstDash val="solid"/>
              <a:round/>
              <a:headEnd len="sm" w="sm" type="none"/>
              <a:tailEnd len="sm" w="sm" type="none"/>
            </a:ln>
          </a:top>
          <a:bottom>
            <a:ln cap="flat" cmpd="sng" w="12700">
              <a:solidFill>
                <a:srgbClr val="C0504D"/>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w="12700">
              <a:solidFill>
                <a:srgbClr val="C0504D"/>
              </a:solidFill>
              <a:prstDash val="solid"/>
              <a:round/>
              <a:headEnd len="sm" w="sm" type="none"/>
              <a:tailEnd len="sm" w="sm" type="none"/>
            </a:ln>
          </a:insideV>
        </a:tcBdr>
      </a:tcStyle>
    </a:lastRow>
    <a:seCell>
      <a:tcTxStyle/>
    </a:seCell>
    <a:swCell>
      <a:tcTxStyle/>
    </a:swCell>
    <a:firstRow>
      <a:tcTxStyle b="on">
        <a:font>
          <a:latin typeface="Calibri"/>
          <a:ea typeface="Calibri"/>
          <a:cs typeface="Calibri"/>
        </a:font>
      </a:tcTxStyle>
      <a:tcStyle>
        <a:tcBdr>
          <a:left>
            <a:ln cap="flat" cmpd="sng" w="12700">
              <a:solidFill>
                <a:srgbClr val="C0504D"/>
              </a:solidFill>
              <a:prstDash val="solid"/>
              <a:round/>
              <a:headEnd len="sm" w="sm" type="none"/>
              <a:tailEnd len="sm" w="sm" type="none"/>
            </a:ln>
          </a:left>
          <a:right>
            <a:ln cap="flat" cmpd="sng" w="12700">
              <a:solidFill>
                <a:srgbClr val="C0504D"/>
              </a:solidFill>
              <a:prstDash val="solid"/>
              <a:round/>
              <a:headEnd len="sm" w="sm" type="none"/>
              <a:tailEnd len="sm" w="sm" type="none"/>
            </a:ln>
          </a:right>
          <a:top>
            <a:ln cap="flat" cmpd="sng" w="12700">
              <a:solidFill>
                <a:srgbClr val="C0504D"/>
              </a:solidFill>
              <a:prstDash val="solid"/>
              <a:round/>
              <a:headEnd len="sm" w="sm" type="none"/>
              <a:tailEnd len="sm" w="sm" type="none"/>
            </a:ln>
          </a:top>
          <a:bottom>
            <a:ln cap="flat" cmpd="sng" w="28575">
              <a:solidFill>
                <a:srgbClr val="C0504D"/>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w="12700">
              <a:solidFill>
                <a:srgbClr val="C0504D"/>
              </a:solidFill>
              <a:prstDash val="solid"/>
              <a:round/>
              <a:headEnd len="sm" w="sm" type="none"/>
              <a:tailEnd len="sm" w="sm" type="none"/>
            </a:ln>
          </a:insideV>
        </a:tcBdr>
      </a:tcStyle>
    </a:firstRow>
    <a:neCell>
      <a:tcTxStyle/>
    </a:neCell>
    <a:nwCell>
      <a:tcTxStyle/>
    </a:nwCell>
  </a:tblStyle>
  <a:tblStyle styleId="{808606EF-C079-46D9-BFFD-9E5ABB7F76F6}"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6" orient="horz"/>
        <p:guide pos="737"/>
        <p:guide pos="5587"/>
        <p:guide pos="3084" orient="horz"/>
        <p:guide pos="54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slide" Target="slides/slide40.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3972084d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13972084d2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3f0075ef2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13f0075ef24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3f0075ef24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13f0075ef24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3972084d2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13972084d2b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3972084d2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13972084d2b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3972084d2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13972084d2b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3972084d2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13972084d2b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3f0075ef2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13f0075ef24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3972084d2b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13972084d2b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3f0075ef2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13f0075ef24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3f0075ef2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13f0075ef24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80c632dc9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180c632dc9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9a496846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19a496846f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3f0075ef24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13f0075ef24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3f0075ef2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13f0075ef24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3f0075ef24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13f0075ef24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3972084d2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g13972084d2b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3972084d2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13972084d2b_0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3f0075ef24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13f0075ef24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4f689bd0a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14f689bd0a2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4f689bd0a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g14f689bd0a2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4f689bd0a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14f689bd0a2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3f0075ef24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13f0075ef24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3f0075ef24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g13f0075ef24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8c2dfd82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18c2dfd82a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8c2dfd82a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18c2dfd82a6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8c2dfd82a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g18c2dfd82a6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8c2dfd82a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g18c2dfd82a6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8c2dfd82a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g18c2dfd82a6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8c2dfd82a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g18c2dfd82a6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8c2dfd82a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18c2dfd82a6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8c2dfd82a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g18c2dfd82a6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8c2dfd82a6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g18c2dfd82a6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8c2dfd82a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g18c2dfd82a6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8c2dfd82a6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g18c2dfd82a6_0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8c2dfd82a6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g18c2dfd82a6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hyperlink" Target="https://staruml.io/"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8.png"/><Relationship Id="rId6"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jp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jp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9.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blip>
          <a:srcRect b="0" l="0" r="0" t="0"/>
          <a:stretch/>
        </p:blipFill>
        <p:spPr>
          <a:xfrm>
            <a:off x="6927800" y="4643150"/>
            <a:ext cx="2095500" cy="390525"/>
          </a:xfrm>
          <a:prstGeom prst="rect">
            <a:avLst/>
          </a:prstGeom>
          <a:noFill/>
          <a:ln>
            <a:noFill/>
          </a:ln>
        </p:spPr>
      </p:pic>
      <p:pic>
        <p:nvPicPr>
          <p:cNvPr id="55" name="Google Shape;55;p1"/>
          <p:cNvPicPr preferRelativeResize="0"/>
          <p:nvPr/>
        </p:nvPicPr>
        <p:blipFill rotWithShape="1">
          <a:blip r:embed="rId4">
            <a:alphaModFix/>
          </a:blip>
          <a:srcRect b="7142" l="2735" r="6701" t="27251"/>
          <a:stretch/>
        </p:blipFill>
        <p:spPr>
          <a:xfrm>
            <a:off x="0" y="0"/>
            <a:ext cx="9144003" cy="4415428"/>
          </a:xfrm>
          <a:prstGeom prst="rect">
            <a:avLst/>
          </a:prstGeom>
          <a:noFill/>
          <a:ln>
            <a:noFill/>
          </a:ln>
        </p:spPr>
      </p:pic>
      <p:sp>
        <p:nvSpPr>
          <p:cNvPr id="56" name="Google Shape;56;p1"/>
          <p:cNvSpPr/>
          <p:nvPr/>
        </p:nvSpPr>
        <p:spPr>
          <a:xfrm>
            <a:off x="0" y="0"/>
            <a:ext cx="7429500" cy="4415425"/>
          </a:xfrm>
          <a:prstGeom prst="flowChartInputOutput">
            <a:avLst/>
          </a:prstGeom>
          <a:solidFill>
            <a:srgbClr val="BC182C">
              <a:alpha val="6235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
          <p:cNvSpPr txBox="1"/>
          <p:nvPr>
            <p:ph type="ctrTitle"/>
          </p:nvPr>
        </p:nvSpPr>
        <p:spPr>
          <a:xfrm>
            <a:off x="1093800" y="2075800"/>
            <a:ext cx="6647700" cy="11517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es" sz="2900">
                <a:solidFill>
                  <a:schemeClr val="lt1"/>
                </a:solidFill>
              </a:rPr>
              <a:t>Processing: Una poderosa herramienta gráfica y de procesamiento de datos</a:t>
            </a:r>
            <a:endParaRPr b="1" sz="2900">
              <a:solidFill>
                <a:schemeClr val="lt1"/>
              </a:solidFill>
              <a:latin typeface="Arial"/>
              <a:ea typeface="Arial"/>
              <a:cs typeface="Arial"/>
              <a:sym typeface="Arial"/>
            </a:endParaRPr>
          </a:p>
        </p:txBody>
      </p:sp>
      <p:sp>
        <p:nvSpPr>
          <p:cNvPr id="58" name="Google Shape;58;p1"/>
          <p:cNvSpPr txBox="1"/>
          <p:nvPr>
            <p:ph type="ctrTitle"/>
          </p:nvPr>
        </p:nvSpPr>
        <p:spPr>
          <a:xfrm>
            <a:off x="1093800" y="1575225"/>
            <a:ext cx="5340000" cy="3906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s" sz="1800" u="sng">
                <a:solidFill>
                  <a:schemeClr val="lt1"/>
                </a:solidFill>
                <a:latin typeface="Arial"/>
                <a:ea typeface="Arial"/>
                <a:cs typeface="Arial"/>
                <a:sym typeface="Arial"/>
              </a:rPr>
              <a:t>Unidad </a:t>
            </a:r>
            <a:r>
              <a:rPr lang="es" sz="1800" u="sng">
                <a:solidFill>
                  <a:schemeClr val="lt1"/>
                </a:solidFill>
              </a:rPr>
              <a:t>1</a:t>
            </a:r>
            <a:endParaRPr sz="1800" u="sng">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2"/>
          <p:cNvPicPr preferRelativeResize="0"/>
          <p:nvPr/>
        </p:nvPicPr>
        <p:blipFill rotWithShape="1">
          <a:blip r:embed="rId3">
            <a:alphaModFix/>
          </a:blip>
          <a:srcRect b="4048" l="0" r="0" t="12442"/>
          <a:stretch/>
        </p:blipFill>
        <p:spPr>
          <a:xfrm>
            <a:off x="0" y="0"/>
            <a:ext cx="9144000" cy="5143498"/>
          </a:xfrm>
          <a:prstGeom prst="rect">
            <a:avLst/>
          </a:prstGeom>
          <a:noFill/>
          <a:ln>
            <a:noFill/>
          </a:ln>
        </p:spPr>
      </p:pic>
      <p:sp>
        <p:nvSpPr>
          <p:cNvPr id="64" name="Google Shape;64;p2"/>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txBox="1"/>
          <p:nvPr>
            <p:ph idx="4294967295" type="ctrTitle"/>
          </p:nvPr>
        </p:nvSpPr>
        <p:spPr>
          <a:xfrm>
            <a:off x="4101950" y="261625"/>
            <a:ext cx="31179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2800"/>
              <a:buFont typeface="Arial"/>
              <a:buNone/>
            </a:pPr>
            <a:r>
              <a:rPr lang="es" sz="1000">
                <a:solidFill>
                  <a:schemeClr val="lt1"/>
                </a:solidFill>
              </a:rPr>
              <a:t>Processing: Una poderosa herramienta gráfica y de procesamiento de datos</a:t>
            </a:r>
            <a:endParaRPr b="0" i="0" sz="3000" u="none" cap="none" strike="noStrike">
              <a:solidFill>
                <a:schemeClr val="lt1"/>
              </a:solidFill>
              <a:latin typeface="Arial"/>
              <a:ea typeface="Arial"/>
              <a:cs typeface="Arial"/>
              <a:sym typeface="Arial"/>
            </a:endParaRPr>
          </a:p>
        </p:txBody>
      </p:sp>
      <p:cxnSp>
        <p:nvCxnSpPr>
          <p:cNvPr id="66" name="Google Shape;66;p2"/>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67" name="Google Shape;67;p2"/>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68" name="Google Shape;68;p2"/>
          <p:cNvSpPr txBox="1"/>
          <p:nvPr>
            <p:ph idx="4294967295" type="ctrTitle"/>
          </p:nvPr>
        </p:nvSpPr>
        <p:spPr>
          <a:xfrm>
            <a:off x="1086150" y="2041414"/>
            <a:ext cx="5429100" cy="81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s" sz="2600">
                <a:solidFill>
                  <a:schemeClr val="lt1"/>
                </a:solidFill>
              </a:rPr>
              <a:t>Processing: ¿Qué es y como vamos a utilizarlo?</a:t>
            </a:r>
            <a:endParaRPr b="1" sz="26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cxnSp>
        <p:nvCxnSpPr>
          <p:cNvPr id="73" name="Google Shape;73;p3"/>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74" name="Google Shape;74;p3"/>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75" name="Google Shape;75;p3"/>
          <p:cNvSpPr txBox="1"/>
          <p:nvPr/>
        </p:nvSpPr>
        <p:spPr>
          <a:xfrm>
            <a:off x="1170000" y="1427550"/>
            <a:ext cx="6146400" cy="2874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s" sz="1600">
                <a:solidFill>
                  <a:srgbClr val="556271"/>
                </a:solidFill>
              </a:rPr>
              <a:t>Processing es un software diseñado y lanzado en 2001 por Casey Reas y Ben Fry para generar programas gráficos de alta capacidad usando el paradigma de objetos (principalmente Java pero ahora también con otras opciones como Python o Android) y una interfaz de desarrollo propia, muy parecida a la de Arduino. Así como Arduino, está pensado para ser amigable y con una comunidad muy grande que aporta código y librerías constantemente. Open source y educacional, eso busca ser en esencia este gran proyecto inicialmente del MIT.</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chemeClr val="lt1"/>
              </a:solidFill>
              <a:highlight>
                <a:srgbClr val="556271"/>
              </a:highlight>
              <a:latin typeface="Arial"/>
              <a:ea typeface="Arial"/>
              <a:cs typeface="Arial"/>
              <a:sym typeface="Arial"/>
            </a:endParaRPr>
          </a:p>
        </p:txBody>
      </p:sp>
      <p:sp>
        <p:nvSpPr>
          <p:cNvPr id="76" name="Google Shape;76;p3"/>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a:t>
            </a:r>
            <a:r>
              <a:rPr lang="es" sz="700">
                <a:solidFill>
                  <a:srgbClr val="556271"/>
                </a:solidFill>
              </a:rPr>
              <a:t>  / Módulo 1 / Unidad 1  / </a:t>
            </a:r>
            <a:r>
              <a:rPr lang="es" sz="700">
                <a:solidFill>
                  <a:srgbClr val="556271"/>
                </a:solidFill>
              </a:rPr>
              <a:t>Processing: Una poderosa herramienta gráfica y de procesamiento de datos</a:t>
            </a:r>
            <a:r>
              <a:rPr lang="es" sz="700">
                <a:solidFill>
                  <a:srgbClr val="556271"/>
                </a:solidFill>
              </a:rPr>
              <a:t> </a:t>
            </a:r>
            <a:endParaRPr sz="700">
              <a:solidFill>
                <a:srgbClr val="556271"/>
              </a:solidFill>
            </a:endParaRPr>
          </a:p>
        </p:txBody>
      </p:sp>
      <p:sp>
        <p:nvSpPr>
          <p:cNvPr id="77" name="Google Shape;77;p3"/>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3000">
                <a:solidFill>
                  <a:srgbClr val="434343"/>
                </a:solidFill>
              </a:rPr>
              <a:t>Processing</a:t>
            </a:r>
            <a:endParaRPr b="1" sz="3000">
              <a:solidFill>
                <a:srgbClr val="43434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cxnSp>
        <p:nvCxnSpPr>
          <p:cNvPr id="82" name="Google Shape;82;g13972084d2b_0_0"/>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83" name="Google Shape;83;g13972084d2b_0_0"/>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84" name="Google Shape;84;g13972084d2b_0_0"/>
          <p:cNvSpPr txBox="1"/>
          <p:nvPr/>
        </p:nvSpPr>
        <p:spPr>
          <a:xfrm>
            <a:off x="1498800" y="1586100"/>
            <a:ext cx="6146400" cy="1971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En particular, Processing se define como un software flexible de sketchbooks con un lenguaje para aprender como programar dentro del contexto de las artes visuales. Como Arduino, permite crear programas de bucle infinito y en este caso particular permiten crear gráficos interactivos y animados con muchas extensiones como manejo de </a:t>
            </a:r>
            <a:r>
              <a:rPr lang="es" sz="1600">
                <a:solidFill>
                  <a:srgbClr val="556271"/>
                </a:solidFill>
              </a:rPr>
              <a:t>imágenes</a:t>
            </a:r>
            <a:r>
              <a:rPr lang="es" sz="1600">
                <a:solidFill>
                  <a:srgbClr val="556271"/>
                </a:solidFill>
              </a:rPr>
              <a:t> y videos, aplicaciones y </a:t>
            </a:r>
            <a:r>
              <a:rPr lang="es" sz="1600">
                <a:solidFill>
                  <a:srgbClr val="556271"/>
                </a:solidFill>
              </a:rPr>
              <a:t>más</a:t>
            </a:r>
            <a:r>
              <a:rPr lang="es" sz="1600">
                <a:solidFill>
                  <a:srgbClr val="556271"/>
                </a:solidFill>
              </a:rPr>
              <a:t>.</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Clr>
                <a:srgbClr val="000000"/>
              </a:buClr>
              <a:buSzPts val="1600"/>
              <a:buFont typeface="Arial"/>
              <a:buNone/>
            </a:pPr>
            <a:r>
              <a:t/>
            </a:r>
            <a:endParaRPr b="0" i="0" sz="16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chemeClr val="lt1"/>
              </a:solidFill>
              <a:highlight>
                <a:srgbClr val="556271"/>
              </a:highlight>
              <a:latin typeface="Arial"/>
              <a:ea typeface="Arial"/>
              <a:cs typeface="Arial"/>
              <a:sym typeface="Arial"/>
            </a:endParaRPr>
          </a:p>
        </p:txBody>
      </p:sp>
      <p:sp>
        <p:nvSpPr>
          <p:cNvPr id="85" name="Google Shape;85;g13972084d2b_0_0"/>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86" name="Google Shape;86;g13972084d2b_0_0"/>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3000">
                <a:solidFill>
                  <a:srgbClr val="434343"/>
                </a:solidFill>
              </a:rPr>
              <a:t>Processing</a:t>
            </a:r>
            <a:endParaRPr b="1" sz="3000">
              <a:solidFill>
                <a:srgbClr val="43434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cxnSp>
        <p:nvCxnSpPr>
          <p:cNvPr id="91" name="Google Shape;91;g13f0075ef24_0_3"/>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92" name="Google Shape;92;g13f0075ef24_0_3"/>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93" name="Google Shape;93;g13f0075ef24_0_3"/>
          <p:cNvSpPr txBox="1"/>
          <p:nvPr/>
        </p:nvSpPr>
        <p:spPr>
          <a:xfrm>
            <a:off x="1498800" y="1586100"/>
            <a:ext cx="6146400" cy="1971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Lo usaremos para varias cosas:</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Representar datos recibidos de Arduino</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Enviar comandos a Arduino</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Generar Animaciones y fondos para aplicaciones Android</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Procesar y visualizar datos con Python</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Manejar audio y video de la computadora</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94" name="Google Shape;94;g13f0075ef24_0_3"/>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95" name="Google Shape;95;g13f0075ef24_0_3"/>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3000">
                <a:solidFill>
                  <a:srgbClr val="434343"/>
                </a:solidFill>
              </a:rPr>
              <a:t>Processing</a:t>
            </a:r>
            <a:endParaRPr b="1" sz="3000">
              <a:solidFill>
                <a:srgbClr val="434343"/>
              </a:solidFill>
            </a:endParaRPr>
          </a:p>
          <a:p>
            <a:pPr indent="0" lvl="0" marL="0" marR="0" rtl="0" algn="l">
              <a:lnSpc>
                <a:spcPct val="90000"/>
              </a:lnSpc>
              <a:spcBef>
                <a:spcPts val="0"/>
              </a:spcBef>
              <a:spcAft>
                <a:spcPts val="0"/>
              </a:spcAft>
              <a:buClr>
                <a:srgbClr val="000000"/>
              </a:buClr>
              <a:buSzPts val="2400"/>
              <a:buFont typeface="Arial"/>
              <a:buNone/>
            </a:pPr>
            <a:r>
              <a:t/>
            </a:r>
            <a:endParaRPr b="1" sz="3000">
              <a:solidFill>
                <a:srgbClr val="43434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g13f0075ef24_0_83"/>
          <p:cNvPicPr preferRelativeResize="0"/>
          <p:nvPr/>
        </p:nvPicPr>
        <p:blipFill rotWithShape="1">
          <a:blip r:embed="rId3">
            <a:alphaModFix/>
          </a:blip>
          <a:srcRect b="4050" l="0" r="0" t="12442"/>
          <a:stretch/>
        </p:blipFill>
        <p:spPr>
          <a:xfrm>
            <a:off x="0" y="0"/>
            <a:ext cx="9144000" cy="5143496"/>
          </a:xfrm>
          <a:prstGeom prst="rect">
            <a:avLst/>
          </a:prstGeom>
          <a:noFill/>
          <a:ln>
            <a:noFill/>
          </a:ln>
        </p:spPr>
      </p:pic>
      <p:sp>
        <p:nvSpPr>
          <p:cNvPr id="101" name="Google Shape;101;g13f0075ef24_0_83"/>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2" name="Google Shape;102;g13f0075ef24_0_83"/>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103" name="Google Shape;103;g13f0075ef24_0_83"/>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104" name="Google Shape;104;g13f0075ef24_0_83"/>
          <p:cNvSpPr txBox="1"/>
          <p:nvPr>
            <p:ph idx="4294967295" type="ctrTitle"/>
          </p:nvPr>
        </p:nvSpPr>
        <p:spPr>
          <a:xfrm>
            <a:off x="1086150" y="2041414"/>
            <a:ext cx="5429100" cy="81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s" sz="2600">
                <a:solidFill>
                  <a:schemeClr val="lt1"/>
                </a:solidFill>
              </a:rPr>
              <a:t>Software del curso: ¿Qué vamos a utilizar y como?</a:t>
            </a:r>
            <a:endParaRPr b="1" sz="2600">
              <a:solidFill>
                <a:schemeClr val="lt1"/>
              </a:solidFill>
            </a:endParaRPr>
          </a:p>
        </p:txBody>
      </p:sp>
      <p:sp>
        <p:nvSpPr>
          <p:cNvPr id="105" name="Google Shape;105;g13f0075ef24_0_83"/>
          <p:cNvSpPr txBox="1"/>
          <p:nvPr>
            <p:ph idx="4294967295" type="ctrTitle"/>
          </p:nvPr>
        </p:nvSpPr>
        <p:spPr>
          <a:xfrm>
            <a:off x="4101950" y="261625"/>
            <a:ext cx="31179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2800"/>
              <a:buFont typeface="Arial"/>
              <a:buNone/>
            </a:pPr>
            <a:r>
              <a:rPr lang="es" sz="1000">
                <a:solidFill>
                  <a:schemeClr val="lt1"/>
                </a:solidFill>
              </a:rPr>
              <a:t>Processing: Una poderosa herramienta gráfica y de procesamiento de datos</a:t>
            </a:r>
            <a:endParaRPr b="0" i="0" sz="30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cxnSp>
        <p:nvCxnSpPr>
          <p:cNvPr id="110" name="Google Shape;110;g13972084d2b_0_16"/>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11" name="Google Shape;111;g13972084d2b_0_16"/>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12" name="Google Shape;112;g13972084d2b_0_16"/>
          <p:cNvSpPr txBox="1"/>
          <p:nvPr/>
        </p:nvSpPr>
        <p:spPr>
          <a:xfrm>
            <a:off x="1170000" y="1427550"/>
            <a:ext cx="6146400" cy="3468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De forma análoga a lo realizado con la plataforma de arduino vamos a proceder a descargar Processing para lo cual nos dirigimos a la página de descarga https://processing.org/download/  y seleccionamos nuestro sistema operativo.</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Inmediatamente nos saldrá la opción de guardar el .zip que contiene la plataforma de processing, por lo que procedemos a descargarlo y a descomprimirlo.</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Clr>
                <a:srgbClr val="000000"/>
              </a:buClr>
              <a:buSzPts val="1600"/>
              <a:buFont typeface="Arial"/>
              <a:buNone/>
            </a:pPr>
            <a:r>
              <a:t/>
            </a:r>
            <a:endParaRPr b="0" i="0" sz="16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chemeClr val="lt1"/>
              </a:solidFill>
              <a:highlight>
                <a:srgbClr val="556271"/>
              </a:highlight>
              <a:latin typeface="Arial"/>
              <a:ea typeface="Arial"/>
              <a:cs typeface="Arial"/>
              <a:sym typeface="Arial"/>
            </a:endParaRPr>
          </a:p>
        </p:txBody>
      </p:sp>
      <p:sp>
        <p:nvSpPr>
          <p:cNvPr id="113" name="Google Shape;113;g13972084d2b_0_16"/>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3000">
                <a:solidFill>
                  <a:srgbClr val="434343"/>
                </a:solidFill>
              </a:rPr>
              <a:t>Processing IDE</a:t>
            </a:r>
            <a:endParaRPr b="1" sz="3000">
              <a:solidFill>
                <a:srgbClr val="434343"/>
              </a:solidFill>
            </a:endParaRPr>
          </a:p>
          <a:p>
            <a:pPr indent="0" lvl="0" marL="0" marR="0" rtl="0" algn="l">
              <a:lnSpc>
                <a:spcPct val="90000"/>
              </a:lnSpc>
              <a:spcBef>
                <a:spcPts val="0"/>
              </a:spcBef>
              <a:spcAft>
                <a:spcPts val="0"/>
              </a:spcAft>
              <a:buClr>
                <a:srgbClr val="000000"/>
              </a:buClr>
              <a:buSzPts val="2400"/>
              <a:buFont typeface="Arial"/>
              <a:buNone/>
            </a:pPr>
            <a:r>
              <a:t/>
            </a:r>
            <a:endParaRPr b="1" sz="3000">
              <a:solidFill>
                <a:srgbClr val="434343"/>
              </a:solidFill>
            </a:endParaRPr>
          </a:p>
        </p:txBody>
      </p:sp>
      <p:sp>
        <p:nvSpPr>
          <p:cNvPr id="114" name="Google Shape;114;g13972084d2b_0_16"/>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cxnSp>
        <p:nvCxnSpPr>
          <p:cNvPr id="119" name="Google Shape;119;g13972084d2b_0_8"/>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20" name="Google Shape;120;g13972084d2b_0_8"/>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pic>
        <p:nvPicPr>
          <p:cNvPr id="121" name="Google Shape;121;g13972084d2b_0_8"/>
          <p:cNvPicPr preferRelativeResize="0"/>
          <p:nvPr/>
        </p:nvPicPr>
        <p:blipFill>
          <a:blip r:embed="rId4">
            <a:alphaModFix/>
          </a:blip>
          <a:stretch>
            <a:fillRect/>
          </a:stretch>
        </p:blipFill>
        <p:spPr>
          <a:xfrm>
            <a:off x="2296088" y="1087713"/>
            <a:ext cx="4551826" cy="2968075"/>
          </a:xfrm>
          <a:prstGeom prst="rect">
            <a:avLst/>
          </a:prstGeom>
          <a:noFill/>
          <a:ln>
            <a:noFill/>
          </a:ln>
        </p:spPr>
      </p:pic>
      <p:sp>
        <p:nvSpPr>
          <p:cNvPr id="122" name="Google Shape;122;g13972084d2b_0_8"/>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3000">
                <a:solidFill>
                  <a:srgbClr val="434343"/>
                </a:solidFill>
              </a:rPr>
              <a:t>Processing</a:t>
            </a:r>
            <a:r>
              <a:rPr b="1" lang="es" sz="3000">
                <a:solidFill>
                  <a:srgbClr val="434343"/>
                </a:solidFill>
              </a:rPr>
              <a:t> IDE</a:t>
            </a:r>
            <a:endParaRPr b="1" sz="3000">
              <a:solidFill>
                <a:srgbClr val="434343"/>
              </a:solidFill>
            </a:endParaRPr>
          </a:p>
          <a:p>
            <a:pPr indent="0" lvl="0" marL="0" marR="0" rtl="0" algn="l">
              <a:lnSpc>
                <a:spcPct val="90000"/>
              </a:lnSpc>
              <a:spcBef>
                <a:spcPts val="0"/>
              </a:spcBef>
              <a:spcAft>
                <a:spcPts val="0"/>
              </a:spcAft>
              <a:buClr>
                <a:srgbClr val="000000"/>
              </a:buClr>
              <a:buSzPts val="2400"/>
              <a:buFont typeface="Arial"/>
              <a:buNone/>
            </a:pPr>
            <a:r>
              <a:t/>
            </a:r>
            <a:endParaRPr b="1" sz="3000">
              <a:solidFill>
                <a:srgbClr val="434343"/>
              </a:solidFill>
            </a:endParaRPr>
          </a:p>
        </p:txBody>
      </p:sp>
      <p:sp>
        <p:nvSpPr>
          <p:cNvPr id="123" name="Google Shape;123;g13972084d2b_0_8"/>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cxnSp>
        <p:nvCxnSpPr>
          <p:cNvPr id="128" name="Google Shape;128;g13972084d2b_0_90"/>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29" name="Google Shape;129;g13972084d2b_0_90"/>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30" name="Google Shape;130;g13972084d2b_0_90"/>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Programa de Processing</a:t>
            </a:r>
            <a:endParaRPr b="1" i="0" sz="3000" u="none" cap="none" strike="noStrike">
              <a:solidFill>
                <a:srgbClr val="000000"/>
              </a:solidFill>
              <a:latin typeface="Arial"/>
              <a:ea typeface="Arial"/>
              <a:cs typeface="Arial"/>
              <a:sym typeface="Arial"/>
            </a:endParaRPr>
          </a:p>
        </p:txBody>
      </p:sp>
      <p:graphicFrame>
        <p:nvGraphicFramePr>
          <p:cNvPr id="131" name="Google Shape;131;g13972084d2b_0_90"/>
          <p:cNvGraphicFramePr/>
          <p:nvPr/>
        </p:nvGraphicFramePr>
        <p:xfrm>
          <a:off x="1660838" y="1633538"/>
          <a:ext cx="3000000" cy="3000000"/>
        </p:xfrm>
        <a:graphic>
          <a:graphicData uri="http://schemas.openxmlformats.org/drawingml/2006/table">
            <a:tbl>
              <a:tblPr bandRow="1" firstCol="1" firstRow="1">
                <a:noFill/>
                <a:tableStyleId>{60CF2C68-E0B2-42DF-8E74-00AEAB4D83F5}</a:tableStyleId>
              </a:tblPr>
              <a:tblGrid>
                <a:gridCol w="2910850"/>
                <a:gridCol w="2911475"/>
              </a:tblGrid>
              <a:tr h="536950">
                <a:tc>
                  <a:txBody>
                    <a:bodyPr/>
                    <a:lstStyle/>
                    <a:p>
                      <a:pPr indent="0" lvl="0" marL="0" marR="0" rtl="0" algn="ctr">
                        <a:lnSpc>
                          <a:spcPct val="130000"/>
                        </a:lnSpc>
                        <a:spcBef>
                          <a:spcPts val="0"/>
                        </a:spcBef>
                        <a:spcAft>
                          <a:spcPts val="0"/>
                        </a:spcAft>
                        <a:buClr>
                          <a:schemeClr val="dk1"/>
                        </a:buClr>
                        <a:buSzPts val="1100"/>
                        <a:buFont typeface="Arial"/>
                        <a:buNone/>
                      </a:pPr>
                      <a:r>
                        <a:rPr b="0" lang="es" sz="1600">
                          <a:solidFill>
                            <a:srgbClr val="556271"/>
                          </a:solidFill>
                          <a:latin typeface="Arial"/>
                          <a:ea typeface="Arial"/>
                          <a:cs typeface="Arial"/>
                          <a:sym typeface="Arial"/>
                        </a:rPr>
                        <a:t>Esquema básico de programa Arduino</a:t>
                      </a:r>
                      <a:endParaRPr b="0" sz="1600">
                        <a:solidFill>
                          <a:srgbClr val="556271"/>
                        </a:solidFill>
                        <a:latin typeface="Arial"/>
                        <a:ea typeface="Arial"/>
                        <a:cs typeface="Arial"/>
                        <a:sym typeface="Arial"/>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30000"/>
                        </a:lnSpc>
                        <a:spcBef>
                          <a:spcPts val="0"/>
                        </a:spcBef>
                        <a:spcAft>
                          <a:spcPts val="0"/>
                        </a:spcAft>
                        <a:buClr>
                          <a:schemeClr val="dk1"/>
                        </a:buClr>
                        <a:buSzPts val="1100"/>
                        <a:buFont typeface="Arial"/>
                        <a:buNone/>
                      </a:pPr>
                      <a:r>
                        <a:rPr b="0" lang="es" sz="1600">
                          <a:solidFill>
                            <a:srgbClr val="556271"/>
                          </a:solidFill>
                          <a:latin typeface="Arial"/>
                          <a:ea typeface="Arial"/>
                          <a:cs typeface="Arial"/>
                          <a:sym typeface="Arial"/>
                        </a:rPr>
                        <a:t>Esquema básico de programa Processing</a:t>
                      </a:r>
                      <a:endParaRPr b="0" sz="1600">
                        <a:solidFill>
                          <a:srgbClr val="556271"/>
                        </a:solidFill>
                        <a:latin typeface="Arial"/>
                        <a:ea typeface="Arial"/>
                        <a:cs typeface="Arial"/>
                        <a:sym typeface="Arial"/>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1318850">
                <a:tc>
                  <a:txBody>
                    <a:bodyPr/>
                    <a:lstStyle/>
                    <a:p>
                      <a:pPr indent="0" lvl="0" marL="0" marR="0" rtl="0" algn="l">
                        <a:lnSpc>
                          <a:spcPct val="130000"/>
                        </a:lnSpc>
                        <a:spcBef>
                          <a:spcPts val="0"/>
                        </a:spcBef>
                        <a:spcAft>
                          <a:spcPts val="0"/>
                        </a:spcAft>
                        <a:buClr>
                          <a:schemeClr val="dk1"/>
                        </a:buClr>
                        <a:buSzPts val="1100"/>
                        <a:buFont typeface="Arial"/>
                        <a:buNone/>
                      </a:pPr>
                      <a:r>
                        <a:rPr b="0" lang="es" sz="1600">
                          <a:solidFill>
                            <a:srgbClr val="556271"/>
                          </a:solidFill>
                          <a:latin typeface="Arial"/>
                          <a:ea typeface="Arial"/>
                          <a:cs typeface="Arial"/>
                          <a:sym typeface="Arial"/>
                        </a:rPr>
                        <a:t>void setup() {</a:t>
                      </a:r>
                      <a:endParaRPr b="0" sz="1600">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rPr b="0" lang="es" sz="1600">
                          <a:solidFill>
                            <a:srgbClr val="556271"/>
                          </a:solidFill>
                          <a:latin typeface="Arial"/>
                          <a:ea typeface="Arial"/>
                          <a:cs typeface="Arial"/>
                          <a:sym typeface="Arial"/>
                        </a:rPr>
                        <a:t>}</a:t>
                      </a:r>
                      <a:endParaRPr b="0" sz="1600">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rPr b="0" lang="es" sz="1600">
                          <a:solidFill>
                            <a:srgbClr val="556271"/>
                          </a:solidFill>
                          <a:latin typeface="Arial"/>
                          <a:ea typeface="Arial"/>
                          <a:cs typeface="Arial"/>
                          <a:sym typeface="Arial"/>
                        </a:rPr>
                        <a:t>void loop() {</a:t>
                      </a:r>
                      <a:endParaRPr b="0" sz="1600">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rPr b="0" lang="es" sz="1600">
                          <a:solidFill>
                            <a:srgbClr val="556271"/>
                          </a:solidFill>
                          <a:latin typeface="Arial"/>
                          <a:ea typeface="Arial"/>
                          <a:cs typeface="Arial"/>
                          <a:sym typeface="Arial"/>
                        </a:rPr>
                        <a:t>}</a:t>
                      </a:r>
                      <a:endParaRPr b="0" sz="1600">
                        <a:solidFill>
                          <a:srgbClr val="556271"/>
                        </a:solidFill>
                        <a:latin typeface="Arial"/>
                        <a:ea typeface="Arial"/>
                        <a:cs typeface="Arial"/>
                        <a:sym typeface="Arial"/>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void setup()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void draw()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a:t>
                      </a:r>
                      <a:endParaRPr sz="1600">
                        <a:solidFill>
                          <a:srgbClr val="556271"/>
                        </a:solidFill>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32" name="Google Shape;132;g13972084d2b_0_90"/>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cxnSp>
        <p:nvCxnSpPr>
          <p:cNvPr id="137" name="Google Shape;137;g13972084d2b_0_98"/>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38" name="Google Shape;138;g13972084d2b_0_98"/>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39" name="Google Shape;139;g13972084d2b_0_98"/>
          <p:cNvSpPr txBox="1"/>
          <p:nvPr/>
        </p:nvSpPr>
        <p:spPr>
          <a:xfrm>
            <a:off x="1259700" y="1581450"/>
            <a:ext cx="6624600" cy="1980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Tanto Arduino como Processing, operan con dos funciones principales, en ambos casos, la </a:t>
            </a:r>
            <a:r>
              <a:rPr lang="es" sz="1600">
                <a:solidFill>
                  <a:srgbClr val="556271"/>
                </a:solidFill>
              </a:rPr>
              <a:t>primera</a:t>
            </a:r>
            <a:r>
              <a:rPr lang="es" sz="1600">
                <a:solidFill>
                  <a:srgbClr val="556271"/>
                </a:solidFill>
              </a:rPr>
              <a:t> función se llama setup() y </a:t>
            </a:r>
            <a:r>
              <a:rPr lang="es" sz="1600">
                <a:solidFill>
                  <a:srgbClr val="556271"/>
                </a:solidFill>
              </a:rPr>
              <a:t>ahí</a:t>
            </a:r>
            <a:r>
              <a:rPr lang="es" sz="1600">
                <a:solidFill>
                  <a:srgbClr val="556271"/>
                </a:solidFill>
              </a:rPr>
              <a:t> dentro, pondremos todo el código que queramos que se repita una sola vez. En Arduino, lo usaremos principalmente para definir la funcionalidad de los pines (si son entradas o salidas) y en processing pondremos, entre otras cosas, las funciones de inicialización de clases y objetos.</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Clr>
                <a:srgbClr val="000000"/>
              </a:buClr>
              <a:buSzPts val="1600"/>
              <a:buFont typeface="Arial"/>
              <a:buNone/>
            </a:pPr>
            <a:r>
              <a:t/>
            </a:r>
            <a:endParaRPr b="0" i="0" sz="16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chemeClr val="lt1"/>
              </a:solidFill>
              <a:highlight>
                <a:srgbClr val="556271"/>
              </a:highlight>
              <a:latin typeface="Arial"/>
              <a:ea typeface="Arial"/>
              <a:cs typeface="Arial"/>
              <a:sym typeface="Arial"/>
            </a:endParaRPr>
          </a:p>
        </p:txBody>
      </p:sp>
      <p:sp>
        <p:nvSpPr>
          <p:cNvPr id="140" name="Google Shape;140;g13972084d2b_0_98"/>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141" name="Google Shape;141;g13972084d2b_0_98"/>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Programa de Processing</a:t>
            </a:r>
            <a:endParaRPr b="1" i="0" sz="30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g13f0075ef24_0_29"/>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47" name="Google Shape;147;g13f0075ef24_0_29"/>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48" name="Google Shape;148;g13f0075ef24_0_29"/>
          <p:cNvSpPr txBox="1"/>
          <p:nvPr/>
        </p:nvSpPr>
        <p:spPr>
          <a:xfrm>
            <a:off x="1259700" y="1911150"/>
            <a:ext cx="6624600" cy="1321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Luego, tenemos una segunda función, que en el caso de Arduino se llama loop() y en Processing draw(). En ambas, tiene la misma función, ahí dentro pondremos el código que queramos que se repita infinitamente, así creando el funcionamiento principal del programa.</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Clr>
                <a:srgbClr val="000000"/>
              </a:buClr>
              <a:buSzPts val="1600"/>
              <a:buFont typeface="Arial"/>
              <a:buNone/>
            </a:pPr>
            <a:r>
              <a:t/>
            </a:r>
            <a:endParaRPr b="0" i="0" sz="16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chemeClr val="lt1"/>
              </a:solidFill>
              <a:highlight>
                <a:srgbClr val="556271"/>
              </a:highlight>
              <a:latin typeface="Arial"/>
              <a:ea typeface="Arial"/>
              <a:cs typeface="Arial"/>
              <a:sym typeface="Arial"/>
            </a:endParaRPr>
          </a:p>
        </p:txBody>
      </p:sp>
      <p:sp>
        <p:nvSpPr>
          <p:cNvPr id="149" name="Google Shape;149;g13f0075ef24_0_29"/>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150" name="Google Shape;150;g13f0075ef24_0_29"/>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Programa de Processing</a:t>
            </a:r>
            <a:endParaRPr b="1" i="0" sz="30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cxnSp>
        <p:nvCxnSpPr>
          <p:cNvPr id="155" name="Google Shape;155;g13972084d2b_0_106"/>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56" name="Google Shape;156;g13972084d2b_0_106"/>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57" name="Google Shape;157;g13972084d2b_0_106"/>
          <p:cNvSpPr txBox="1"/>
          <p:nvPr/>
        </p:nvSpPr>
        <p:spPr>
          <a:xfrm>
            <a:off x="1498800" y="1450350"/>
            <a:ext cx="6146400" cy="2242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En Processing podremos trabajar en dos dimensiones (x,y) o en tres. En ambos casos, el origen se </a:t>
            </a:r>
            <a:r>
              <a:rPr lang="es" sz="1600">
                <a:solidFill>
                  <a:srgbClr val="556271"/>
                </a:solidFill>
              </a:rPr>
              <a:t>encontrará</a:t>
            </a:r>
            <a:r>
              <a:rPr lang="es" sz="1600">
                <a:solidFill>
                  <a:srgbClr val="556271"/>
                </a:solidFill>
              </a:rPr>
              <a:t> en la esquina superior izquierda. </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El origen en la esquina superior izquierda es así para todas las figuras geométricas. Es decir que el punto que indiquemos como (x1,y1) siempre serán referenciados como el origen superior izquierdo</a:t>
            </a:r>
            <a:r>
              <a:rPr lang="es">
                <a:solidFill>
                  <a:srgbClr val="556271"/>
                </a:solidFill>
              </a:rPr>
              <a:t>.</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chemeClr val="lt1"/>
              </a:solidFill>
              <a:highlight>
                <a:srgbClr val="556271"/>
              </a:highlight>
              <a:latin typeface="Arial"/>
              <a:ea typeface="Arial"/>
              <a:cs typeface="Arial"/>
              <a:sym typeface="Arial"/>
            </a:endParaRPr>
          </a:p>
        </p:txBody>
      </p:sp>
      <p:sp>
        <p:nvSpPr>
          <p:cNvPr id="158" name="Google Shape;158;g13972084d2b_0_106"/>
          <p:cNvSpPr txBox="1"/>
          <p:nvPr/>
        </p:nvSpPr>
        <p:spPr>
          <a:xfrm>
            <a:off x="326450" y="242575"/>
            <a:ext cx="33900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Interfaz: Coordenadas</a:t>
            </a:r>
            <a:endParaRPr b="1" i="0" sz="3000" u="none" cap="none" strike="noStrike">
              <a:solidFill>
                <a:srgbClr val="000000"/>
              </a:solidFill>
              <a:latin typeface="Arial"/>
              <a:ea typeface="Arial"/>
              <a:cs typeface="Arial"/>
              <a:sym typeface="Arial"/>
            </a:endParaRPr>
          </a:p>
        </p:txBody>
      </p:sp>
      <p:sp>
        <p:nvSpPr>
          <p:cNvPr id="159" name="Google Shape;159;g13972084d2b_0_106"/>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cxnSp>
        <p:nvCxnSpPr>
          <p:cNvPr id="164" name="Google Shape;164;g13f0075ef24_0_38"/>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65" name="Google Shape;165;g13f0075ef24_0_38"/>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66" name="Google Shape;166;g13f0075ef24_0_38"/>
          <p:cNvSpPr txBox="1"/>
          <p:nvPr/>
        </p:nvSpPr>
        <p:spPr>
          <a:xfrm>
            <a:off x="326450" y="242575"/>
            <a:ext cx="33900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Interfaz: Coordenadas</a:t>
            </a:r>
            <a:endParaRPr b="1" i="0" sz="3000" u="none" cap="none" strike="noStrike">
              <a:solidFill>
                <a:srgbClr val="000000"/>
              </a:solidFill>
              <a:latin typeface="Arial"/>
              <a:ea typeface="Arial"/>
              <a:cs typeface="Arial"/>
              <a:sym typeface="Arial"/>
            </a:endParaRPr>
          </a:p>
        </p:txBody>
      </p:sp>
      <p:sp>
        <p:nvSpPr>
          <p:cNvPr id="167" name="Google Shape;167;g13f0075ef24_0_38"/>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pic>
        <p:nvPicPr>
          <p:cNvPr id="168" name="Google Shape;168;g13f0075ef24_0_38"/>
          <p:cNvPicPr preferRelativeResize="0"/>
          <p:nvPr/>
        </p:nvPicPr>
        <p:blipFill>
          <a:blip r:embed="rId4">
            <a:alphaModFix/>
          </a:blip>
          <a:stretch>
            <a:fillRect/>
          </a:stretch>
        </p:blipFill>
        <p:spPr>
          <a:xfrm>
            <a:off x="1170200" y="1437500"/>
            <a:ext cx="2620239" cy="2268476"/>
          </a:xfrm>
          <a:prstGeom prst="rect">
            <a:avLst/>
          </a:prstGeom>
          <a:noFill/>
          <a:ln>
            <a:noFill/>
          </a:ln>
        </p:spPr>
      </p:pic>
      <p:pic>
        <p:nvPicPr>
          <p:cNvPr id="169" name="Google Shape;169;g13f0075ef24_0_38"/>
          <p:cNvPicPr preferRelativeResize="0"/>
          <p:nvPr/>
        </p:nvPicPr>
        <p:blipFill>
          <a:blip r:embed="rId5">
            <a:alphaModFix/>
          </a:blip>
          <a:stretch>
            <a:fillRect/>
          </a:stretch>
        </p:blipFill>
        <p:spPr>
          <a:xfrm>
            <a:off x="4467393" y="1633674"/>
            <a:ext cx="3506395" cy="187612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cxnSp>
        <p:nvCxnSpPr>
          <p:cNvPr id="174" name="Google Shape;174;g13f0075ef24_0_46"/>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75" name="Google Shape;175;g13f0075ef24_0_46"/>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76" name="Google Shape;176;g13f0075ef24_0_46"/>
          <p:cNvSpPr txBox="1"/>
          <p:nvPr/>
        </p:nvSpPr>
        <p:spPr>
          <a:xfrm>
            <a:off x="326450" y="242575"/>
            <a:ext cx="33900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Interfaz: Coordenadas</a:t>
            </a:r>
            <a:endParaRPr b="1" i="0" sz="3000" u="none" cap="none" strike="noStrike">
              <a:solidFill>
                <a:srgbClr val="000000"/>
              </a:solidFill>
              <a:latin typeface="Arial"/>
              <a:ea typeface="Arial"/>
              <a:cs typeface="Arial"/>
              <a:sym typeface="Arial"/>
            </a:endParaRPr>
          </a:p>
        </p:txBody>
      </p:sp>
      <p:sp>
        <p:nvSpPr>
          <p:cNvPr id="177" name="Google Shape;177;g13f0075ef24_0_46"/>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pic>
        <p:nvPicPr>
          <p:cNvPr id="178" name="Google Shape;178;g13f0075ef24_0_46"/>
          <p:cNvPicPr preferRelativeResize="0"/>
          <p:nvPr/>
        </p:nvPicPr>
        <p:blipFill>
          <a:blip r:embed="rId4">
            <a:alphaModFix/>
          </a:blip>
          <a:stretch>
            <a:fillRect/>
          </a:stretch>
        </p:blipFill>
        <p:spPr>
          <a:xfrm>
            <a:off x="1205832" y="2043674"/>
            <a:ext cx="1145374" cy="1056168"/>
          </a:xfrm>
          <a:prstGeom prst="rect">
            <a:avLst/>
          </a:prstGeom>
          <a:noFill/>
          <a:ln>
            <a:noFill/>
          </a:ln>
        </p:spPr>
      </p:pic>
      <p:sp>
        <p:nvSpPr>
          <p:cNvPr id="179" name="Google Shape;179;g13f0075ef24_0_46"/>
          <p:cNvSpPr txBox="1"/>
          <p:nvPr/>
        </p:nvSpPr>
        <p:spPr>
          <a:xfrm>
            <a:off x="3331385" y="1855953"/>
            <a:ext cx="4606800" cy="14316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rgbClr val="000000"/>
              </a:buClr>
              <a:buSzPts val="1100"/>
              <a:buFont typeface="Arial"/>
              <a:buNone/>
            </a:pPr>
            <a:r>
              <a:rPr lang="es" sz="1200">
                <a:solidFill>
                  <a:srgbClr val="000000"/>
                </a:solidFill>
              </a:rPr>
              <a:t>Si hacemos un cuadrado que ocupe el 50% de una pantalla de 500x500 desde el centro:</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s" sz="1200">
                <a:solidFill>
                  <a:srgbClr val="000000"/>
                </a:solidFill>
              </a:rPr>
              <a:t>Centro en (250,250)</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s" sz="1200">
                <a:solidFill>
                  <a:srgbClr val="000000"/>
                </a:solidFill>
              </a:rPr>
              <a:t>Área total = 250.000 UM (unidad de medida)</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s" sz="1200">
                <a:solidFill>
                  <a:srgbClr val="000000"/>
                </a:solidFill>
              </a:rPr>
              <a:t>Mitad del Área = 125.000 UM</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s" sz="1200">
                <a:solidFill>
                  <a:srgbClr val="000000"/>
                </a:solidFill>
              </a:rPr>
              <a:t>El origen del rectángulo debe ser en el (125,125)</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cxnSp>
        <p:nvCxnSpPr>
          <p:cNvPr id="184" name="Google Shape;184;g180c632dc99_0_0"/>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85" name="Google Shape;185;g180c632dc99_0_0"/>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86" name="Google Shape;186;g180c632dc99_0_0"/>
          <p:cNvSpPr txBox="1"/>
          <p:nvPr/>
        </p:nvSpPr>
        <p:spPr>
          <a:xfrm>
            <a:off x="326450" y="242575"/>
            <a:ext cx="33900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StarUML</a:t>
            </a:r>
            <a:endParaRPr b="1" i="0" sz="3000" u="none" cap="none" strike="noStrike">
              <a:solidFill>
                <a:srgbClr val="000000"/>
              </a:solidFill>
              <a:latin typeface="Arial"/>
              <a:ea typeface="Arial"/>
              <a:cs typeface="Arial"/>
              <a:sym typeface="Arial"/>
            </a:endParaRPr>
          </a:p>
        </p:txBody>
      </p:sp>
      <p:sp>
        <p:nvSpPr>
          <p:cNvPr id="187" name="Google Shape;187;g180c632dc99_0_0"/>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188" name="Google Shape;188;g180c632dc99_0_0"/>
          <p:cNvSpPr txBox="1"/>
          <p:nvPr/>
        </p:nvSpPr>
        <p:spPr>
          <a:xfrm>
            <a:off x="1240650" y="1299450"/>
            <a:ext cx="6662700" cy="2544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Como fue discutido en el curso “Aprendiendo a Programar con Arduino” y será nuevamente utilizado a futuro para explicar la herencia, UML (Unified Modeling Language) es un conjunto de criterios de diseño que permiten lograr </a:t>
            </a:r>
            <a:r>
              <a:rPr lang="es" sz="1600">
                <a:solidFill>
                  <a:srgbClr val="556271"/>
                </a:solidFill>
              </a:rPr>
              <a:t>gráficos</a:t>
            </a:r>
            <a:r>
              <a:rPr lang="es" sz="1600">
                <a:solidFill>
                  <a:srgbClr val="556271"/>
                </a:solidFill>
              </a:rPr>
              <a:t> internacionalmente reconocidos para definir los componentes y flujos de un sistema. De esta manera, podemos usarlo para diagramas de flujo, secuencia, </a:t>
            </a:r>
            <a:r>
              <a:rPr lang="es" sz="1600">
                <a:solidFill>
                  <a:srgbClr val="556271"/>
                </a:solidFill>
              </a:rPr>
              <a:t>relación</a:t>
            </a:r>
            <a:r>
              <a:rPr lang="es" sz="1600">
                <a:solidFill>
                  <a:srgbClr val="556271"/>
                </a:solidFill>
              </a:rPr>
              <a:t> de datos y más.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StarUML es un programa gratuito que se puede descargar en </a:t>
            </a:r>
            <a:r>
              <a:rPr lang="es" sz="1600" u="sng">
                <a:solidFill>
                  <a:schemeClr val="hlink"/>
                </a:solidFill>
                <a:hlinkClick r:id="rId4"/>
              </a:rPr>
              <a:t>https://staruml.io/</a:t>
            </a:r>
            <a:r>
              <a:rPr lang="es" sz="1600">
                <a:solidFill>
                  <a:srgbClr val="556271"/>
                </a:solidFill>
              </a:rPr>
              <a:t>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chemeClr val="lt1"/>
              </a:solidFill>
              <a:highlight>
                <a:srgbClr val="556271"/>
              </a:highlight>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19a496846f2_0_0"/>
          <p:cNvSpPr txBox="1"/>
          <p:nvPr/>
        </p:nvSpPr>
        <p:spPr>
          <a:xfrm>
            <a:off x="5913287" y="2242775"/>
            <a:ext cx="2135100" cy="1830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1" lang="es">
                <a:solidFill>
                  <a:srgbClr val="BC182C"/>
                </a:solidFill>
                <a:highlight>
                  <a:schemeClr val="lt1"/>
                </a:highlight>
              </a:rPr>
              <a:t>Arduino IDE</a:t>
            </a:r>
            <a:endParaRPr b="1" i="0" sz="1400" u="none" cap="none" strike="noStrike">
              <a:solidFill>
                <a:srgbClr val="BC182C"/>
              </a:solidFill>
              <a:highlight>
                <a:srgbClr val="FFFFFF"/>
              </a:highlight>
              <a:latin typeface="Arial"/>
              <a:ea typeface="Arial"/>
              <a:cs typeface="Arial"/>
              <a:sym typeface="Arial"/>
            </a:endParaRPr>
          </a:p>
          <a:p>
            <a:pPr indent="0" lvl="0" marL="0" marR="0" rtl="0" algn="l">
              <a:lnSpc>
                <a:spcPct val="130000"/>
              </a:lnSpc>
              <a:spcBef>
                <a:spcPts val="0"/>
              </a:spcBef>
              <a:spcAft>
                <a:spcPts val="0"/>
              </a:spcAft>
              <a:buClr>
                <a:srgbClr val="000000"/>
              </a:buClr>
              <a:buSzPts val="1200"/>
              <a:buFont typeface="Arial"/>
              <a:buNone/>
            </a:pPr>
            <a:r>
              <a:rPr lang="es" sz="1200">
                <a:solidFill>
                  <a:srgbClr val="556271"/>
                </a:solidFill>
              </a:rPr>
              <a:t>Es el editor de texto, compilador y subidor de código nativo de Arduino. En </a:t>
            </a:r>
            <a:r>
              <a:rPr lang="es" sz="1200">
                <a:solidFill>
                  <a:srgbClr val="556271"/>
                </a:solidFill>
              </a:rPr>
              <a:t>él vamos</a:t>
            </a:r>
            <a:r>
              <a:rPr lang="es" sz="1200">
                <a:solidFill>
                  <a:srgbClr val="556271"/>
                </a:solidFill>
              </a:rPr>
              <a:t> a escribir nuestro código, importar librerías, compilar el código, subirlo a Arduino y más.</a:t>
            </a:r>
            <a:endParaRPr b="0" i="0" sz="1100" u="none" cap="none" strike="noStrike">
              <a:solidFill>
                <a:srgbClr val="666666"/>
              </a:solidFill>
              <a:highlight>
                <a:srgbClr val="FFFFFF"/>
              </a:highlight>
              <a:latin typeface="Arial"/>
              <a:ea typeface="Arial"/>
              <a:cs typeface="Arial"/>
              <a:sym typeface="Arial"/>
            </a:endParaRPr>
          </a:p>
        </p:txBody>
      </p:sp>
      <p:sp>
        <p:nvSpPr>
          <p:cNvPr id="194" name="Google Shape;194;g19a496846f2_0_0"/>
          <p:cNvSpPr txBox="1"/>
          <p:nvPr/>
        </p:nvSpPr>
        <p:spPr>
          <a:xfrm>
            <a:off x="1095613" y="2242775"/>
            <a:ext cx="2135100" cy="1830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1" lang="es">
                <a:solidFill>
                  <a:srgbClr val="BC182C"/>
                </a:solidFill>
                <a:highlight>
                  <a:srgbClr val="FFFFFF"/>
                </a:highlight>
              </a:rPr>
              <a:t>Circuito IO</a:t>
            </a:r>
            <a:endParaRPr b="1" i="0" sz="1400" u="none" cap="none" strike="noStrike">
              <a:solidFill>
                <a:srgbClr val="BC182C"/>
              </a:solidFill>
              <a:highlight>
                <a:srgbClr val="FFFFFF"/>
              </a:highlight>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rPr lang="es" sz="1200">
                <a:solidFill>
                  <a:srgbClr val="556271"/>
                </a:solidFill>
              </a:rPr>
              <a:t>Es un programa gratuito utilizado para visualizar las conexiones de cualquier elemento de hardware que quiera conectar a mi Arduino. Es muy útil cuando compro un elemento que no </a:t>
            </a:r>
            <a:r>
              <a:rPr lang="es" sz="1200">
                <a:solidFill>
                  <a:srgbClr val="556271"/>
                </a:solidFill>
              </a:rPr>
              <a:t>sé muy</a:t>
            </a:r>
            <a:r>
              <a:rPr lang="es" sz="1200">
                <a:solidFill>
                  <a:srgbClr val="556271"/>
                </a:solidFill>
              </a:rPr>
              <a:t> bien como conectar.</a:t>
            </a:r>
            <a:endParaRPr b="0" i="0" sz="1100" u="none" cap="none" strike="noStrike">
              <a:solidFill>
                <a:srgbClr val="666666"/>
              </a:solidFill>
              <a:highlight>
                <a:srgbClr val="FFFFFF"/>
              </a:highlight>
              <a:latin typeface="Arial"/>
              <a:ea typeface="Arial"/>
              <a:cs typeface="Arial"/>
              <a:sym typeface="Arial"/>
            </a:endParaRPr>
          </a:p>
        </p:txBody>
      </p:sp>
      <p:sp>
        <p:nvSpPr>
          <p:cNvPr id="195" name="Google Shape;195;g19a496846f2_0_0"/>
          <p:cNvSpPr txBox="1"/>
          <p:nvPr/>
        </p:nvSpPr>
        <p:spPr>
          <a:xfrm>
            <a:off x="3404988" y="2242775"/>
            <a:ext cx="2135100" cy="1830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1" lang="es">
                <a:solidFill>
                  <a:srgbClr val="BC182C"/>
                </a:solidFill>
                <a:highlight>
                  <a:schemeClr val="lt1"/>
                </a:highlight>
              </a:rPr>
              <a:t>Tinkercad</a:t>
            </a:r>
            <a:endParaRPr b="1" i="0" sz="1400" u="none" cap="none" strike="noStrike">
              <a:solidFill>
                <a:srgbClr val="BC182C"/>
              </a:solidFill>
              <a:highlight>
                <a:srgbClr val="FFFFFF"/>
              </a:highlight>
              <a:latin typeface="Arial"/>
              <a:ea typeface="Arial"/>
              <a:cs typeface="Arial"/>
              <a:sym typeface="Arial"/>
            </a:endParaRPr>
          </a:p>
          <a:p>
            <a:pPr indent="0" lvl="0" marL="0" marR="0" rtl="0" algn="l">
              <a:lnSpc>
                <a:spcPct val="130000"/>
              </a:lnSpc>
              <a:spcBef>
                <a:spcPts val="0"/>
              </a:spcBef>
              <a:spcAft>
                <a:spcPts val="0"/>
              </a:spcAft>
              <a:buClr>
                <a:srgbClr val="000000"/>
              </a:buClr>
              <a:buSzPts val="1200"/>
              <a:buFont typeface="Arial"/>
              <a:buNone/>
            </a:pPr>
            <a:r>
              <a:rPr lang="es" sz="1200">
                <a:solidFill>
                  <a:srgbClr val="556271"/>
                </a:solidFill>
              </a:rPr>
              <a:t>Es un simulador virtual gratuito que nos permite escribir y ejecutar programas de Arduino sin necesidad de crear el programa o el circuito con componentes reales</a:t>
            </a:r>
            <a:endParaRPr b="0" i="0" sz="1100" u="none" cap="none" strike="noStrike">
              <a:solidFill>
                <a:srgbClr val="666666"/>
              </a:solidFill>
              <a:highlight>
                <a:srgbClr val="FFFFFF"/>
              </a:highlight>
              <a:latin typeface="Arial"/>
              <a:ea typeface="Arial"/>
              <a:cs typeface="Arial"/>
              <a:sym typeface="Arial"/>
            </a:endParaRPr>
          </a:p>
        </p:txBody>
      </p:sp>
      <p:cxnSp>
        <p:nvCxnSpPr>
          <p:cNvPr id="196" name="Google Shape;196;g19a496846f2_0_0"/>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97" name="Google Shape;197;g19a496846f2_0_0"/>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pic>
        <p:nvPicPr>
          <p:cNvPr id="198" name="Google Shape;198;g19a496846f2_0_0"/>
          <p:cNvPicPr preferRelativeResize="0"/>
          <p:nvPr/>
        </p:nvPicPr>
        <p:blipFill>
          <a:blip r:embed="rId4">
            <a:alphaModFix/>
          </a:blip>
          <a:stretch>
            <a:fillRect/>
          </a:stretch>
        </p:blipFill>
        <p:spPr>
          <a:xfrm>
            <a:off x="1095650" y="1165338"/>
            <a:ext cx="2135054" cy="873568"/>
          </a:xfrm>
          <a:prstGeom prst="rect">
            <a:avLst/>
          </a:prstGeom>
          <a:noFill/>
          <a:ln>
            <a:noFill/>
          </a:ln>
        </p:spPr>
      </p:pic>
      <p:pic>
        <p:nvPicPr>
          <p:cNvPr id="199" name="Google Shape;199;g19a496846f2_0_0"/>
          <p:cNvPicPr preferRelativeResize="0"/>
          <p:nvPr/>
        </p:nvPicPr>
        <p:blipFill>
          <a:blip r:embed="rId5">
            <a:alphaModFix/>
          </a:blip>
          <a:stretch>
            <a:fillRect/>
          </a:stretch>
        </p:blipFill>
        <p:spPr>
          <a:xfrm>
            <a:off x="3405022" y="1165338"/>
            <a:ext cx="2135055" cy="873568"/>
          </a:xfrm>
          <a:prstGeom prst="rect">
            <a:avLst/>
          </a:prstGeom>
          <a:noFill/>
          <a:ln>
            <a:noFill/>
          </a:ln>
        </p:spPr>
      </p:pic>
      <p:pic>
        <p:nvPicPr>
          <p:cNvPr id="200" name="Google Shape;200;g19a496846f2_0_0"/>
          <p:cNvPicPr preferRelativeResize="0"/>
          <p:nvPr/>
        </p:nvPicPr>
        <p:blipFill>
          <a:blip r:embed="rId6">
            <a:alphaModFix/>
          </a:blip>
          <a:stretch>
            <a:fillRect/>
          </a:stretch>
        </p:blipFill>
        <p:spPr>
          <a:xfrm>
            <a:off x="5913285" y="1070725"/>
            <a:ext cx="1853950" cy="1062800"/>
          </a:xfrm>
          <a:prstGeom prst="rect">
            <a:avLst/>
          </a:prstGeom>
          <a:noFill/>
          <a:ln>
            <a:noFill/>
          </a:ln>
        </p:spPr>
      </p:pic>
      <p:sp>
        <p:nvSpPr>
          <p:cNvPr id="201" name="Google Shape;201;g19a496846f2_0_0"/>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202" name="Google Shape;202;g19a496846f2_0_0"/>
          <p:cNvSpPr txBox="1"/>
          <p:nvPr/>
        </p:nvSpPr>
        <p:spPr>
          <a:xfrm>
            <a:off x="326450" y="242575"/>
            <a:ext cx="33900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Otros Programas Utilizados</a:t>
            </a:r>
            <a:endParaRPr b="1" i="0" sz="30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g13f0075ef24_0_96"/>
          <p:cNvPicPr preferRelativeResize="0"/>
          <p:nvPr/>
        </p:nvPicPr>
        <p:blipFill rotWithShape="1">
          <a:blip r:embed="rId3">
            <a:alphaModFix/>
          </a:blip>
          <a:srcRect b="4050" l="0" r="0" t="12442"/>
          <a:stretch/>
        </p:blipFill>
        <p:spPr>
          <a:xfrm>
            <a:off x="0" y="0"/>
            <a:ext cx="9144000" cy="5143496"/>
          </a:xfrm>
          <a:prstGeom prst="rect">
            <a:avLst/>
          </a:prstGeom>
          <a:noFill/>
          <a:ln>
            <a:noFill/>
          </a:ln>
        </p:spPr>
      </p:pic>
      <p:sp>
        <p:nvSpPr>
          <p:cNvPr id="208" name="Google Shape;208;g13f0075ef24_0_96"/>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09" name="Google Shape;209;g13f0075ef24_0_96"/>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210" name="Google Shape;210;g13f0075ef24_0_96"/>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211" name="Google Shape;211;g13f0075ef24_0_96"/>
          <p:cNvSpPr txBox="1"/>
          <p:nvPr>
            <p:ph idx="4294967295" type="ctrTitle"/>
          </p:nvPr>
        </p:nvSpPr>
        <p:spPr>
          <a:xfrm>
            <a:off x="1086150" y="2041414"/>
            <a:ext cx="5429100" cy="81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s" sz="2600">
                <a:solidFill>
                  <a:schemeClr val="lt1"/>
                </a:solidFill>
              </a:rPr>
              <a:t>Funciones nativas de processing: Herramientas gráficas</a:t>
            </a:r>
            <a:endParaRPr b="1" sz="2600">
              <a:solidFill>
                <a:schemeClr val="lt1"/>
              </a:solidFill>
            </a:endParaRPr>
          </a:p>
        </p:txBody>
      </p:sp>
      <p:sp>
        <p:nvSpPr>
          <p:cNvPr id="212" name="Google Shape;212;g13f0075ef24_0_96"/>
          <p:cNvSpPr txBox="1"/>
          <p:nvPr>
            <p:ph idx="4294967295" type="ctrTitle"/>
          </p:nvPr>
        </p:nvSpPr>
        <p:spPr>
          <a:xfrm>
            <a:off x="4101950" y="261625"/>
            <a:ext cx="31179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2800"/>
              <a:buFont typeface="Arial"/>
              <a:buNone/>
            </a:pPr>
            <a:r>
              <a:rPr lang="es" sz="1000">
                <a:solidFill>
                  <a:schemeClr val="lt1"/>
                </a:solidFill>
              </a:rPr>
              <a:t>Processing: Una poderosa herramienta gráfica y de procesamiento de datos</a:t>
            </a:r>
            <a:endParaRPr b="0" i="0" sz="3000" u="none" cap="none" strike="noStrike">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cxnSp>
        <p:nvCxnSpPr>
          <p:cNvPr id="217" name="Google Shape;217;g13f0075ef24_0_63"/>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18" name="Google Shape;218;g13f0075ef24_0_63"/>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19" name="Google Shape;219;g13f0075ef24_0_63"/>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Funciones geométricas</a:t>
            </a:r>
            <a:endParaRPr b="1" i="0" sz="3000" u="none" cap="none" strike="noStrike">
              <a:solidFill>
                <a:srgbClr val="000000"/>
              </a:solidFill>
              <a:latin typeface="Arial"/>
              <a:ea typeface="Arial"/>
              <a:cs typeface="Arial"/>
              <a:sym typeface="Arial"/>
            </a:endParaRPr>
          </a:p>
        </p:txBody>
      </p:sp>
      <p:sp>
        <p:nvSpPr>
          <p:cNvPr id="220" name="Google Shape;220;g13f0075ef24_0_63"/>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221" name="Google Shape;221;g13f0075ef24_0_63"/>
          <p:cNvSpPr txBox="1"/>
          <p:nvPr/>
        </p:nvSpPr>
        <p:spPr>
          <a:xfrm>
            <a:off x="873000" y="1443150"/>
            <a:ext cx="7398000" cy="2257200"/>
          </a:xfrm>
          <a:prstGeom prst="rect">
            <a:avLst/>
          </a:prstGeom>
          <a:noFill/>
          <a:ln>
            <a:noFill/>
          </a:ln>
        </p:spPr>
        <p:txBody>
          <a:bodyPr anchorCtr="0" anchor="t" bIns="0" lIns="0" spcFirstLastPara="1" rIns="0" wrap="square" tIns="0">
            <a:noAutofit/>
          </a:bodyPr>
          <a:lstStyle/>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void size(ancho,alto): define el tamaño del canvas (espacio de dibujo).</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void line(x1,y1,x2,y2): dibuja una línea. Todos valores enteros.</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void triangle(x1,y1,x2,y2,x3,y3): Dibuja un triángulo.Todos valores enteros.</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void quad(x1,y1,x2,y2,x3,y3,x4,y4): Dibuja un cuadrilátero.Todos valores enteros.</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void rect(x,y,alto,ancho): Dibuja un rectángulo.Todos valores enteros.</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void ellipse(x,y,ancho,alto): Dibuja una circunferencia, elíptica o circular.Todos valores enteros.</a:t>
            </a:r>
            <a:endParaRPr b="0" i="0" sz="16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chemeClr val="lt1"/>
              </a:solidFill>
              <a:highlight>
                <a:srgbClr val="556271"/>
              </a:highlight>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cxnSp>
        <p:nvCxnSpPr>
          <p:cNvPr id="226" name="Google Shape;226;g13f0075ef24_0_74"/>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27" name="Google Shape;227;g13f0075ef24_0_74"/>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28" name="Google Shape;228;g13f0075ef24_0_74"/>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Funciones geométricas</a:t>
            </a:r>
            <a:endParaRPr b="1" i="0" sz="3000" u="none" cap="none" strike="noStrike">
              <a:solidFill>
                <a:srgbClr val="000000"/>
              </a:solidFill>
              <a:latin typeface="Arial"/>
              <a:ea typeface="Arial"/>
              <a:cs typeface="Arial"/>
              <a:sym typeface="Arial"/>
            </a:endParaRPr>
          </a:p>
        </p:txBody>
      </p:sp>
      <p:sp>
        <p:nvSpPr>
          <p:cNvPr id="229" name="Google Shape;229;g13f0075ef24_0_74"/>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230" name="Google Shape;230;g13f0075ef24_0_74"/>
          <p:cNvSpPr txBox="1"/>
          <p:nvPr/>
        </p:nvSpPr>
        <p:spPr>
          <a:xfrm>
            <a:off x="1827750" y="1716000"/>
            <a:ext cx="5488500" cy="17115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s" sz="1600">
                <a:solidFill>
                  <a:srgbClr val="556271"/>
                </a:solidFill>
              </a:rPr>
              <a:t>void arc(x,y,alto,ancho,anguloInicio,anguloFin): Dibuja un arco de circunferencia. Para ángulo se puede usar la función radians(angulo). </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void vertex(inicio,fin): linea variable. Debe usarse con beginShape() y endShape().Todos valores enteros.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cxnSp>
        <p:nvCxnSpPr>
          <p:cNvPr id="235" name="Google Shape;235;g13972084d2b_0_122"/>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36" name="Google Shape;236;g13972084d2b_0_122"/>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37" name="Google Shape;237;g13972084d2b_0_122"/>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Funciones de color</a:t>
            </a:r>
            <a:endParaRPr b="1" i="0" sz="3000" u="none" cap="none" strike="noStrike">
              <a:solidFill>
                <a:srgbClr val="000000"/>
              </a:solidFill>
              <a:latin typeface="Arial"/>
              <a:ea typeface="Arial"/>
              <a:cs typeface="Arial"/>
              <a:sym typeface="Arial"/>
            </a:endParaRPr>
          </a:p>
        </p:txBody>
      </p:sp>
      <p:sp>
        <p:nvSpPr>
          <p:cNvPr id="238" name="Google Shape;238;g13972084d2b_0_122"/>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pic>
        <p:nvPicPr>
          <p:cNvPr id="239" name="Google Shape;239;g13972084d2b_0_122"/>
          <p:cNvPicPr preferRelativeResize="0"/>
          <p:nvPr/>
        </p:nvPicPr>
        <p:blipFill>
          <a:blip r:embed="rId4">
            <a:alphaModFix/>
          </a:blip>
          <a:stretch>
            <a:fillRect/>
          </a:stretch>
        </p:blipFill>
        <p:spPr>
          <a:xfrm>
            <a:off x="945124" y="1802250"/>
            <a:ext cx="2644050" cy="1539000"/>
          </a:xfrm>
          <a:prstGeom prst="rect">
            <a:avLst/>
          </a:prstGeom>
          <a:noFill/>
          <a:ln>
            <a:noFill/>
          </a:ln>
        </p:spPr>
      </p:pic>
      <p:sp>
        <p:nvSpPr>
          <p:cNvPr id="240" name="Google Shape;240;g13972084d2b_0_122"/>
          <p:cNvSpPr txBox="1"/>
          <p:nvPr/>
        </p:nvSpPr>
        <p:spPr>
          <a:xfrm>
            <a:off x="3753475" y="1586100"/>
            <a:ext cx="4445400" cy="2542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Empecemos con algunas funciones de texto y de color (para fondo y texto).</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s" sz="1600">
                <a:solidFill>
                  <a:srgbClr val="556271"/>
                </a:solidFill>
              </a:rPr>
              <a:t>Para cambiar el color del fondo, usaremos la función background(), cuyos parámetros pueden ser unitarios o triples ya que puedo pasarle un color en la escala de gris (negro-blanco) (0-255) o bien puedo pasarle un color del formato RGB (rojo-verde-azul). ALPHA</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Clr>
                <a:srgbClr val="000000"/>
              </a:buClr>
              <a:buSzPts val="1600"/>
              <a:buFont typeface="Arial"/>
              <a:buNone/>
            </a:pPr>
            <a:r>
              <a:t/>
            </a:r>
            <a:endParaRPr b="0" i="0" sz="16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chemeClr val="lt1"/>
              </a:solidFill>
              <a:highlight>
                <a:srgbClr val="556271"/>
              </a:highlight>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cxnSp>
        <p:nvCxnSpPr>
          <p:cNvPr id="245" name="Google Shape;245;g13972084d2b_0_114"/>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46" name="Google Shape;246;g13972084d2b_0_114"/>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47" name="Google Shape;247;g13972084d2b_0_114"/>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Funciones de estilo</a:t>
            </a:r>
            <a:endParaRPr b="1" i="0" sz="3000" u="none" cap="none" strike="noStrike">
              <a:solidFill>
                <a:srgbClr val="000000"/>
              </a:solidFill>
              <a:latin typeface="Arial"/>
              <a:ea typeface="Arial"/>
              <a:cs typeface="Arial"/>
              <a:sym typeface="Arial"/>
            </a:endParaRPr>
          </a:p>
        </p:txBody>
      </p:sp>
      <p:sp>
        <p:nvSpPr>
          <p:cNvPr id="248" name="Google Shape;248;g13972084d2b_0_114"/>
          <p:cNvSpPr txBox="1"/>
          <p:nvPr/>
        </p:nvSpPr>
        <p:spPr>
          <a:xfrm>
            <a:off x="1498800" y="1555200"/>
            <a:ext cx="6146400" cy="2033100"/>
          </a:xfrm>
          <a:prstGeom prst="rect">
            <a:avLst/>
          </a:prstGeom>
          <a:noFill/>
          <a:ln>
            <a:noFill/>
          </a:ln>
        </p:spPr>
        <p:txBody>
          <a:bodyPr anchorCtr="0" anchor="t" bIns="0" lIns="0" spcFirstLastPara="1" rIns="0" wrap="square" tIns="0">
            <a:noAutofit/>
          </a:bodyPr>
          <a:lstStyle/>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void fill(valor): define el color de relleno de los objetos graficados desde esa línea en adelante.</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void stroke(): </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void noStroke():</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void strokeWeight(pixeles): Define que tan definido es el contorno de una figura.Todos valores enteros.</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chemeClr val="lt1"/>
              </a:solidFill>
              <a:highlight>
                <a:srgbClr val="556271"/>
              </a:highlight>
              <a:latin typeface="Arial"/>
              <a:ea typeface="Arial"/>
              <a:cs typeface="Arial"/>
              <a:sym typeface="Arial"/>
            </a:endParaRPr>
          </a:p>
        </p:txBody>
      </p:sp>
      <p:sp>
        <p:nvSpPr>
          <p:cNvPr id="249" name="Google Shape;249;g13972084d2b_0_114"/>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cxnSp>
        <p:nvCxnSpPr>
          <p:cNvPr id="254" name="Google Shape;254;g13f0075ef24_0_117"/>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55" name="Google Shape;255;g13f0075ef24_0_117"/>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56" name="Google Shape;256;g13f0075ef24_0_117"/>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Funciones de texto</a:t>
            </a:r>
            <a:endParaRPr b="1" i="0" sz="3000" u="none" cap="none" strike="noStrike">
              <a:solidFill>
                <a:srgbClr val="000000"/>
              </a:solidFill>
              <a:latin typeface="Arial"/>
              <a:ea typeface="Arial"/>
              <a:cs typeface="Arial"/>
              <a:sym typeface="Arial"/>
            </a:endParaRPr>
          </a:p>
        </p:txBody>
      </p:sp>
      <p:sp>
        <p:nvSpPr>
          <p:cNvPr id="257" name="Google Shape;257;g13f0075ef24_0_117"/>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258" name="Google Shape;258;g13f0075ef24_0_117"/>
          <p:cNvSpPr txBox="1"/>
          <p:nvPr/>
        </p:nvSpPr>
        <p:spPr>
          <a:xfrm>
            <a:off x="1785238" y="1608750"/>
            <a:ext cx="4445400" cy="1926000"/>
          </a:xfrm>
          <a:prstGeom prst="rect">
            <a:avLst/>
          </a:prstGeom>
          <a:noFill/>
          <a:ln>
            <a:noFill/>
          </a:ln>
        </p:spPr>
        <p:txBody>
          <a:bodyPr anchorCtr="0" anchor="t" bIns="0" lIns="0" spcFirstLastPara="1" rIns="0" wrap="square" tIns="0">
            <a:noAutofit/>
          </a:bodyPr>
          <a:lstStyle/>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textSize(tamaño);</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text(texto, x, y, z); //z opcional</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PFont font;</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//La fuente debe estar en el directorio “data”</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font = loadFont("fuente.otf");</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s" sz="1600">
                <a:solidFill>
                  <a:srgbClr val="556271"/>
                </a:solidFill>
              </a:rPr>
              <a:t>textFont(font, 128);</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pic>
        <p:nvPicPr>
          <p:cNvPr id="259" name="Google Shape;259;g13f0075ef24_0_117"/>
          <p:cNvPicPr preferRelativeResize="0"/>
          <p:nvPr/>
        </p:nvPicPr>
        <p:blipFill>
          <a:blip r:embed="rId4">
            <a:alphaModFix/>
          </a:blip>
          <a:stretch>
            <a:fillRect/>
          </a:stretch>
        </p:blipFill>
        <p:spPr>
          <a:xfrm>
            <a:off x="6329067" y="1202175"/>
            <a:ext cx="1045150" cy="27391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cxnSp>
        <p:nvCxnSpPr>
          <p:cNvPr id="264" name="Google Shape;264;g14f689bd0a2_0_5"/>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65" name="Google Shape;265;g14f689bd0a2_0_5"/>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66" name="Google Shape;266;g14f689bd0a2_0_5"/>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Crear Fuente</a:t>
            </a:r>
            <a:endParaRPr b="1" i="0" sz="3000" u="none" cap="none" strike="noStrike">
              <a:solidFill>
                <a:srgbClr val="000000"/>
              </a:solidFill>
              <a:latin typeface="Arial"/>
              <a:ea typeface="Arial"/>
              <a:cs typeface="Arial"/>
              <a:sym typeface="Arial"/>
            </a:endParaRPr>
          </a:p>
        </p:txBody>
      </p:sp>
      <p:sp>
        <p:nvSpPr>
          <p:cNvPr id="267" name="Google Shape;267;g14f689bd0a2_0_5"/>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268" name="Google Shape;268;g14f689bd0a2_0_5"/>
          <p:cNvSpPr txBox="1"/>
          <p:nvPr/>
        </p:nvSpPr>
        <p:spPr>
          <a:xfrm>
            <a:off x="2349300" y="1213988"/>
            <a:ext cx="4445400" cy="733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s" sz="1600">
                <a:solidFill>
                  <a:srgbClr val="556271"/>
                </a:solidFill>
              </a:rPr>
              <a:t>Para crear una fuente, debemos ir a la pestaña de herramientas y seleccionar “Crear fuente…”</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pic>
        <p:nvPicPr>
          <p:cNvPr id="269" name="Google Shape;269;g14f689bd0a2_0_5"/>
          <p:cNvPicPr preferRelativeResize="0"/>
          <p:nvPr/>
        </p:nvPicPr>
        <p:blipFill>
          <a:blip r:embed="rId4">
            <a:alphaModFix/>
          </a:blip>
          <a:stretch>
            <a:fillRect/>
          </a:stretch>
        </p:blipFill>
        <p:spPr>
          <a:xfrm>
            <a:off x="3701983" y="1947185"/>
            <a:ext cx="1740025" cy="19823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cxnSp>
        <p:nvCxnSpPr>
          <p:cNvPr id="274" name="Google Shape;274;g14f689bd0a2_0_14"/>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75" name="Google Shape;275;g14f689bd0a2_0_14"/>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76" name="Google Shape;276;g14f689bd0a2_0_14"/>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400"/>
              <a:buFont typeface="Arial"/>
              <a:buNone/>
            </a:pPr>
            <a:r>
              <a:rPr b="1" lang="es" sz="3000">
                <a:solidFill>
                  <a:srgbClr val="434343"/>
                </a:solidFill>
              </a:rPr>
              <a:t>Crear Fuente</a:t>
            </a:r>
            <a:endParaRPr b="1" sz="3000">
              <a:solidFill>
                <a:schemeClr val="dk1"/>
              </a:solidFill>
            </a:endParaRPr>
          </a:p>
          <a:p>
            <a:pPr indent="0" lvl="0" marL="0" marR="0" rtl="0" algn="l">
              <a:lnSpc>
                <a:spcPct val="90000"/>
              </a:lnSpc>
              <a:spcBef>
                <a:spcPts val="0"/>
              </a:spcBef>
              <a:spcAft>
                <a:spcPts val="0"/>
              </a:spcAft>
              <a:buClr>
                <a:srgbClr val="000000"/>
              </a:buClr>
              <a:buSzPts val="2400"/>
              <a:buFont typeface="Arial"/>
              <a:buNone/>
            </a:pPr>
            <a:r>
              <a:t/>
            </a:r>
            <a:endParaRPr b="1" sz="3000">
              <a:solidFill>
                <a:srgbClr val="434343"/>
              </a:solidFill>
            </a:endParaRPr>
          </a:p>
        </p:txBody>
      </p:sp>
      <p:sp>
        <p:nvSpPr>
          <p:cNvPr id="277" name="Google Shape;277;g14f689bd0a2_0_14"/>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pic>
        <p:nvPicPr>
          <p:cNvPr id="278" name="Google Shape;278;g14f689bd0a2_0_14"/>
          <p:cNvPicPr preferRelativeResize="0"/>
          <p:nvPr/>
        </p:nvPicPr>
        <p:blipFill>
          <a:blip r:embed="rId4">
            <a:alphaModFix/>
          </a:blip>
          <a:stretch>
            <a:fillRect/>
          </a:stretch>
        </p:blipFill>
        <p:spPr>
          <a:xfrm>
            <a:off x="3412354" y="1915904"/>
            <a:ext cx="2319300" cy="3135175"/>
          </a:xfrm>
          <a:prstGeom prst="rect">
            <a:avLst/>
          </a:prstGeom>
          <a:noFill/>
          <a:ln>
            <a:noFill/>
          </a:ln>
        </p:spPr>
      </p:pic>
      <p:sp>
        <p:nvSpPr>
          <p:cNvPr id="279" name="Google Shape;279;g14f689bd0a2_0_14"/>
          <p:cNvSpPr txBox="1"/>
          <p:nvPr/>
        </p:nvSpPr>
        <p:spPr>
          <a:xfrm>
            <a:off x="2349300" y="875488"/>
            <a:ext cx="4445400" cy="1040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s" sz="1600">
                <a:solidFill>
                  <a:srgbClr val="556271"/>
                </a:solidFill>
              </a:rPr>
              <a:t>Una vez que estemos ahí, podemos seleccionar de la lista, darle el tamaño por default que queramos y el nombre de archivo.</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cxnSp>
        <p:nvCxnSpPr>
          <p:cNvPr id="284" name="Google Shape;284;g14f689bd0a2_0_37"/>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85" name="Google Shape;285;g14f689bd0a2_0_37"/>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86" name="Google Shape;286;g14f689bd0a2_0_37"/>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400"/>
              <a:buFont typeface="Arial"/>
              <a:buNone/>
            </a:pPr>
            <a:r>
              <a:rPr b="1" lang="es" sz="3000">
                <a:solidFill>
                  <a:srgbClr val="434343"/>
                </a:solidFill>
              </a:rPr>
              <a:t>Crear Fuente</a:t>
            </a:r>
            <a:endParaRPr b="1" sz="3000">
              <a:solidFill>
                <a:schemeClr val="dk1"/>
              </a:solidFill>
            </a:endParaRPr>
          </a:p>
          <a:p>
            <a:pPr indent="0" lvl="0" marL="0" marR="0" rtl="0" algn="l">
              <a:lnSpc>
                <a:spcPct val="90000"/>
              </a:lnSpc>
              <a:spcBef>
                <a:spcPts val="0"/>
              </a:spcBef>
              <a:spcAft>
                <a:spcPts val="0"/>
              </a:spcAft>
              <a:buClr>
                <a:srgbClr val="000000"/>
              </a:buClr>
              <a:buSzPts val="2400"/>
              <a:buFont typeface="Arial"/>
              <a:buNone/>
            </a:pPr>
            <a:r>
              <a:t/>
            </a:r>
            <a:endParaRPr b="1" sz="3000">
              <a:solidFill>
                <a:srgbClr val="434343"/>
              </a:solidFill>
            </a:endParaRPr>
          </a:p>
        </p:txBody>
      </p:sp>
      <p:sp>
        <p:nvSpPr>
          <p:cNvPr id="287" name="Google Shape;287;g14f689bd0a2_0_37"/>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288" name="Google Shape;288;g14f689bd0a2_0_37"/>
          <p:cNvSpPr txBox="1"/>
          <p:nvPr/>
        </p:nvSpPr>
        <p:spPr>
          <a:xfrm>
            <a:off x="1658400" y="1620400"/>
            <a:ext cx="5827200" cy="1040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s" sz="1600">
                <a:solidFill>
                  <a:srgbClr val="556271"/>
                </a:solidFill>
              </a:rPr>
              <a:t>Creada la fuente, se nos guardará en la carpeta “Data” dentro de la carpeta del programa (donde estemos guardando nuestro sketch), un archivo de tipo vlw</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pic>
        <p:nvPicPr>
          <p:cNvPr id="289" name="Google Shape;289;g14f689bd0a2_0_37"/>
          <p:cNvPicPr preferRelativeResize="0"/>
          <p:nvPr/>
        </p:nvPicPr>
        <p:blipFill>
          <a:blip r:embed="rId4">
            <a:alphaModFix/>
          </a:blip>
          <a:stretch>
            <a:fillRect/>
          </a:stretch>
        </p:blipFill>
        <p:spPr>
          <a:xfrm>
            <a:off x="3567113" y="2846825"/>
            <a:ext cx="2009775" cy="6762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g13f0075ef24_0_108"/>
          <p:cNvPicPr preferRelativeResize="0"/>
          <p:nvPr/>
        </p:nvPicPr>
        <p:blipFill rotWithShape="1">
          <a:blip r:embed="rId3">
            <a:alphaModFix/>
          </a:blip>
          <a:srcRect b="4050" l="0" r="0" t="12442"/>
          <a:stretch/>
        </p:blipFill>
        <p:spPr>
          <a:xfrm>
            <a:off x="0" y="0"/>
            <a:ext cx="9144000" cy="5143496"/>
          </a:xfrm>
          <a:prstGeom prst="rect">
            <a:avLst/>
          </a:prstGeom>
          <a:noFill/>
          <a:ln>
            <a:noFill/>
          </a:ln>
        </p:spPr>
      </p:pic>
      <p:sp>
        <p:nvSpPr>
          <p:cNvPr id="295" name="Google Shape;295;g13f0075ef24_0_108"/>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96" name="Google Shape;296;g13f0075ef24_0_108"/>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297" name="Google Shape;297;g13f0075ef24_0_108"/>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298" name="Google Shape;298;g13f0075ef24_0_108"/>
          <p:cNvSpPr txBox="1"/>
          <p:nvPr>
            <p:ph idx="4294967295" type="ctrTitle"/>
          </p:nvPr>
        </p:nvSpPr>
        <p:spPr>
          <a:xfrm>
            <a:off x="1086150" y="2041434"/>
            <a:ext cx="5429100" cy="1522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s" sz="2600">
                <a:solidFill>
                  <a:schemeClr val="lt1"/>
                </a:solidFill>
              </a:rPr>
              <a:t>El paradigma de objetos: Una nueva forma de pensar nuestros programas</a:t>
            </a:r>
            <a:endParaRPr b="1" sz="2600">
              <a:solidFill>
                <a:schemeClr val="lt1"/>
              </a:solidFill>
            </a:endParaRPr>
          </a:p>
        </p:txBody>
      </p:sp>
      <p:sp>
        <p:nvSpPr>
          <p:cNvPr id="299" name="Google Shape;299;g13f0075ef24_0_108"/>
          <p:cNvSpPr txBox="1"/>
          <p:nvPr>
            <p:ph idx="4294967295" type="ctrTitle"/>
          </p:nvPr>
        </p:nvSpPr>
        <p:spPr>
          <a:xfrm>
            <a:off x="4101950" y="261625"/>
            <a:ext cx="31179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2800"/>
              <a:buFont typeface="Arial"/>
              <a:buNone/>
            </a:pPr>
            <a:r>
              <a:rPr lang="es" sz="1000">
                <a:solidFill>
                  <a:schemeClr val="lt1"/>
                </a:solidFill>
              </a:rPr>
              <a:t>Processing: Una poderosa herramienta gráfica y de procesamiento de datos</a:t>
            </a:r>
            <a:endParaRPr b="0" i="0" sz="3000" u="none" cap="none" strike="noStrike">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cxnSp>
        <p:nvCxnSpPr>
          <p:cNvPr id="304" name="Google Shape;304;g13f0075ef24_0_126"/>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05" name="Google Shape;305;g13f0075ef24_0_126"/>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06" name="Google Shape;306;g13f0075ef24_0_126"/>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307" name="Google Shape;307;g13f0075ef24_0_126"/>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308" name="Google Shape;308;g13f0075ef24_0_126"/>
          <p:cNvSpPr txBox="1"/>
          <p:nvPr/>
        </p:nvSpPr>
        <p:spPr>
          <a:xfrm>
            <a:off x="1827750" y="1395750"/>
            <a:ext cx="5488500" cy="23520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s" sz="1600">
                <a:solidFill>
                  <a:srgbClr val="556271"/>
                </a:solidFill>
              </a:rPr>
              <a:t>El paradigma de objetos es un conjunto de principios y operativas de </a:t>
            </a:r>
            <a:r>
              <a:rPr lang="es" sz="1600">
                <a:solidFill>
                  <a:srgbClr val="556271"/>
                </a:solidFill>
              </a:rPr>
              <a:t>programación</a:t>
            </a:r>
            <a:r>
              <a:rPr lang="es" sz="1600">
                <a:solidFill>
                  <a:srgbClr val="556271"/>
                </a:solidFill>
              </a:rPr>
              <a:t>, que comenzó a ser ampliamente implementado a partir de los noventa. </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Este paradigma deja de pensar en los programas como un conjunto de pasos consecutivos para comenzar a diseñar programas como entornos con objetos con atributos y </a:t>
            </a:r>
            <a:r>
              <a:rPr lang="es" sz="1600">
                <a:solidFill>
                  <a:srgbClr val="556271"/>
                </a:solidFill>
              </a:rPr>
              <a:t>métodos</a:t>
            </a:r>
            <a:r>
              <a:rPr lang="es" sz="1600">
                <a:solidFill>
                  <a:srgbClr val="556271"/>
                </a:solidFill>
              </a:rPr>
              <a:t>. </a:t>
            </a:r>
            <a:endParaRPr sz="1600">
              <a:solidFill>
                <a:srgbClr val="55627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cxnSp>
        <p:nvCxnSpPr>
          <p:cNvPr id="313" name="Google Shape;313;g18c2dfd82a6_0_0"/>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14" name="Google Shape;314;g18c2dfd82a6_0_0"/>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15" name="Google Shape;315;g18c2dfd82a6_0_0"/>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316" name="Google Shape;316;g18c2dfd82a6_0_0"/>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317" name="Google Shape;317;g18c2dfd82a6_0_0"/>
          <p:cNvSpPr txBox="1"/>
          <p:nvPr/>
        </p:nvSpPr>
        <p:spPr>
          <a:xfrm>
            <a:off x="1827750" y="1395750"/>
            <a:ext cx="5488500" cy="23520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s" sz="1600">
                <a:solidFill>
                  <a:srgbClr val="556271"/>
                </a:solidFill>
              </a:rPr>
              <a:t>Si pensamos en un programa que mueve un auto horizontalmente, con el paradigma procedural, pasaremos por el siguiente proceso:</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dibujar auto -&gt; cambiar posición</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Donde la forma y la posición del auto se guardarian en variables y moverlo se haría a través del cambio de valor de esas variables</a:t>
            </a:r>
            <a:endParaRPr sz="1600">
              <a:solidFill>
                <a:srgbClr val="55627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cxnSp>
        <p:nvCxnSpPr>
          <p:cNvPr id="322" name="Google Shape;322;g18c2dfd82a6_0_7"/>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23" name="Google Shape;323;g18c2dfd82a6_0_7"/>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24" name="Google Shape;324;g18c2dfd82a6_0_7"/>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325" name="Google Shape;325;g18c2dfd82a6_0_7"/>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326" name="Google Shape;326;g18c2dfd82a6_0_7"/>
          <p:cNvSpPr txBox="1"/>
          <p:nvPr/>
        </p:nvSpPr>
        <p:spPr>
          <a:xfrm>
            <a:off x="1827750" y="1555800"/>
            <a:ext cx="5488500" cy="20319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s" sz="1600">
                <a:solidFill>
                  <a:srgbClr val="556271"/>
                </a:solidFill>
              </a:rPr>
              <a:t>Si ahora pensamos con el paradigma de objetos, el auto va a tener variables internas (atributos) que guarden su forma y posición. Además, el auto tendrá funciones internas (métodos) que describen su movimiento. Entonces:</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Inicializar auto (darle sus valores iniciales) -&gt; auto mover() </a:t>
            </a:r>
            <a:endParaRPr sz="1600">
              <a:solidFill>
                <a:srgbClr val="55627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cxnSp>
        <p:nvCxnSpPr>
          <p:cNvPr id="331" name="Google Shape;331;g18c2dfd82a6_0_16"/>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32" name="Google Shape;332;g18c2dfd82a6_0_16"/>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33" name="Google Shape;333;g18c2dfd82a6_0_16"/>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334" name="Google Shape;334;g18c2dfd82a6_0_16"/>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335" name="Google Shape;335;g18c2dfd82a6_0_16"/>
          <p:cNvSpPr txBox="1"/>
          <p:nvPr/>
        </p:nvSpPr>
        <p:spPr>
          <a:xfrm>
            <a:off x="927300" y="1555800"/>
            <a:ext cx="7289400" cy="2031900"/>
          </a:xfrm>
          <a:prstGeom prst="rect">
            <a:avLst/>
          </a:prstGeom>
          <a:noFill/>
          <a:ln>
            <a:noFill/>
          </a:ln>
        </p:spPr>
        <p:txBody>
          <a:bodyPr anchorCtr="0" anchor="t" bIns="91425" lIns="91425" spcFirstLastPara="1" rIns="91425" wrap="square" tIns="91425">
            <a:spAutoFit/>
          </a:bodyPr>
          <a:lstStyle/>
          <a:p>
            <a:pPr indent="-330200" lvl="0" marL="457200" rtl="0" algn="l">
              <a:lnSpc>
                <a:spcPct val="130000"/>
              </a:lnSpc>
              <a:spcBef>
                <a:spcPts val="0"/>
              </a:spcBef>
              <a:spcAft>
                <a:spcPts val="0"/>
              </a:spcAft>
              <a:buClr>
                <a:srgbClr val="556271"/>
              </a:buClr>
              <a:buSzPts val="1600"/>
              <a:buChar char="●"/>
            </a:pPr>
            <a:r>
              <a:rPr lang="es" sz="1600">
                <a:solidFill>
                  <a:srgbClr val="556271"/>
                </a:solidFill>
              </a:rPr>
              <a:t>Métodos -&gt; Funciones internas del objeto</a:t>
            </a:r>
            <a:endParaRPr sz="1600">
              <a:solidFill>
                <a:srgbClr val="556271"/>
              </a:solidFill>
            </a:endParaRPr>
          </a:p>
          <a:p>
            <a:pPr indent="-330200" lvl="0" marL="457200" rtl="0" algn="l">
              <a:lnSpc>
                <a:spcPct val="130000"/>
              </a:lnSpc>
              <a:spcBef>
                <a:spcPts val="0"/>
              </a:spcBef>
              <a:spcAft>
                <a:spcPts val="0"/>
              </a:spcAft>
              <a:buClr>
                <a:srgbClr val="556271"/>
              </a:buClr>
              <a:buSzPts val="1600"/>
              <a:buChar char="●"/>
            </a:pPr>
            <a:r>
              <a:rPr lang="es" sz="1600">
                <a:solidFill>
                  <a:srgbClr val="556271"/>
                </a:solidFill>
              </a:rPr>
              <a:t>Atributos -&gt; Variables internas del objeto</a:t>
            </a:r>
            <a:endParaRPr sz="1600">
              <a:solidFill>
                <a:srgbClr val="556271"/>
              </a:solidFill>
            </a:endParaRPr>
          </a:p>
          <a:p>
            <a:pPr indent="-330200" lvl="0" marL="457200" rtl="0" algn="l">
              <a:lnSpc>
                <a:spcPct val="130000"/>
              </a:lnSpc>
              <a:spcBef>
                <a:spcPts val="0"/>
              </a:spcBef>
              <a:spcAft>
                <a:spcPts val="0"/>
              </a:spcAft>
              <a:buClr>
                <a:srgbClr val="556271"/>
              </a:buClr>
              <a:buSzPts val="1600"/>
              <a:buChar char="●"/>
            </a:pPr>
            <a:r>
              <a:rPr lang="es" sz="1600">
                <a:solidFill>
                  <a:srgbClr val="556271"/>
                </a:solidFill>
              </a:rPr>
              <a:t>Constructor -&gt; </a:t>
            </a:r>
            <a:r>
              <a:rPr lang="es" sz="1600">
                <a:solidFill>
                  <a:srgbClr val="556271"/>
                </a:solidFill>
              </a:rPr>
              <a:t>Función</a:t>
            </a:r>
            <a:r>
              <a:rPr lang="es" sz="1600">
                <a:solidFill>
                  <a:srgbClr val="556271"/>
                </a:solidFill>
              </a:rPr>
              <a:t> interna usada para inicializar los datos del objeto</a:t>
            </a:r>
            <a:endParaRPr sz="1600">
              <a:solidFill>
                <a:srgbClr val="556271"/>
              </a:solidFill>
            </a:endParaRPr>
          </a:p>
          <a:p>
            <a:pPr indent="-330200" lvl="0" marL="457200" rtl="0" algn="l">
              <a:lnSpc>
                <a:spcPct val="130000"/>
              </a:lnSpc>
              <a:spcBef>
                <a:spcPts val="0"/>
              </a:spcBef>
              <a:spcAft>
                <a:spcPts val="0"/>
              </a:spcAft>
              <a:buClr>
                <a:srgbClr val="556271"/>
              </a:buClr>
              <a:buSzPts val="1600"/>
              <a:buChar char="●"/>
            </a:pPr>
            <a:r>
              <a:rPr lang="es" sz="1600">
                <a:solidFill>
                  <a:srgbClr val="556271"/>
                </a:solidFill>
              </a:rPr>
              <a:t>Clase -&gt; Conjunto de objetos del mismo tipo</a:t>
            </a:r>
            <a:endParaRPr sz="1600">
              <a:solidFill>
                <a:srgbClr val="556271"/>
              </a:solidFill>
            </a:endParaRPr>
          </a:p>
          <a:p>
            <a:pPr indent="-330200" lvl="0" marL="457200" rtl="0" algn="l">
              <a:lnSpc>
                <a:spcPct val="130000"/>
              </a:lnSpc>
              <a:spcBef>
                <a:spcPts val="0"/>
              </a:spcBef>
              <a:spcAft>
                <a:spcPts val="0"/>
              </a:spcAft>
              <a:buClr>
                <a:srgbClr val="556271"/>
              </a:buClr>
              <a:buSzPts val="1600"/>
              <a:buChar char="●"/>
            </a:pPr>
            <a:r>
              <a:rPr lang="es" sz="1600">
                <a:solidFill>
                  <a:srgbClr val="556271"/>
                </a:solidFill>
              </a:rPr>
              <a:t>this -&gt; palabra reservada usada para </a:t>
            </a:r>
            <a:r>
              <a:rPr lang="es" sz="1600">
                <a:solidFill>
                  <a:srgbClr val="556271"/>
                </a:solidFill>
              </a:rPr>
              <a:t>autoreferenciar</a:t>
            </a:r>
            <a:r>
              <a:rPr lang="es" sz="1600">
                <a:solidFill>
                  <a:srgbClr val="556271"/>
                </a:solidFill>
              </a:rPr>
              <a:t> el objeto</a:t>
            </a:r>
            <a:endParaRPr sz="1600">
              <a:solidFill>
                <a:srgbClr val="556271"/>
              </a:solidFill>
            </a:endParaRPr>
          </a:p>
          <a:p>
            <a:pPr indent="-330200" lvl="0" marL="457200" rtl="0" algn="l">
              <a:lnSpc>
                <a:spcPct val="130000"/>
              </a:lnSpc>
              <a:spcBef>
                <a:spcPts val="0"/>
              </a:spcBef>
              <a:spcAft>
                <a:spcPts val="0"/>
              </a:spcAft>
              <a:buClr>
                <a:srgbClr val="556271"/>
              </a:buClr>
              <a:buSzPts val="1600"/>
              <a:buChar char="●"/>
            </a:pPr>
            <a:r>
              <a:rPr lang="es" sz="1600">
                <a:solidFill>
                  <a:srgbClr val="556271"/>
                </a:solidFill>
              </a:rPr>
              <a:t>new -&gt; palabra reservada para indicar constructor</a:t>
            </a:r>
            <a:endParaRPr sz="1600">
              <a:solidFill>
                <a:srgbClr val="55627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cxnSp>
        <p:nvCxnSpPr>
          <p:cNvPr id="340" name="Google Shape;340;g18c2dfd82a6_0_23"/>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41" name="Google Shape;341;g18c2dfd82a6_0_23"/>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42" name="Google Shape;342;g18c2dfd82a6_0_23"/>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343" name="Google Shape;343;g18c2dfd82a6_0_23"/>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344" name="Google Shape;344;g18c2dfd82a6_0_23"/>
          <p:cNvSpPr txBox="1"/>
          <p:nvPr/>
        </p:nvSpPr>
        <p:spPr>
          <a:xfrm>
            <a:off x="1827750" y="1206113"/>
            <a:ext cx="5488500" cy="10713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s" sz="1600">
                <a:solidFill>
                  <a:srgbClr val="556271"/>
                </a:solidFill>
              </a:rPr>
              <a:t>Para diagramar los diseños de nuestras clases (que van a contener las definiciones de nuestros objetos), existe el Unified Modeling Language o UML. </a:t>
            </a:r>
            <a:endParaRPr sz="1600">
              <a:solidFill>
                <a:srgbClr val="556271"/>
              </a:solidFill>
            </a:endParaRPr>
          </a:p>
        </p:txBody>
      </p:sp>
      <p:graphicFrame>
        <p:nvGraphicFramePr>
          <p:cNvPr id="345" name="Google Shape;345;g18c2dfd82a6_0_23"/>
          <p:cNvGraphicFramePr/>
          <p:nvPr/>
        </p:nvGraphicFramePr>
        <p:xfrm>
          <a:off x="2928938" y="2329875"/>
          <a:ext cx="3000000" cy="3000000"/>
        </p:xfrm>
        <a:graphic>
          <a:graphicData uri="http://schemas.openxmlformats.org/drawingml/2006/table">
            <a:tbl>
              <a:tblPr>
                <a:noFill/>
                <a:tableStyleId>{808606EF-C079-46D9-BFFD-9E5ABB7F76F6}</a:tableStyleId>
              </a:tblPr>
              <a:tblGrid>
                <a:gridCol w="3286125"/>
              </a:tblGrid>
              <a:tr h="12700">
                <a:tc>
                  <a:txBody>
                    <a:bodyPr/>
                    <a:lstStyle/>
                    <a:p>
                      <a:pPr indent="0" lvl="0" marL="0" rtl="0" algn="ctr">
                        <a:spcBef>
                          <a:spcPts val="0"/>
                        </a:spcBef>
                        <a:spcAft>
                          <a:spcPts val="0"/>
                        </a:spcAft>
                        <a:buNone/>
                      </a:pPr>
                      <a:r>
                        <a:rPr lang="es" sz="1600">
                          <a:solidFill>
                            <a:srgbClr val="556271"/>
                          </a:solidFill>
                        </a:rPr>
                        <a:t>nombre de la clase</a:t>
                      </a:r>
                      <a:endParaRPr sz="1600">
                        <a:solidFill>
                          <a:srgbClr val="556271"/>
                        </a:solidFill>
                      </a:endParaRPr>
                    </a:p>
                  </a:txBody>
                  <a:tcPr marT="63500" marB="63500" marR="63500" marL="63500"/>
                </a:tc>
              </a:tr>
              <a:tr h="330200">
                <a:tc>
                  <a:txBody>
                    <a:bodyPr/>
                    <a:lstStyle/>
                    <a:p>
                      <a:pPr indent="0" lvl="0" marL="0" rtl="0" algn="ctr">
                        <a:spcBef>
                          <a:spcPts val="0"/>
                        </a:spcBef>
                        <a:spcAft>
                          <a:spcPts val="0"/>
                        </a:spcAft>
                        <a:buNone/>
                      </a:pPr>
                      <a:r>
                        <a:rPr lang="es" sz="1600">
                          <a:solidFill>
                            <a:srgbClr val="556271"/>
                          </a:solidFill>
                        </a:rPr>
                        <a:t>(alcance) atributo:tipo</a:t>
                      </a:r>
                      <a:endParaRPr sz="1600">
                        <a:solidFill>
                          <a:srgbClr val="556271"/>
                        </a:solidFill>
                      </a:endParaRPr>
                    </a:p>
                  </a:txBody>
                  <a:tcPr marT="63500" marB="63500" marR="63500" marL="63500"/>
                </a:tc>
              </a:tr>
              <a:tr h="12700">
                <a:tc>
                  <a:txBody>
                    <a:bodyPr/>
                    <a:lstStyle/>
                    <a:p>
                      <a:pPr indent="0" lvl="0" marL="0" rtl="0" algn="ctr">
                        <a:spcBef>
                          <a:spcPts val="0"/>
                        </a:spcBef>
                        <a:spcAft>
                          <a:spcPts val="0"/>
                        </a:spcAft>
                        <a:buNone/>
                      </a:pPr>
                      <a:r>
                        <a:rPr lang="es" sz="1600">
                          <a:solidFill>
                            <a:srgbClr val="556271"/>
                          </a:solidFill>
                        </a:rPr>
                        <a:t>(alcance) métodos()</a:t>
                      </a:r>
                      <a:endParaRPr sz="1600">
                        <a:solidFill>
                          <a:srgbClr val="556271"/>
                        </a:solidFill>
                      </a:endParaRPr>
                    </a:p>
                  </a:txBody>
                  <a:tcPr marT="63500" marB="63500" marR="63500" marL="63500"/>
                </a:tc>
              </a:tr>
            </a:tbl>
          </a:graphicData>
        </a:graphic>
      </p:graphicFrame>
      <p:sp>
        <p:nvSpPr>
          <p:cNvPr id="346" name="Google Shape;346;g18c2dfd82a6_0_23"/>
          <p:cNvSpPr txBox="1"/>
          <p:nvPr/>
        </p:nvSpPr>
        <p:spPr>
          <a:xfrm>
            <a:off x="2864700" y="3506288"/>
            <a:ext cx="34146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s" sz="1600">
                <a:solidFill>
                  <a:srgbClr val="556271"/>
                </a:solidFill>
              </a:rPr>
              <a:t>Alcance: (+) es público (-) privado.</a:t>
            </a:r>
            <a:endParaRPr sz="12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cxnSp>
        <p:nvCxnSpPr>
          <p:cNvPr id="351" name="Google Shape;351;g18c2dfd82a6_0_30"/>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52" name="Google Shape;352;g18c2dfd82a6_0_30"/>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53" name="Google Shape;353;g18c2dfd82a6_0_30"/>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354" name="Google Shape;354;g18c2dfd82a6_0_30"/>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graphicFrame>
        <p:nvGraphicFramePr>
          <p:cNvPr id="355" name="Google Shape;355;g18c2dfd82a6_0_30"/>
          <p:cNvGraphicFramePr/>
          <p:nvPr/>
        </p:nvGraphicFramePr>
        <p:xfrm>
          <a:off x="1454725" y="1281113"/>
          <a:ext cx="3000000" cy="3000000"/>
        </p:xfrm>
        <a:graphic>
          <a:graphicData uri="http://schemas.openxmlformats.org/drawingml/2006/table">
            <a:tbl>
              <a:tblPr>
                <a:noFill/>
                <a:tableStyleId>{808606EF-C079-46D9-BFFD-9E5ABB7F76F6}</a:tableStyleId>
              </a:tblPr>
              <a:tblGrid>
                <a:gridCol w="1962150"/>
                <a:gridCol w="2208675"/>
                <a:gridCol w="2063700"/>
              </a:tblGrid>
              <a:tr h="12700">
                <a:tc>
                  <a:txBody>
                    <a:bodyPr/>
                    <a:lstStyle/>
                    <a:p>
                      <a:pPr indent="0" lvl="0" marL="0" marR="0" rtl="0" algn="l">
                        <a:lnSpc>
                          <a:spcPct val="130000"/>
                        </a:lnSpc>
                        <a:spcBef>
                          <a:spcPts val="0"/>
                        </a:spcBef>
                        <a:spcAft>
                          <a:spcPts val="0"/>
                        </a:spcAft>
                        <a:buNone/>
                      </a:pPr>
                      <a:r>
                        <a:rPr lang="es" sz="1600">
                          <a:solidFill>
                            <a:srgbClr val="556271"/>
                          </a:solidFill>
                        </a:rPr>
                        <a:t>EstadoHabitacion</a:t>
                      </a:r>
                      <a:endParaRPr sz="1600">
                        <a:solidFill>
                          <a:srgbClr val="556271"/>
                        </a:solidFill>
                      </a:endParaRPr>
                    </a:p>
                  </a:txBody>
                  <a:tcPr marT="63500" marB="63500" marR="63500" marL="63500"/>
                </a:tc>
                <a:tc>
                  <a:txBody>
                    <a:bodyPr/>
                    <a:lstStyle/>
                    <a:p>
                      <a:pPr indent="0" lvl="0" marL="0" marR="0" rtl="0" algn="l">
                        <a:lnSpc>
                          <a:spcPct val="130000"/>
                        </a:lnSpc>
                        <a:spcBef>
                          <a:spcPts val="0"/>
                        </a:spcBef>
                        <a:spcAft>
                          <a:spcPts val="0"/>
                        </a:spcAft>
                        <a:buNone/>
                      </a:pPr>
                      <a:r>
                        <a:rPr lang="es" sz="1600">
                          <a:solidFill>
                            <a:srgbClr val="556271"/>
                          </a:solidFill>
                        </a:rPr>
                        <a:t>Llaves</a:t>
                      </a:r>
                      <a:endParaRPr sz="1600">
                        <a:solidFill>
                          <a:srgbClr val="556271"/>
                        </a:solidFill>
                      </a:endParaRPr>
                    </a:p>
                  </a:txBody>
                  <a:tcPr marT="63500" marB="63500" marR="63500" marL="63500"/>
                </a:tc>
                <a:tc>
                  <a:txBody>
                    <a:bodyPr/>
                    <a:lstStyle/>
                    <a:p>
                      <a:pPr indent="0" lvl="0" marL="0" marR="0" rtl="0" algn="l">
                        <a:lnSpc>
                          <a:spcPct val="130000"/>
                        </a:lnSpc>
                        <a:spcBef>
                          <a:spcPts val="0"/>
                        </a:spcBef>
                        <a:spcAft>
                          <a:spcPts val="0"/>
                        </a:spcAft>
                        <a:buNone/>
                      </a:pPr>
                      <a:r>
                        <a:rPr lang="es" sz="1600">
                          <a:solidFill>
                            <a:srgbClr val="556271"/>
                          </a:solidFill>
                        </a:rPr>
                        <a:t>Interfaz</a:t>
                      </a:r>
                      <a:endParaRPr sz="1600">
                        <a:solidFill>
                          <a:srgbClr val="556271"/>
                        </a:solidFill>
                      </a:endParaRPr>
                    </a:p>
                  </a:txBody>
                  <a:tcPr marT="63500" marB="63500" marR="63500" marL="63500"/>
                </a:tc>
              </a:tr>
              <a:tr h="647700">
                <a:tc>
                  <a:txBody>
                    <a:bodyPr/>
                    <a:lstStyle/>
                    <a:p>
                      <a:pPr indent="0" lvl="0" marL="0" marR="0" rtl="0" algn="l">
                        <a:lnSpc>
                          <a:spcPct val="130000"/>
                        </a:lnSpc>
                        <a:spcBef>
                          <a:spcPts val="0"/>
                        </a:spcBef>
                        <a:spcAft>
                          <a:spcPts val="0"/>
                        </a:spcAft>
                        <a:buNone/>
                      </a:pPr>
                      <a:r>
                        <a:rPr lang="es" sz="1600">
                          <a:solidFill>
                            <a:srgbClr val="556271"/>
                          </a:solidFill>
                        </a:rPr>
                        <a:t>+humedad:float </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+temperatura:float </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+luminosidad:float </a:t>
                      </a:r>
                      <a:endParaRPr sz="1600">
                        <a:solidFill>
                          <a:srgbClr val="556271"/>
                        </a:solidFill>
                      </a:endParaRPr>
                    </a:p>
                  </a:txBody>
                  <a:tcPr marT="63500" marB="63500" marR="63500" marL="63500"/>
                </a:tc>
                <a:tc>
                  <a:txBody>
                    <a:bodyPr/>
                    <a:lstStyle/>
                    <a:p>
                      <a:pPr indent="0" lvl="0" marL="0" marR="0" rtl="0" algn="l">
                        <a:lnSpc>
                          <a:spcPct val="130000"/>
                        </a:lnSpc>
                        <a:spcBef>
                          <a:spcPts val="0"/>
                        </a:spcBef>
                        <a:spcAft>
                          <a:spcPts val="0"/>
                        </a:spcAft>
                        <a:buNone/>
                      </a:pPr>
                      <a:r>
                        <a:rPr lang="es" sz="1600">
                          <a:solidFill>
                            <a:srgbClr val="556271"/>
                          </a:solidFill>
                        </a:rPr>
                        <a:t>+abiertoVelador: bool </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+abiertoAire: bool </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+abiertoZapatilla: bool </a:t>
                      </a:r>
                      <a:endParaRPr sz="1600">
                        <a:solidFill>
                          <a:srgbClr val="556271"/>
                        </a:solidFill>
                      </a:endParaRPr>
                    </a:p>
                  </a:txBody>
                  <a:tcPr marT="63500" marB="63500" marR="63500" marL="63500"/>
                </a:tc>
                <a:tc>
                  <a:txBody>
                    <a:bodyPr/>
                    <a:lstStyle/>
                    <a:p>
                      <a:pPr indent="0" lvl="0" marL="0" marR="0" rtl="0" algn="l">
                        <a:lnSpc>
                          <a:spcPct val="130000"/>
                        </a:lnSpc>
                        <a:spcBef>
                          <a:spcPts val="0"/>
                        </a:spcBef>
                        <a:spcAft>
                          <a:spcPts val="0"/>
                        </a:spcAft>
                        <a:buNone/>
                      </a:pPr>
                      <a:r>
                        <a:rPr lang="es" sz="1600">
                          <a:solidFill>
                            <a:srgbClr val="556271"/>
                          </a:solidFill>
                        </a:rPr>
                        <a:t>+opción:bool</a:t>
                      </a:r>
                      <a:endParaRPr sz="1600">
                        <a:solidFill>
                          <a:srgbClr val="556271"/>
                        </a:solidFill>
                      </a:endParaRPr>
                    </a:p>
                  </a:txBody>
                  <a:tcPr marT="63500" marB="63500" marR="63500" marL="63500"/>
                </a:tc>
              </a:tr>
              <a:tr h="1003300">
                <a:tc>
                  <a:txBody>
                    <a:bodyPr/>
                    <a:lstStyle/>
                    <a:p>
                      <a:pPr indent="0" lvl="0" marL="0" marR="0" rtl="0" algn="l">
                        <a:lnSpc>
                          <a:spcPct val="130000"/>
                        </a:lnSpc>
                        <a:spcBef>
                          <a:spcPts val="0"/>
                        </a:spcBef>
                        <a:spcAft>
                          <a:spcPts val="0"/>
                        </a:spcAft>
                        <a:buNone/>
                      </a:pPr>
                      <a:r>
                        <a:rPr lang="es" sz="1600">
                          <a:solidFill>
                            <a:srgbClr val="556271"/>
                          </a:solidFill>
                        </a:rPr>
                        <a:t>+getHumedad()</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+getTemperatura()</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+getLuminosidad()</a:t>
                      </a:r>
                      <a:endParaRPr sz="1600">
                        <a:solidFill>
                          <a:srgbClr val="556271"/>
                        </a:solidFill>
                      </a:endParaRPr>
                    </a:p>
                  </a:txBody>
                  <a:tcPr marT="63500" marB="63500" marR="63500" marL="63500"/>
                </a:tc>
                <a:tc>
                  <a:txBody>
                    <a:bodyPr/>
                    <a:lstStyle/>
                    <a:p>
                      <a:pPr indent="0" lvl="0" marL="0" marR="0" rtl="0" algn="l">
                        <a:lnSpc>
                          <a:spcPct val="130000"/>
                        </a:lnSpc>
                        <a:spcBef>
                          <a:spcPts val="0"/>
                        </a:spcBef>
                        <a:spcAft>
                          <a:spcPts val="0"/>
                        </a:spcAft>
                        <a:buNone/>
                      </a:pPr>
                      <a:r>
                        <a:rPr lang="es" sz="1600">
                          <a:solidFill>
                            <a:srgbClr val="556271"/>
                          </a:solidFill>
                        </a:rPr>
                        <a:t>+switchVelador()</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+switchAire()</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+switchZapatilla()</a:t>
                      </a:r>
                      <a:endParaRPr sz="1600">
                        <a:solidFill>
                          <a:srgbClr val="556271"/>
                        </a:solidFill>
                      </a:endParaRPr>
                    </a:p>
                  </a:txBody>
                  <a:tcPr marT="63500" marB="63500" marR="63500" marL="63500"/>
                </a:tc>
                <a:tc>
                  <a:txBody>
                    <a:bodyPr/>
                    <a:lstStyle/>
                    <a:p>
                      <a:pPr indent="0" lvl="0" marL="0" marR="0" rtl="0" algn="l">
                        <a:lnSpc>
                          <a:spcPct val="130000"/>
                        </a:lnSpc>
                        <a:spcBef>
                          <a:spcPts val="0"/>
                        </a:spcBef>
                        <a:spcAft>
                          <a:spcPts val="0"/>
                        </a:spcAft>
                        <a:buNone/>
                      </a:pPr>
                      <a:r>
                        <a:rPr lang="es" sz="1600">
                          <a:solidFill>
                            <a:srgbClr val="556271"/>
                          </a:solidFill>
                        </a:rPr>
                        <a:t>+mostrarOpciones()</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+getOpcion()</a:t>
                      </a:r>
                      <a:endParaRPr sz="1600">
                        <a:solidFill>
                          <a:srgbClr val="556271"/>
                        </a:solidFill>
                      </a:endParaRPr>
                    </a:p>
                  </a:txBody>
                  <a:tcPr marT="63500" marB="63500" marR="63500" marL="6350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cxnSp>
        <p:nvCxnSpPr>
          <p:cNvPr id="360" name="Google Shape;360;g18c2dfd82a6_0_37"/>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61" name="Google Shape;361;g18c2dfd82a6_0_37"/>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62" name="Google Shape;362;g18c2dfd82a6_0_37"/>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363" name="Google Shape;363;g18c2dfd82a6_0_37"/>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364" name="Google Shape;364;g18c2dfd82a6_0_37"/>
          <p:cNvSpPr txBox="1"/>
          <p:nvPr/>
        </p:nvSpPr>
        <p:spPr>
          <a:xfrm>
            <a:off x="635400" y="1235700"/>
            <a:ext cx="7873200" cy="26721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None/>
            </a:pPr>
            <a:r>
              <a:rPr lang="es" sz="1600">
                <a:solidFill>
                  <a:srgbClr val="556271"/>
                </a:solidFill>
              </a:rPr>
              <a:t>Definición de una clase: Para definir una clase, utilizamos la palabra reservada “class” seguido del nombre de nuestra clase. Esto se hace en un archivo distinto a donde tendremos nuestro proceso principal, aunque esto no es necesario.</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alcance class nombreClase{</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	Propiedades;</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	constructor(); </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	métodos();</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a:t>
            </a:r>
            <a:endParaRPr sz="12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cxnSp>
        <p:nvCxnSpPr>
          <p:cNvPr id="369" name="Google Shape;369;g18c2dfd82a6_0_44"/>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70" name="Google Shape;370;g18c2dfd82a6_0_44"/>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71" name="Google Shape;371;g18c2dfd82a6_0_44"/>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372" name="Google Shape;372;g18c2dfd82a6_0_44"/>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373" name="Google Shape;373;g18c2dfd82a6_0_44"/>
          <p:cNvSpPr txBox="1"/>
          <p:nvPr/>
        </p:nvSpPr>
        <p:spPr>
          <a:xfrm>
            <a:off x="742800" y="1395750"/>
            <a:ext cx="7658400" cy="23520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None/>
            </a:pPr>
            <a:r>
              <a:rPr lang="es" sz="1600">
                <a:solidFill>
                  <a:srgbClr val="556271"/>
                </a:solidFill>
              </a:rPr>
              <a:t>Constructor: Es una función homónima a la clase que permite inicializar a un objeto de la clase con valores dinámicos que pueden ser ingresados por el usuario o por un algoritmo. En caso de no tener variables a inicializar, el constructor debe estar igual.</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nombreClase(variables){</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	Inicialización de variables;</a:t>
            </a:r>
            <a:endParaRPr sz="1600">
              <a:solidFill>
                <a:srgbClr val="556271"/>
              </a:solidFill>
            </a:endParaRPr>
          </a:p>
          <a:p>
            <a:pPr indent="0" lvl="0" marL="0" marR="0" rtl="0" algn="l">
              <a:lnSpc>
                <a:spcPct val="130000"/>
              </a:lnSpc>
              <a:spcBef>
                <a:spcPts val="0"/>
              </a:spcBef>
              <a:spcAft>
                <a:spcPts val="0"/>
              </a:spcAft>
              <a:buNone/>
            </a:pPr>
            <a:r>
              <a:rPr lang="es" sz="1600">
                <a:solidFill>
                  <a:srgbClr val="556271"/>
                </a:solidFill>
              </a:rPr>
              <a:t>}</a:t>
            </a:r>
            <a:endParaRPr sz="1600">
              <a:solidFill>
                <a:srgbClr val="55627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cxnSp>
        <p:nvCxnSpPr>
          <p:cNvPr id="378" name="Google Shape;378;g18c2dfd82a6_0_65"/>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79" name="Google Shape;379;g18c2dfd82a6_0_65"/>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80" name="Google Shape;380;g18c2dfd82a6_0_65"/>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381" name="Google Shape;381;g18c2dfd82a6_0_65"/>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382" name="Google Shape;382;g18c2dfd82a6_0_65"/>
          <p:cNvSpPr txBox="1"/>
          <p:nvPr/>
        </p:nvSpPr>
        <p:spPr>
          <a:xfrm>
            <a:off x="1455450" y="1075650"/>
            <a:ext cx="6233100" cy="29922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Clr>
                <a:schemeClr val="dk1"/>
              </a:buClr>
              <a:buSzPts val="1100"/>
              <a:buFont typeface="Arial"/>
              <a:buNone/>
            </a:pPr>
            <a:r>
              <a:rPr lang="es" sz="1600">
                <a:solidFill>
                  <a:srgbClr val="556271"/>
                </a:solidFill>
              </a:rPr>
              <a:t>public class estadoHabitacion(){</a:t>
            </a:r>
            <a:endParaRPr sz="1600">
              <a:solidFill>
                <a:srgbClr val="556271"/>
              </a:solidFill>
            </a:endParaRPr>
          </a:p>
          <a:p>
            <a:pPr indent="0" lvl="0" marL="0" rtl="0" algn="l">
              <a:lnSpc>
                <a:spcPct val="130000"/>
              </a:lnSpc>
              <a:spcBef>
                <a:spcPts val="0"/>
              </a:spcBef>
              <a:spcAft>
                <a:spcPts val="0"/>
              </a:spcAft>
              <a:buClr>
                <a:schemeClr val="dk1"/>
              </a:buClr>
              <a:buSzPts val="1100"/>
              <a:buFont typeface="Arial"/>
              <a:buNone/>
            </a:pPr>
            <a:r>
              <a:rPr lang="es" sz="1600">
                <a:solidFill>
                  <a:srgbClr val="556271"/>
                </a:solidFill>
              </a:rPr>
              <a:t>     float humedad;</a:t>
            </a:r>
            <a:endParaRPr sz="1600">
              <a:solidFill>
                <a:srgbClr val="556271"/>
              </a:solidFill>
            </a:endParaRPr>
          </a:p>
          <a:p>
            <a:pPr indent="0" lvl="0" marL="0" rtl="0" algn="l">
              <a:lnSpc>
                <a:spcPct val="130000"/>
              </a:lnSpc>
              <a:spcBef>
                <a:spcPts val="0"/>
              </a:spcBef>
              <a:spcAft>
                <a:spcPts val="0"/>
              </a:spcAft>
              <a:buClr>
                <a:schemeClr val="dk1"/>
              </a:buClr>
              <a:buSzPts val="1100"/>
              <a:buFont typeface="Arial"/>
              <a:buNone/>
            </a:pPr>
            <a:r>
              <a:rPr lang="es" sz="1600">
                <a:solidFill>
                  <a:srgbClr val="556271"/>
                </a:solidFill>
              </a:rPr>
              <a:t>     float temperatura;</a:t>
            </a:r>
            <a:endParaRPr sz="1600">
              <a:solidFill>
                <a:srgbClr val="556271"/>
              </a:solidFill>
            </a:endParaRPr>
          </a:p>
          <a:p>
            <a:pPr indent="0" lvl="0" marL="0" rtl="0" algn="l">
              <a:lnSpc>
                <a:spcPct val="130000"/>
              </a:lnSpc>
              <a:spcBef>
                <a:spcPts val="0"/>
              </a:spcBef>
              <a:spcAft>
                <a:spcPts val="0"/>
              </a:spcAft>
              <a:buClr>
                <a:schemeClr val="dk1"/>
              </a:buClr>
              <a:buSzPts val="1100"/>
              <a:buFont typeface="Arial"/>
              <a:buNone/>
            </a:pPr>
            <a:r>
              <a:rPr lang="es" sz="1600">
                <a:solidFill>
                  <a:srgbClr val="556271"/>
                </a:solidFill>
              </a:rPr>
              <a:t>     estadoHabitacion(float humedadInicial, float temperaturaInicial){</a:t>
            </a:r>
            <a:endParaRPr sz="1600">
              <a:solidFill>
                <a:srgbClr val="556271"/>
              </a:solidFill>
            </a:endParaRPr>
          </a:p>
          <a:p>
            <a:pPr indent="0" lvl="0" marL="0" rtl="0" algn="l">
              <a:lnSpc>
                <a:spcPct val="130000"/>
              </a:lnSpc>
              <a:spcBef>
                <a:spcPts val="0"/>
              </a:spcBef>
              <a:spcAft>
                <a:spcPts val="0"/>
              </a:spcAft>
              <a:buClr>
                <a:schemeClr val="dk1"/>
              </a:buClr>
              <a:buSzPts val="1100"/>
              <a:buFont typeface="Arial"/>
              <a:buNone/>
            </a:pPr>
            <a:r>
              <a:rPr lang="es" sz="1600">
                <a:solidFill>
                  <a:srgbClr val="556271"/>
                </a:solidFill>
              </a:rPr>
              <a:t>            humedad = humedadInicial;</a:t>
            </a:r>
            <a:endParaRPr sz="1600">
              <a:solidFill>
                <a:srgbClr val="556271"/>
              </a:solidFill>
            </a:endParaRPr>
          </a:p>
          <a:p>
            <a:pPr indent="0" lvl="0" marL="0" rtl="0" algn="l">
              <a:lnSpc>
                <a:spcPct val="130000"/>
              </a:lnSpc>
              <a:spcBef>
                <a:spcPts val="0"/>
              </a:spcBef>
              <a:spcAft>
                <a:spcPts val="0"/>
              </a:spcAft>
              <a:buClr>
                <a:schemeClr val="dk1"/>
              </a:buClr>
              <a:buSzPts val="1100"/>
              <a:buFont typeface="Arial"/>
              <a:buNone/>
            </a:pPr>
            <a:r>
              <a:rPr lang="es" sz="1600">
                <a:solidFill>
                  <a:srgbClr val="556271"/>
                </a:solidFill>
              </a:rPr>
              <a:t>            temperatura = temperaturaInicial;</a:t>
            </a:r>
            <a:endParaRPr sz="1600">
              <a:solidFill>
                <a:srgbClr val="556271"/>
              </a:solidFill>
            </a:endParaRPr>
          </a:p>
          <a:p>
            <a:pPr indent="0" lvl="0" marL="0" rtl="0" algn="l">
              <a:lnSpc>
                <a:spcPct val="130000"/>
              </a:lnSpc>
              <a:spcBef>
                <a:spcPts val="0"/>
              </a:spcBef>
              <a:spcAft>
                <a:spcPts val="0"/>
              </a:spcAft>
              <a:buClr>
                <a:schemeClr val="dk1"/>
              </a:buClr>
              <a:buSzPts val="1100"/>
              <a:buFont typeface="Arial"/>
              <a:buNone/>
            </a:pPr>
            <a:r>
              <a:rPr lang="es" sz="1600">
                <a:solidFill>
                  <a:srgbClr val="556271"/>
                </a:solidFill>
              </a:rPr>
              <a:t>}</a:t>
            </a:r>
            <a:endParaRPr sz="1600">
              <a:solidFill>
                <a:srgbClr val="556271"/>
              </a:solidFill>
            </a:endParaRPr>
          </a:p>
          <a:p>
            <a:pPr indent="0" lvl="0" marL="0" rtl="0" algn="l">
              <a:lnSpc>
                <a:spcPct val="130000"/>
              </a:lnSpc>
              <a:spcBef>
                <a:spcPts val="0"/>
              </a:spcBef>
              <a:spcAft>
                <a:spcPts val="0"/>
              </a:spcAft>
              <a:buClr>
                <a:schemeClr val="dk1"/>
              </a:buClr>
              <a:buSzPts val="1100"/>
              <a:buFont typeface="Arial"/>
              <a:buNone/>
            </a:pPr>
            <a:r>
              <a:rPr lang="es" sz="1600">
                <a:solidFill>
                  <a:srgbClr val="556271"/>
                </a:solidFill>
              </a:rPr>
              <a:t>float getHumedad(){ return humedad; }</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float getTemperatura(){ return temperatura;}</a:t>
            </a:r>
            <a:endParaRPr sz="1600">
              <a:solidFill>
                <a:srgbClr val="55627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cxnSp>
        <p:nvCxnSpPr>
          <p:cNvPr id="387" name="Google Shape;387;g18c2dfd82a6_0_72"/>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88" name="Google Shape;388;g18c2dfd82a6_0_72"/>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89" name="Google Shape;389;g18c2dfd82a6_0_72"/>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390" name="Google Shape;390;g18c2dfd82a6_0_72"/>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391" name="Google Shape;391;g18c2dfd82a6_0_72"/>
          <p:cNvSpPr txBox="1"/>
          <p:nvPr/>
        </p:nvSpPr>
        <p:spPr>
          <a:xfrm>
            <a:off x="1455450" y="1395750"/>
            <a:ext cx="6233100" cy="23520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s" sz="1600">
                <a:solidFill>
                  <a:srgbClr val="556271"/>
                </a:solidFill>
              </a:rPr>
              <a:t>Definición de un objeto: Para definir un objeto, lo haremos como sí esté fuera una variable más, es decir, utilizamos la mismas secuencia.</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nombreClase nombreDeVariable;</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Por ejemplo:</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estadoHabitacion estado; (ya que el objeto estado es del tipo estadoHabitacion).</a:t>
            </a:r>
            <a:endParaRPr sz="1600">
              <a:solidFill>
                <a:srgbClr val="55627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cxnSp>
        <p:nvCxnSpPr>
          <p:cNvPr id="396" name="Google Shape;396;g18c2dfd82a6_0_79"/>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97" name="Google Shape;397;g18c2dfd82a6_0_79"/>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98" name="Google Shape;398;g18c2dfd82a6_0_79"/>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399" name="Google Shape;399;g18c2dfd82a6_0_79"/>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400" name="Google Shape;400;g18c2dfd82a6_0_79"/>
          <p:cNvSpPr txBox="1"/>
          <p:nvPr/>
        </p:nvSpPr>
        <p:spPr>
          <a:xfrm>
            <a:off x="578550" y="1876050"/>
            <a:ext cx="7986900" cy="13914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s" sz="1600">
                <a:solidFill>
                  <a:srgbClr val="556271"/>
                </a:solidFill>
              </a:rPr>
              <a:t>Luego debemos inicializar el objeto, en caso de que haya constructor, debemos pasarle los valores iniciales.</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Por ejemplo:</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estado = new estadoHabitacion(10.0,11.6);</a:t>
            </a:r>
            <a:endParaRPr sz="1600">
              <a:solidFill>
                <a:srgbClr val="55627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cxnSp>
        <p:nvCxnSpPr>
          <p:cNvPr id="405" name="Google Shape;405;g18c2dfd82a6_0_86"/>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406" name="Google Shape;406;g18c2dfd82a6_0_86"/>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407" name="Google Shape;407;g18c2dfd82a6_0_86"/>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408" name="Google Shape;408;g18c2dfd82a6_0_86"/>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409" name="Google Shape;409;g18c2dfd82a6_0_86"/>
          <p:cNvSpPr txBox="1"/>
          <p:nvPr/>
        </p:nvSpPr>
        <p:spPr>
          <a:xfrm>
            <a:off x="540600" y="1555800"/>
            <a:ext cx="8062800" cy="20319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s" sz="1600">
                <a:solidFill>
                  <a:srgbClr val="556271"/>
                </a:solidFill>
              </a:rPr>
              <a:t>Instanciación: Para utilizar una propiedad o método de la clase, debemos hacer un llamado a la misma desde un objeto perteneciente a la clase. Esto se hará a través de un operador llamado puntero que se representa con el “.”.</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Por ejemplo: </a:t>
            </a:r>
            <a:endParaRPr sz="1600">
              <a:solidFill>
                <a:srgbClr val="556271"/>
              </a:solidFill>
            </a:endParaRPr>
          </a:p>
          <a:p>
            <a:pPr indent="0" lvl="0" marL="0" rtl="0" algn="l">
              <a:lnSpc>
                <a:spcPct val="130000"/>
              </a:lnSpc>
              <a:spcBef>
                <a:spcPts val="0"/>
              </a:spcBef>
              <a:spcAft>
                <a:spcPts val="0"/>
              </a:spcAft>
              <a:buNone/>
            </a:pPr>
            <a:r>
              <a:rPr lang="es" sz="1600">
                <a:solidFill>
                  <a:srgbClr val="556271"/>
                </a:solidFill>
              </a:rPr>
              <a:t>float temperatura = estado.getTemperatura(); (usamos la función getTemperatura de la clase estadoHabitacion).</a:t>
            </a:r>
            <a:endParaRPr sz="1600">
              <a:solidFill>
                <a:srgbClr val="55627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cxnSp>
        <p:nvCxnSpPr>
          <p:cNvPr id="414" name="Google Shape;414;g18c2dfd82a6_0_93"/>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415" name="Google Shape;415;g18c2dfd82a6_0_93"/>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416" name="Google Shape;416;g18c2dfd82a6_0_93"/>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El paradigma de objetos</a:t>
            </a:r>
            <a:endParaRPr b="1" i="0" sz="3000" u="none" cap="none" strike="noStrike">
              <a:solidFill>
                <a:srgbClr val="000000"/>
              </a:solidFill>
              <a:latin typeface="Arial"/>
              <a:ea typeface="Arial"/>
              <a:cs typeface="Arial"/>
              <a:sym typeface="Arial"/>
            </a:endParaRPr>
          </a:p>
        </p:txBody>
      </p:sp>
      <p:sp>
        <p:nvSpPr>
          <p:cNvPr id="417" name="Google Shape;417;g18c2dfd82a6_0_93"/>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s" sz="700">
                <a:solidFill>
                  <a:srgbClr val="556271"/>
                </a:solidFill>
              </a:rPr>
              <a:t>Interfaces Gráficas y Procesamiento de Datos  / Módulo 1 / Unidad 1  / Processing: Una poderosa herramienta gráfica y de procesamiento de datos </a:t>
            </a:r>
            <a:endParaRPr sz="700">
              <a:solidFill>
                <a:srgbClr val="556271"/>
              </a:solidFill>
            </a:endParaRPr>
          </a:p>
        </p:txBody>
      </p:sp>
      <p:sp>
        <p:nvSpPr>
          <p:cNvPr id="418" name="Google Shape;418;g18c2dfd82a6_0_93"/>
          <p:cNvSpPr/>
          <p:nvPr/>
        </p:nvSpPr>
        <p:spPr>
          <a:xfrm>
            <a:off x="4080164" y="1733040"/>
            <a:ext cx="1810500" cy="18081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Base de Control</a:t>
            </a:r>
            <a:endParaRPr sz="1600"/>
          </a:p>
        </p:txBody>
      </p:sp>
      <p:cxnSp>
        <p:nvCxnSpPr>
          <p:cNvPr id="419" name="Google Shape;419;g18c2dfd82a6_0_93"/>
          <p:cNvCxnSpPr>
            <a:stCxn id="418" idx="7"/>
            <a:endCxn id="420" idx="1"/>
          </p:cNvCxnSpPr>
          <p:nvPr/>
        </p:nvCxnSpPr>
        <p:spPr>
          <a:xfrm flipH="1" rot="10800000">
            <a:off x="5625522" y="1394530"/>
            <a:ext cx="591300" cy="603300"/>
          </a:xfrm>
          <a:prstGeom prst="straightConnector1">
            <a:avLst/>
          </a:prstGeom>
          <a:noFill/>
          <a:ln cap="flat" cmpd="sng" w="9525">
            <a:solidFill>
              <a:srgbClr val="595959"/>
            </a:solidFill>
            <a:prstDash val="solid"/>
            <a:round/>
            <a:headEnd len="med" w="med" type="none"/>
            <a:tailEnd len="med" w="med" type="triangle"/>
          </a:ln>
        </p:spPr>
      </p:cxnSp>
      <p:sp>
        <p:nvSpPr>
          <p:cNvPr id="420" name="Google Shape;420;g18c2dfd82a6_0_93"/>
          <p:cNvSpPr/>
          <p:nvPr/>
        </p:nvSpPr>
        <p:spPr>
          <a:xfrm>
            <a:off x="6216816" y="1212550"/>
            <a:ext cx="2356500" cy="3639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Comunicaciones</a:t>
            </a:r>
            <a:endParaRPr sz="1600"/>
          </a:p>
        </p:txBody>
      </p:sp>
      <p:cxnSp>
        <p:nvCxnSpPr>
          <p:cNvPr id="421" name="Google Shape;421;g18c2dfd82a6_0_93"/>
          <p:cNvCxnSpPr>
            <a:stCxn id="418" idx="1"/>
            <a:endCxn id="422" idx="3"/>
          </p:cNvCxnSpPr>
          <p:nvPr/>
        </p:nvCxnSpPr>
        <p:spPr>
          <a:xfrm rot="10800000">
            <a:off x="2980605" y="1621630"/>
            <a:ext cx="1364700" cy="376200"/>
          </a:xfrm>
          <a:prstGeom prst="straightConnector1">
            <a:avLst/>
          </a:prstGeom>
          <a:noFill/>
          <a:ln cap="flat" cmpd="sng" w="9525">
            <a:solidFill>
              <a:srgbClr val="595959"/>
            </a:solidFill>
            <a:prstDash val="solid"/>
            <a:round/>
            <a:headEnd len="med" w="med" type="none"/>
            <a:tailEnd len="med" w="med" type="triangle"/>
          </a:ln>
        </p:spPr>
      </p:cxnSp>
      <p:sp>
        <p:nvSpPr>
          <p:cNvPr id="422" name="Google Shape;422;g18c2dfd82a6_0_93"/>
          <p:cNvSpPr/>
          <p:nvPr/>
        </p:nvSpPr>
        <p:spPr>
          <a:xfrm>
            <a:off x="1170010" y="1378852"/>
            <a:ext cx="1810500" cy="485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Funcionalidades</a:t>
            </a:r>
            <a:endParaRPr sz="1600"/>
          </a:p>
        </p:txBody>
      </p:sp>
      <p:sp>
        <p:nvSpPr>
          <p:cNvPr id="423" name="Google Shape;423;g18c2dfd82a6_0_93"/>
          <p:cNvSpPr/>
          <p:nvPr/>
        </p:nvSpPr>
        <p:spPr>
          <a:xfrm>
            <a:off x="124285" y="2329049"/>
            <a:ext cx="1810500" cy="485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Modificar Estado de 6 leds</a:t>
            </a:r>
            <a:endParaRPr sz="1600"/>
          </a:p>
        </p:txBody>
      </p:sp>
      <p:sp>
        <p:nvSpPr>
          <p:cNvPr id="424" name="Google Shape;424;g18c2dfd82a6_0_93"/>
          <p:cNvSpPr/>
          <p:nvPr/>
        </p:nvSpPr>
        <p:spPr>
          <a:xfrm>
            <a:off x="4252202" y="4044238"/>
            <a:ext cx="1466400" cy="468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Interfaces</a:t>
            </a:r>
            <a:endParaRPr sz="1600"/>
          </a:p>
        </p:txBody>
      </p:sp>
      <p:cxnSp>
        <p:nvCxnSpPr>
          <p:cNvPr id="425" name="Google Shape;425;g18c2dfd82a6_0_93"/>
          <p:cNvCxnSpPr>
            <a:stCxn id="418" idx="4"/>
            <a:endCxn id="424" idx="0"/>
          </p:cNvCxnSpPr>
          <p:nvPr/>
        </p:nvCxnSpPr>
        <p:spPr>
          <a:xfrm>
            <a:off x="4985414" y="3541140"/>
            <a:ext cx="0" cy="503100"/>
          </a:xfrm>
          <a:prstGeom prst="straightConnector1">
            <a:avLst/>
          </a:prstGeom>
          <a:noFill/>
          <a:ln cap="flat" cmpd="sng" w="9525">
            <a:solidFill>
              <a:srgbClr val="595959"/>
            </a:solidFill>
            <a:prstDash val="solid"/>
            <a:round/>
            <a:headEnd len="med" w="med" type="none"/>
            <a:tailEnd len="med" w="med" type="triangle"/>
          </a:ln>
        </p:spPr>
      </p:cxnSp>
      <p:sp>
        <p:nvSpPr>
          <p:cNvPr id="426" name="Google Shape;426;g18c2dfd82a6_0_93"/>
          <p:cNvSpPr/>
          <p:nvPr/>
        </p:nvSpPr>
        <p:spPr>
          <a:xfrm>
            <a:off x="5974863" y="2270125"/>
            <a:ext cx="2079000" cy="416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Processing</a:t>
            </a:r>
            <a:endParaRPr sz="1600"/>
          </a:p>
        </p:txBody>
      </p:sp>
      <p:cxnSp>
        <p:nvCxnSpPr>
          <p:cNvPr id="427" name="Google Shape;427;g18c2dfd82a6_0_93"/>
          <p:cNvCxnSpPr>
            <a:stCxn id="424" idx="3"/>
            <a:endCxn id="426" idx="2"/>
          </p:cNvCxnSpPr>
          <p:nvPr/>
        </p:nvCxnSpPr>
        <p:spPr>
          <a:xfrm flipH="1" rot="10800000">
            <a:off x="5718602" y="2686288"/>
            <a:ext cx="1295700" cy="1592100"/>
          </a:xfrm>
          <a:prstGeom prst="straightConnector1">
            <a:avLst/>
          </a:prstGeom>
          <a:noFill/>
          <a:ln cap="flat" cmpd="sng" w="9525">
            <a:solidFill>
              <a:srgbClr val="595959"/>
            </a:solidFill>
            <a:prstDash val="solid"/>
            <a:round/>
            <a:headEnd len="med" w="med" type="none"/>
            <a:tailEnd len="med" w="med" type="triangle"/>
          </a:ln>
        </p:spPr>
      </p:cxnSp>
      <p:cxnSp>
        <p:nvCxnSpPr>
          <p:cNvPr id="428" name="Google Shape;428;g18c2dfd82a6_0_93"/>
          <p:cNvCxnSpPr>
            <a:stCxn id="422" idx="2"/>
            <a:endCxn id="423" idx="0"/>
          </p:cNvCxnSpPr>
          <p:nvPr/>
        </p:nvCxnSpPr>
        <p:spPr>
          <a:xfrm flipH="1">
            <a:off x="1029460" y="1864252"/>
            <a:ext cx="1045800" cy="464700"/>
          </a:xfrm>
          <a:prstGeom prst="straightConnector1">
            <a:avLst/>
          </a:prstGeom>
          <a:noFill/>
          <a:ln cap="flat" cmpd="sng" w="9525">
            <a:solidFill>
              <a:srgbClr val="595959"/>
            </a:solidFill>
            <a:prstDash val="solid"/>
            <a:round/>
            <a:headEnd len="med" w="med" type="none"/>
            <a:tailEnd len="med" w="med" type="triangle"/>
          </a:ln>
        </p:spPr>
      </p:cxnSp>
      <p:cxnSp>
        <p:nvCxnSpPr>
          <p:cNvPr id="429" name="Google Shape;429;g18c2dfd82a6_0_93"/>
          <p:cNvCxnSpPr>
            <a:stCxn id="423" idx="2"/>
            <a:endCxn id="424" idx="1"/>
          </p:cNvCxnSpPr>
          <p:nvPr/>
        </p:nvCxnSpPr>
        <p:spPr>
          <a:xfrm>
            <a:off x="1029535" y="2814449"/>
            <a:ext cx="3222600" cy="1464000"/>
          </a:xfrm>
          <a:prstGeom prst="straightConnector1">
            <a:avLst/>
          </a:prstGeom>
          <a:noFill/>
          <a:ln cap="flat" cmpd="sng" w="9525">
            <a:solidFill>
              <a:srgbClr val="595959"/>
            </a:solidFill>
            <a:prstDash val="solid"/>
            <a:round/>
            <a:headEnd len="med" w="med" type="none"/>
            <a:tailEnd len="med" w="med" type="triangle"/>
          </a:ln>
        </p:spPr>
      </p:cxnSp>
      <p:sp>
        <p:nvSpPr>
          <p:cNvPr id="430" name="Google Shape;430;g18c2dfd82a6_0_93"/>
          <p:cNvSpPr/>
          <p:nvPr/>
        </p:nvSpPr>
        <p:spPr>
          <a:xfrm>
            <a:off x="2102235" y="2329049"/>
            <a:ext cx="1810500" cy="485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Mostrar T y H</a:t>
            </a:r>
            <a:endParaRPr sz="1600"/>
          </a:p>
        </p:txBody>
      </p:sp>
      <p:cxnSp>
        <p:nvCxnSpPr>
          <p:cNvPr id="431" name="Google Shape;431;g18c2dfd82a6_0_93"/>
          <p:cNvCxnSpPr>
            <a:stCxn id="422" idx="2"/>
            <a:endCxn id="430" idx="0"/>
          </p:cNvCxnSpPr>
          <p:nvPr/>
        </p:nvCxnSpPr>
        <p:spPr>
          <a:xfrm>
            <a:off x="2075260" y="1864252"/>
            <a:ext cx="932100" cy="464700"/>
          </a:xfrm>
          <a:prstGeom prst="straightConnector1">
            <a:avLst/>
          </a:prstGeom>
          <a:noFill/>
          <a:ln cap="flat" cmpd="sng" w="9525">
            <a:solidFill>
              <a:schemeClr val="dk2"/>
            </a:solidFill>
            <a:prstDash val="solid"/>
            <a:round/>
            <a:headEnd len="med" w="med" type="none"/>
            <a:tailEnd len="med" w="med" type="triangle"/>
          </a:ln>
        </p:spPr>
      </p:cxnSp>
      <p:cxnSp>
        <p:nvCxnSpPr>
          <p:cNvPr id="432" name="Google Shape;432;g18c2dfd82a6_0_93"/>
          <p:cNvCxnSpPr>
            <a:stCxn id="430" idx="2"/>
            <a:endCxn id="424" idx="1"/>
          </p:cNvCxnSpPr>
          <p:nvPr/>
        </p:nvCxnSpPr>
        <p:spPr>
          <a:xfrm>
            <a:off x="3007485" y="2814449"/>
            <a:ext cx="1244700" cy="1464000"/>
          </a:xfrm>
          <a:prstGeom prst="straightConnector1">
            <a:avLst/>
          </a:prstGeom>
          <a:noFill/>
          <a:ln cap="flat" cmpd="sng" w="9525">
            <a:solidFill>
              <a:schemeClr val="dk2"/>
            </a:solidFill>
            <a:prstDash val="solid"/>
            <a:round/>
            <a:headEnd len="med" w="med" type="none"/>
            <a:tailEnd len="med" w="med" type="triangle"/>
          </a:ln>
        </p:spPr>
      </p:cxnSp>
      <p:cxnSp>
        <p:nvCxnSpPr>
          <p:cNvPr id="433" name="Google Shape;433;g18c2dfd82a6_0_93"/>
          <p:cNvCxnSpPr>
            <a:stCxn id="420" idx="2"/>
            <a:endCxn id="426" idx="0"/>
          </p:cNvCxnSpPr>
          <p:nvPr/>
        </p:nvCxnSpPr>
        <p:spPr>
          <a:xfrm flipH="1">
            <a:off x="7014366" y="1576450"/>
            <a:ext cx="380700" cy="693600"/>
          </a:xfrm>
          <a:prstGeom prst="straightConnector1">
            <a:avLst/>
          </a:prstGeom>
          <a:noFill/>
          <a:ln cap="flat" cmpd="sng" w="9525">
            <a:solidFill>
              <a:srgbClr val="595959"/>
            </a:solidFill>
            <a:prstDash val="solid"/>
            <a:round/>
            <a:headEnd len="med" w="med" type="non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12"/>
          <p:cNvPicPr preferRelativeResize="0"/>
          <p:nvPr/>
        </p:nvPicPr>
        <p:blipFill rotWithShape="1">
          <a:blip r:embed="rId3">
            <a:alphaModFix/>
          </a:blip>
          <a:srcRect b="10202" l="9" r="1028" t="6295"/>
          <a:stretch/>
        </p:blipFill>
        <p:spPr>
          <a:xfrm>
            <a:off x="0" y="0"/>
            <a:ext cx="9144000" cy="5143500"/>
          </a:xfrm>
          <a:prstGeom prst="rect">
            <a:avLst/>
          </a:prstGeom>
          <a:noFill/>
          <a:ln>
            <a:noFill/>
          </a:ln>
        </p:spPr>
      </p:pic>
      <p:sp>
        <p:nvSpPr>
          <p:cNvPr id="439" name="Google Shape;439;p12"/>
          <p:cNvSpPr/>
          <p:nvPr/>
        </p:nvSpPr>
        <p:spPr>
          <a:xfrm>
            <a:off x="-75" y="0"/>
            <a:ext cx="9144000" cy="5153100"/>
          </a:xfrm>
          <a:prstGeom prst="rect">
            <a:avLst/>
          </a:prstGeom>
          <a:solidFill>
            <a:srgbClr val="556271">
              <a:alpha val="5686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2"/>
          <p:cNvSpPr txBox="1"/>
          <p:nvPr>
            <p:ph idx="4294967295" type="ctrTitle"/>
          </p:nvPr>
        </p:nvSpPr>
        <p:spPr>
          <a:xfrm>
            <a:off x="5505750" y="261625"/>
            <a:ext cx="17142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2800"/>
              <a:buFont typeface="Arial"/>
              <a:buNone/>
            </a:pPr>
            <a:r>
              <a:rPr b="0" i="0" lang="es" sz="1000" u="none" cap="none" strike="noStrike">
                <a:solidFill>
                  <a:schemeClr val="lt1"/>
                </a:solidFill>
                <a:latin typeface="Arial"/>
                <a:ea typeface="Arial"/>
                <a:cs typeface="Arial"/>
                <a:sym typeface="Arial"/>
              </a:rPr>
              <a:t>Título de la presentación</a:t>
            </a:r>
            <a:endParaRPr b="0" i="0" sz="3000" u="none" cap="none" strike="noStrike">
              <a:solidFill>
                <a:schemeClr val="lt1"/>
              </a:solidFill>
              <a:latin typeface="Arial"/>
              <a:ea typeface="Arial"/>
              <a:cs typeface="Arial"/>
              <a:sym typeface="Arial"/>
            </a:endParaRPr>
          </a:p>
        </p:txBody>
      </p:sp>
      <p:cxnSp>
        <p:nvCxnSpPr>
          <p:cNvPr id="441" name="Google Shape;441;p12"/>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442" name="Google Shape;442;p12"/>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443" name="Google Shape;443;p12"/>
          <p:cNvSpPr txBox="1"/>
          <p:nvPr>
            <p:ph idx="4294967295" type="ctrTitle"/>
          </p:nvPr>
        </p:nvSpPr>
        <p:spPr>
          <a:xfrm>
            <a:off x="1086150" y="2041425"/>
            <a:ext cx="6814500" cy="817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s" sz="3600" u="none" cap="none" strike="noStrike">
                <a:solidFill>
                  <a:schemeClr val="lt1"/>
                </a:solidFill>
                <a:latin typeface="Arial"/>
                <a:ea typeface="Arial"/>
                <a:cs typeface="Arial"/>
                <a:sym typeface="Arial"/>
              </a:rPr>
              <a:t>¡Gracias!</a:t>
            </a:r>
            <a:endParaRPr b="1" i="0" sz="36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