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6">
          <p15:clr>
            <a:srgbClr val="9AA0A6"/>
          </p15:clr>
        </p15:guide>
        <p15:guide id="2" pos="737">
          <p15:clr>
            <a:srgbClr val="9AA0A6"/>
          </p15:clr>
        </p15:guide>
        <p15:guide id="3" pos="5587">
          <p15:clr>
            <a:srgbClr val="9AA0A6"/>
          </p15:clr>
        </p15:guide>
        <p15:guide id="4" orient="horz" pos="3084">
          <p15:clr>
            <a:srgbClr val="9AA0A6"/>
          </p15:clr>
        </p15:guide>
        <p15:guide id="5" orient="horz" pos="540">
          <p15:clr>
            <a:srgbClr val="9AA0A6"/>
          </p15:clr>
        </p15:guide>
      </p15:sldGuideLst>
    </p:ext>
    <p:ext uri="GoogleSlidesCustomDataVersion2">
      <go:slidesCustomData xmlns:go="http://customooxmlschemas.google.com/" r:id="rId26" roundtripDataSignature="AMtx7mhukVjMruiFMMxLNZxEgIVZS9oE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6" orient="horz"/>
        <p:guide pos="737"/>
        <p:guide pos="5587"/>
        <p:guide pos="3084" orient="horz"/>
        <p:guide pos="5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daa9a625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1daa9a625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de90c42b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7de90c42b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de90c42b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27de90c42b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de90c42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27de90c42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daa9a625f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1daa9a625f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fab142ac1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1fab142ac1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de90c42b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27de90c42b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c3648a13a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1c3648a13a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c3648a13a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1c3648a13a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c3648a13a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1c3648a13a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dcd01fe76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1dcd01fe76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c3648a13a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1c3648a13a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c3648a13a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1c3648a13a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7800" y="4643150"/>
            <a:ext cx="20955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7142" l="2735" r="6701" t="27251"/>
          <a:stretch/>
        </p:blipFill>
        <p:spPr>
          <a:xfrm>
            <a:off x="0" y="0"/>
            <a:ext cx="9144003" cy="441542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/>
          <p:nvPr/>
        </p:nvSpPr>
        <p:spPr>
          <a:xfrm>
            <a:off x="0" y="0"/>
            <a:ext cx="7429500" cy="4415425"/>
          </a:xfrm>
          <a:prstGeom prst="flowChartInputOutput">
            <a:avLst/>
          </a:prstGeom>
          <a:solidFill>
            <a:srgbClr val="BC182C">
              <a:alpha val="6235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>
            <p:ph type="ctrTitle"/>
          </p:nvPr>
        </p:nvSpPr>
        <p:spPr>
          <a:xfrm>
            <a:off x="1086150" y="1954075"/>
            <a:ext cx="54291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900">
                <a:solidFill>
                  <a:schemeClr val="lt1"/>
                </a:solidFill>
              </a:rPr>
              <a:t>Animación y periféricos: Conceptos y aplicaciones</a:t>
            </a:r>
            <a:endParaRPr b="1" sz="2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>
            <p:ph type="ctrTitle"/>
          </p:nvPr>
        </p:nvSpPr>
        <p:spPr>
          <a:xfrm>
            <a:off x="1093800" y="1575225"/>
            <a:ext cx="5340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u="sng">
                <a:solidFill>
                  <a:schemeClr val="lt1"/>
                </a:solidFill>
              </a:rPr>
              <a:t>Unidad 3</a:t>
            </a:r>
            <a:endParaRPr sz="1800" u="sng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4048" l="0" r="0" t="12442"/>
          <a:stretch/>
        </p:blipFill>
        <p:spPr>
          <a:xfrm>
            <a:off x="0" y="0"/>
            <a:ext cx="9144000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556271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>
            <p:ph idx="4294967295" type="ctrTitle"/>
          </p:nvPr>
        </p:nvSpPr>
        <p:spPr>
          <a:xfrm>
            <a:off x="4368975" y="261625"/>
            <a:ext cx="28509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lt1"/>
                </a:solidFill>
              </a:rPr>
              <a:t>Animación y periféricos: Conceptos y aplicaciones</a:t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66" name="Google Shape;66;p2"/>
          <p:cNvCxnSpPr/>
          <p:nvPr/>
        </p:nvCxnSpPr>
        <p:spPr>
          <a:xfrm flipH="1">
            <a:off x="7259850" y="309275"/>
            <a:ext cx="132000" cy="272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7" name="Google Shape;6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2238" y="256888"/>
            <a:ext cx="13620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>
            <p:ph idx="4294967295" type="ctrTitle"/>
          </p:nvPr>
        </p:nvSpPr>
        <p:spPr>
          <a:xfrm>
            <a:off x="1086150" y="2041414"/>
            <a:ext cx="54291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chemeClr val="lt1"/>
                </a:solidFill>
              </a:rPr>
              <a:t>Funciones nativas de processing: Curvas y vertex</a:t>
            </a:r>
            <a:endParaRPr b="1"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3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" name="Google Shape;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 txBox="1"/>
          <p:nvPr/>
        </p:nvSpPr>
        <p:spPr>
          <a:xfrm>
            <a:off x="1159950" y="922350"/>
            <a:ext cx="6824100" cy="3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Si bien hemos visto como hacer círculos, estos se encuentran limitados ya que en realidad son elipses con anchos y altos variables. Con la función ellipse(x,y,ancho,alto) donde, si el ancho y alto son iguales, podemos formar un círculo.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Entonces, nos falta una manera de realizar gráficos que representen arcos y curvas. Esto será a través de arc(x1, y1, ancho, alto, r1, r2, MODE).  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En particular, para los radianes, podemos usar las palabras reservadas: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PI - HALF_PI - TWO_PI - QUARTER_PI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Además, los modos se pueden hacer a través de las palabras reservadas: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OPEN - CHORD - PIE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rgbClr val="55627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Arcos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</a:t>
            </a:r>
            <a:r>
              <a:rPr lang="es" sz="700">
                <a:solidFill>
                  <a:srgbClr val="556271"/>
                </a:solidFill>
              </a:rPr>
              <a:t>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g1daa9a625fe_0_1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3" name="Google Shape;83;g1daa9a625fe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1daa9a625fe_0_1"/>
          <p:cNvSpPr txBox="1"/>
          <p:nvPr/>
        </p:nvSpPr>
        <p:spPr>
          <a:xfrm>
            <a:off x="1159950" y="1249500"/>
            <a:ext cx="6824100" cy="26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Las curvas en processing se dividen en dos tipos principales: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Spline (Catmull - Rom)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Bézier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Ambas permiten crear curvas que devienen de funciones </a:t>
            </a:r>
            <a:r>
              <a:rPr lang="es" sz="1600">
                <a:solidFill>
                  <a:srgbClr val="556271"/>
                </a:solidFill>
              </a:rPr>
              <a:t>polinómicas</a:t>
            </a:r>
            <a:r>
              <a:rPr lang="es" sz="1600">
                <a:solidFill>
                  <a:srgbClr val="556271"/>
                </a:solidFill>
              </a:rPr>
              <a:t> a </a:t>
            </a:r>
            <a:r>
              <a:rPr lang="es" sz="1600">
                <a:solidFill>
                  <a:srgbClr val="556271"/>
                </a:solidFill>
              </a:rPr>
              <a:t>través</a:t>
            </a:r>
            <a:r>
              <a:rPr lang="es" sz="1600">
                <a:solidFill>
                  <a:srgbClr val="556271"/>
                </a:solidFill>
              </a:rPr>
              <a:t> de un punto inicial, uno final, y esto repetido con dos puntos de control. 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Al no ser partes de arcos, no necesito considerar los </a:t>
            </a:r>
            <a:r>
              <a:rPr lang="es" sz="1600">
                <a:solidFill>
                  <a:srgbClr val="556271"/>
                </a:solidFill>
              </a:rPr>
              <a:t>ángulos</a:t>
            </a:r>
            <a:r>
              <a:rPr lang="es" sz="1600">
                <a:solidFill>
                  <a:srgbClr val="556271"/>
                </a:solidFill>
              </a:rPr>
              <a:t> </a:t>
            </a:r>
            <a:r>
              <a:rPr lang="es" sz="1600">
                <a:solidFill>
                  <a:srgbClr val="556271"/>
                </a:solidFill>
              </a:rPr>
              <a:t>mas</a:t>
            </a:r>
            <a:r>
              <a:rPr lang="es" sz="1600">
                <a:solidFill>
                  <a:srgbClr val="556271"/>
                </a:solidFill>
              </a:rPr>
              <a:t> las tangentes y paralelas serán las que </a:t>
            </a:r>
            <a:r>
              <a:rPr lang="es" sz="1600">
                <a:solidFill>
                  <a:srgbClr val="556271"/>
                </a:solidFill>
              </a:rPr>
              <a:t>definen</a:t>
            </a:r>
            <a:r>
              <a:rPr lang="es" sz="1600">
                <a:solidFill>
                  <a:srgbClr val="556271"/>
                </a:solidFill>
              </a:rPr>
              <a:t> la curvatura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85" name="Google Shape;85;g1daa9a625fe_0_1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Curvas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86" name="Google Shape;86;g1daa9a625fe_0_1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g27de90c42bd_0_8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2" name="Google Shape;92;g27de90c42bd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27de90c42bd_0_8"/>
          <p:cNvSpPr txBox="1"/>
          <p:nvPr/>
        </p:nvSpPr>
        <p:spPr>
          <a:xfrm>
            <a:off x="1159950" y="1249500"/>
            <a:ext cx="6824100" cy="3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En el caso de un Spline (estrías), la </a:t>
            </a:r>
            <a:r>
              <a:rPr lang="es" sz="1600">
                <a:solidFill>
                  <a:srgbClr val="556271"/>
                </a:solidFill>
              </a:rPr>
              <a:t>función</a:t>
            </a:r>
            <a:r>
              <a:rPr lang="es" sz="1600">
                <a:solidFill>
                  <a:srgbClr val="556271"/>
                </a:solidFill>
              </a:rPr>
              <a:t> consiste de: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cpx1: Primer punto de control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cpy1: Primer punto de control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x1: Coordenadas 1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y1: Coordenadas 1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x2: Coordenadas 2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y2: Coordenadas 2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cpx2: Segundo punto de control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cpy2: Segundo punto de control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556271"/>
                </a:solidFill>
              </a:rPr>
              <a:t>curve(cpx1, cpy1, x1, y1, x2, y2, cpx2, cpy2);</a:t>
            </a:r>
            <a:endParaRPr b="1" sz="1600">
              <a:solidFill>
                <a:srgbClr val="556271"/>
              </a:solidFill>
            </a:endParaRPr>
          </a:p>
        </p:txBody>
      </p:sp>
      <p:sp>
        <p:nvSpPr>
          <p:cNvPr id="94" name="Google Shape;94;g27de90c42bd_0_8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Curvas: Spline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95" name="Google Shape;95;g27de90c42bd_0_8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g27de90c42bd_0_16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1" name="Google Shape;101;g27de90c42bd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7de90c42bd_0_16"/>
          <p:cNvSpPr txBox="1"/>
          <p:nvPr/>
        </p:nvSpPr>
        <p:spPr>
          <a:xfrm>
            <a:off x="1159950" y="1709700"/>
            <a:ext cx="6824100" cy="17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Se debe considerar que: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AutoNum type="arabicPeriod"/>
            </a:pPr>
            <a:r>
              <a:rPr b="1" lang="es" sz="1600">
                <a:solidFill>
                  <a:srgbClr val="556271"/>
                </a:solidFill>
              </a:rPr>
              <a:t>La tangente a la curva del punto inicial es paralela a la </a:t>
            </a:r>
            <a:r>
              <a:rPr b="1" lang="es" sz="1600">
                <a:solidFill>
                  <a:srgbClr val="556271"/>
                </a:solidFill>
              </a:rPr>
              <a:t>línea</a:t>
            </a:r>
            <a:r>
              <a:rPr b="1" lang="es" sz="1600">
                <a:solidFill>
                  <a:srgbClr val="556271"/>
                </a:solidFill>
              </a:rPr>
              <a:t> que va desde el primer punto de control al punto final.</a:t>
            </a:r>
            <a:endParaRPr b="1" sz="1600">
              <a:solidFill>
                <a:srgbClr val="556271"/>
              </a:solidFill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AutoNum type="arabicPeriod"/>
            </a:pPr>
            <a:r>
              <a:rPr b="1" lang="es" sz="1600">
                <a:solidFill>
                  <a:srgbClr val="556271"/>
                </a:solidFill>
              </a:rPr>
              <a:t>La tangente a la curva del punto final es paralela a la </a:t>
            </a:r>
            <a:r>
              <a:rPr b="1" lang="es" sz="1600">
                <a:solidFill>
                  <a:srgbClr val="556271"/>
                </a:solidFill>
              </a:rPr>
              <a:t>línea</a:t>
            </a:r>
            <a:r>
              <a:rPr b="1" lang="es" sz="1600">
                <a:solidFill>
                  <a:srgbClr val="556271"/>
                </a:solidFill>
              </a:rPr>
              <a:t> que va desde el segundo punto de control al punto inicial.</a:t>
            </a:r>
            <a:endParaRPr b="1" sz="1600">
              <a:solidFill>
                <a:srgbClr val="556271"/>
              </a:solidFill>
            </a:endParaRPr>
          </a:p>
          <a:p>
            <a:pPr indent="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03" name="Google Shape;103;g27de90c42bd_0_16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Curvas: Spline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04" name="Google Shape;104;g27de90c42bd_0_16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g27de90c42bd_0_0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0" name="Google Shape;110;g27de90c42b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7de90c42bd_0_0"/>
          <p:cNvSpPr txBox="1"/>
          <p:nvPr/>
        </p:nvSpPr>
        <p:spPr>
          <a:xfrm>
            <a:off x="1159950" y="857250"/>
            <a:ext cx="6824100" cy="3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En el caso de la curva de </a:t>
            </a:r>
            <a:r>
              <a:rPr lang="es" sz="1600">
                <a:solidFill>
                  <a:srgbClr val="556271"/>
                </a:solidFill>
              </a:rPr>
              <a:t>Bézier</a:t>
            </a:r>
            <a:r>
              <a:rPr lang="es" sz="1600">
                <a:solidFill>
                  <a:srgbClr val="556271"/>
                </a:solidFill>
              </a:rPr>
              <a:t>, los puntos de control cambian su influencia ya que </a:t>
            </a:r>
            <a:r>
              <a:rPr lang="es" sz="1600">
                <a:solidFill>
                  <a:srgbClr val="556271"/>
                </a:solidFill>
              </a:rPr>
              <a:t>aquí</a:t>
            </a:r>
            <a:r>
              <a:rPr lang="es" sz="1600">
                <a:solidFill>
                  <a:srgbClr val="556271"/>
                </a:solidFill>
              </a:rPr>
              <a:t> la importancia no son las tangentes sino las mediatrices.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cpx1: Primer punto de control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cpy1: Primer punto de control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x1: Coordenadas 1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y1: Coordenadas 1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x2: Coordenadas 2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y2: Coordenadas 2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cpx2: Segundo punto de control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cpy2: Segundo punto de control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rgbClr val="556271"/>
                </a:solidFill>
              </a:rPr>
              <a:t>bezier(x1, y1, cpx1, cpy1, cpx2, cpy2, x2, y2);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12" name="Google Shape;112;g27de90c42bd_0_0"/>
          <p:cNvSpPr txBox="1"/>
          <p:nvPr/>
        </p:nvSpPr>
        <p:spPr>
          <a:xfrm>
            <a:off x="314125" y="247650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Curvas: Bezier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13" name="Google Shape;113;g27de90c42bd_0_0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Vertex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498800" y="953400"/>
            <a:ext cx="6146400" cy="3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Sin embargo, con todas las herramientas </a:t>
            </a:r>
            <a:r>
              <a:rPr lang="es" sz="1600">
                <a:solidFill>
                  <a:srgbClr val="556271"/>
                </a:solidFill>
              </a:rPr>
              <a:t>gráficas</a:t>
            </a:r>
            <a:r>
              <a:rPr lang="es" sz="1600">
                <a:solidFill>
                  <a:srgbClr val="556271"/>
                </a:solidFill>
              </a:rPr>
              <a:t> que hemos incorporado, solamente podemos realizar formas simples las </a:t>
            </a:r>
            <a:r>
              <a:rPr lang="es" sz="1600">
                <a:solidFill>
                  <a:srgbClr val="556271"/>
                </a:solidFill>
              </a:rPr>
              <a:t>cuáles</a:t>
            </a:r>
            <a:r>
              <a:rPr lang="es" sz="1600">
                <a:solidFill>
                  <a:srgbClr val="556271"/>
                </a:solidFill>
              </a:rPr>
              <a:t> </a:t>
            </a:r>
            <a:r>
              <a:rPr lang="es" sz="1600">
                <a:solidFill>
                  <a:srgbClr val="556271"/>
                </a:solidFill>
              </a:rPr>
              <a:t>tendríamos</a:t>
            </a:r>
            <a:r>
              <a:rPr lang="es" sz="1600">
                <a:solidFill>
                  <a:srgbClr val="556271"/>
                </a:solidFill>
              </a:rPr>
              <a:t> que combinar para obtener una forma compleja (por ejemplo, </a:t>
            </a:r>
            <a:r>
              <a:rPr lang="es" sz="1600">
                <a:solidFill>
                  <a:srgbClr val="556271"/>
                </a:solidFill>
              </a:rPr>
              <a:t>múltiples</a:t>
            </a:r>
            <a:r>
              <a:rPr lang="es" sz="1600">
                <a:solidFill>
                  <a:srgbClr val="556271"/>
                </a:solidFill>
              </a:rPr>
              <a:t> curvas juntas, la forma de un auto con </a:t>
            </a:r>
            <a:r>
              <a:rPr lang="es" sz="1600">
                <a:solidFill>
                  <a:srgbClr val="556271"/>
                </a:solidFill>
              </a:rPr>
              <a:t>rectángulos).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Para ello, existe la función vertex, la cuál va a generar una forma a partir de la conjunción de múltiples puntos. Para ello, inicializamos la forma con </a:t>
            </a:r>
            <a:r>
              <a:rPr b="1" lang="es" sz="1600">
                <a:solidFill>
                  <a:srgbClr val="556271"/>
                </a:solidFill>
              </a:rPr>
              <a:t>beginShape</a:t>
            </a:r>
            <a:r>
              <a:rPr lang="es" sz="1600">
                <a:solidFill>
                  <a:srgbClr val="556271"/>
                </a:solidFill>
              </a:rPr>
              <a:t>() y a partir de ese comando definimos los puntos con </a:t>
            </a:r>
            <a:r>
              <a:rPr b="1" lang="es" sz="1600">
                <a:solidFill>
                  <a:srgbClr val="556271"/>
                </a:solidFill>
              </a:rPr>
              <a:t>vertex</a:t>
            </a:r>
            <a:r>
              <a:rPr lang="es" sz="1600">
                <a:solidFill>
                  <a:srgbClr val="556271"/>
                </a:solidFill>
              </a:rPr>
              <a:t>(x,y). Por último, escribimos </a:t>
            </a:r>
            <a:r>
              <a:rPr b="1" lang="es" sz="1600">
                <a:solidFill>
                  <a:srgbClr val="556271"/>
                </a:solidFill>
              </a:rPr>
              <a:t>endShape</a:t>
            </a:r>
            <a:r>
              <a:rPr lang="es" sz="1600">
                <a:solidFill>
                  <a:srgbClr val="556271"/>
                </a:solidFill>
              </a:rPr>
              <a:t>() para indicar el fin de la forma.  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62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rgbClr val="55627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g1daa9a625fe_0_21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8" name="Google Shape;128;g1daa9a625fe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1daa9a625fe_0_21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Vertex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30" name="Google Shape;130;g1daa9a625fe_0_21"/>
          <p:cNvSpPr txBox="1"/>
          <p:nvPr/>
        </p:nvSpPr>
        <p:spPr>
          <a:xfrm>
            <a:off x="1498800" y="1119000"/>
            <a:ext cx="6146400" cy="2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En particular, los vertex posibles son: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vertex() -&gt; formas rectangulares y </a:t>
            </a:r>
            <a:r>
              <a:rPr lang="es" sz="1600">
                <a:solidFill>
                  <a:srgbClr val="556271"/>
                </a:solidFill>
              </a:rPr>
              <a:t>triangulares</a:t>
            </a:r>
            <a:endParaRPr sz="1600">
              <a:solidFill>
                <a:srgbClr val="556271"/>
              </a:solidFill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curveVertex() -&gt; conjunto de </a:t>
            </a:r>
            <a:r>
              <a:rPr lang="es" sz="1600">
                <a:solidFill>
                  <a:srgbClr val="556271"/>
                </a:solidFill>
              </a:rPr>
              <a:t>estrías</a:t>
            </a:r>
            <a:r>
              <a:rPr lang="es" sz="1600">
                <a:solidFill>
                  <a:srgbClr val="556271"/>
                </a:solidFill>
              </a:rPr>
              <a:t> para formar una curva</a:t>
            </a:r>
            <a:endParaRPr sz="1600">
              <a:solidFill>
                <a:srgbClr val="556271"/>
              </a:solidFill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bezierVertex() -&gt; conjunto de curvas de Bézier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Además, </a:t>
            </a:r>
            <a:r>
              <a:rPr lang="es" sz="1600">
                <a:solidFill>
                  <a:srgbClr val="556271"/>
                </a:solidFill>
              </a:rPr>
              <a:t>sí</a:t>
            </a:r>
            <a:r>
              <a:rPr lang="es" sz="1600">
                <a:solidFill>
                  <a:srgbClr val="556271"/>
                </a:solidFill>
              </a:rPr>
              <a:t> bien será visto en mayor profundidad </a:t>
            </a:r>
            <a:r>
              <a:rPr lang="es" sz="1600">
                <a:solidFill>
                  <a:srgbClr val="556271"/>
                </a:solidFill>
              </a:rPr>
              <a:t>más</a:t>
            </a:r>
            <a:r>
              <a:rPr lang="es" sz="1600">
                <a:solidFill>
                  <a:srgbClr val="556271"/>
                </a:solidFill>
              </a:rPr>
              <a:t> adelante, podemos almacenar estos dibujos en objetos de la clase PShape la </a:t>
            </a:r>
            <a:r>
              <a:rPr lang="es" sz="1600">
                <a:solidFill>
                  <a:srgbClr val="556271"/>
                </a:solidFill>
              </a:rPr>
              <a:t>cuál</a:t>
            </a:r>
            <a:r>
              <a:rPr lang="es" sz="1600">
                <a:solidFill>
                  <a:srgbClr val="556271"/>
                </a:solidFill>
              </a:rPr>
              <a:t> nos da acceso a muchos </a:t>
            </a:r>
            <a:r>
              <a:rPr lang="es" sz="1600">
                <a:solidFill>
                  <a:srgbClr val="556271"/>
                </a:solidFill>
              </a:rPr>
              <a:t>métodos</a:t>
            </a:r>
            <a:r>
              <a:rPr lang="es" sz="1600">
                <a:solidFill>
                  <a:srgbClr val="556271"/>
                </a:solidFill>
              </a:rPr>
              <a:t> extremadamente </a:t>
            </a:r>
            <a:r>
              <a:rPr lang="es" sz="1600">
                <a:solidFill>
                  <a:srgbClr val="556271"/>
                </a:solidFill>
              </a:rPr>
              <a:t>útiles</a:t>
            </a:r>
            <a:r>
              <a:rPr lang="es" sz="1600">
                <a:solidFill>
                  <a:srgbClr val="556271"/>
                </a:solidFill>
              </a:rPr>
              <a:t>.</a:t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31" name="Google Shape;131;g1daa9a625fe_0_21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1fab142ac1e_0_13"/>
          <p:cNvPicPr preferRelativeResize="0"/>
          <p:nvPr/>
        </p:nvPicPr>
        <p:blipFill rotWithShape="1">
          <a:blip r:embed="rId3">
            <a:alphaModFix/>
          </a:blip>
          <a:srcRect b="4050" l="0" r="0" t="12442"/>
          <a:stretch/>
        </p:blipFill>
        <p:spPr>
          <a:xfrm>
            <a:off x="0" y="0"/>
            <a:ext cx="9144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1fab142ac1e_0_13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556271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1fab142ac1e_0_13"/>
          <p:cNvSpPr txBox="1"/>
          <p:nvPr>
            <p:ph idx="4294967295" type="ctrTitle"/>
          </p:nvPr>
        </p:nvSpPr>
        <p:spPr>
          <a:xfrm>
            <a:off x="4368975" y="261625"/>
            <a:ext cx="28509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lt1"/>
                </a:solidFill>
              </a:rPr>
              <a:t>Animación y periféricos: Conceptos y aplicaciones</a:t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139" name="Google Shape;139;g1fab142ac1e_0_13"/>
          <p:cNvCxnSpPr/>
          <p:nvPr/>
        </p:nvCxnSpPr>
        <p:spPr>
          <a:xfrm flipH="1">
            <a:off x="7259850" y="309275"/>
            <a:ext cx="132000" cy="272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0" name="Google Shape;140;g1fab142ac1e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2238" y="256888"/>
            <a:ext cx="13620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1fab142ac1e_0_13"/>
          <p:cNvSpPr txBox="1"/>
          <p:nvPr>
            <p:ph idx="4294967295" type="ctrTitle"/>
          </p:nvPr>
        </p:nvSpPr>
        <p:spPr>
          <a:xfrm>
            <a:off x="1086150" y="2041414"/>
            <a:ext cx="54291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chemeClr val="lt1"/>
                </a:solidFill>
              </a:rPr>
              <a:t>Matrix, movimientos y continuidad: Conceptos para animación</a:t>
            </a:r>
            <a:endParaRPr b="1"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5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326450" y="242575"/>
            <a:ext cx="2658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Animación: Movimiento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498800" y="1593450"/>
            <a:ext cx="61464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Para comenzar con funciones de movimiento y animación, primero debemos entender el funcionamiento dinámico de dibujo que tiene Processing a través del ratio de frames, el cual nos indica la velocidad de creación de las imágenes que vemos.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La función que maneja esté ratio es frameRate() y la variable </a:t>
            </a:r>
            <a:r>
              <a:rPr lang="es" sz="1600">
                <a:solidFill>
                  <a:srgbClr val="556271"/>
                </a:solidFill>
              </a:rPr>
              <a:t>homónima</a:t>
            </a:r>
            <a:r>
              <a:rPr lang="es" sz="1600">
                <a:solidFill>
                  <a:srgbClr val="556271"/>
                </a:solidFill>
              </a:rPr>
              <a:t>.</a:t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g27de90c42bd_0_26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6" name="Google Shape;156;g27de90c42bd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27de90c42bd_0_26"/>
          <p:cNvSpPr txBox="1"/>
          <p:nvPr/>
        </p:nvSpPr>
        <p:spPr>
          <a:xfrm>
            <a:off x="326450" y="242575"/>
            <a:ext cx="2658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Animación: Movimiento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58" name="Google Shape;158;g27de90c42bd_0_26"/>
          <p:cNvSpPr txBox="1"/>
          <p:nvPr/>
        </p:nvSpPr>
        <p:spPr>
          <a:xfrm>
            <a:off x="1498800" y="1593450"/>
            <a:ext cx="61464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Algunas aclaraciones a la hora de buscar movimiento: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El movimiento se va a obtener al re-dibujar una forma con una </a:t>
            </a:r>
            <a:r>
              <a:rPr lang="es" sz="1600">
                <a:solidFill>
                  <a:srgbClr val="556271"/>
                </a:solidFill>
              </a:rPr>
              <a:t>ubicación</a:t>
            </a:r>
            <a:r>
              <a:rPr lang="es" sz="1600">
                <a:solidFill>
                  <a:srgbClr val="556271"/>
                </a:solidFill>
              </a:rPr>
              <a:t> diferente. 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Al mover nuestros objetos, </a:t>
            </a:r>
            <a:r>
              <a:rPr lang="es" sz="1600">
                <a:solidFill>
                  <a:srgbClr val="556271"/>
                </a:solidFill>
              </a:rPr>
              <a:t>también</a:t>
            </a:r>
            <a:r>
              <a:rPr lang="es" sz="1600">
                <a:solidFill>
                  <a:srgbClr val="556271"/>
                </a:solidFill>
              </a:rPr>
              <a:t> podemos cambiar la matriz sobre la que </a:t>
            </a:r>
            <a:r>
              <a:rPr lang="es" sz="1600">
                <a:solidFill>
                  <a:srgbClr val="556271"/>
                </a:solidFill>
              </a:rPr>
              <a:t>está</a:t>
            </a:r>
            <a:r>
              <a:rPr lang="es" sz="1600">
                <a:solidFill>
                  <a:srgbClr val="556271"/>
                </a:solidFill>
              </a:rPr>
              <a:t> superpuesta para acompañar el </a:t>
            </a:r>
            <a:r>
              <a:rPr lang="es" sz="1600">
                <a:solidFill>
                  <a:srgbClr val="556271"/>
                </a:solidFill>
              </a:rPr>
              <a:t>movimiento</a:t>
            </a:r>
            <a:r>
              <a:rPr lang="es" sz="1600">
                <a:solidFill>
                  <a:srgbClr val="556271"/>
                </a:solidFill>
              </a:rPr>
              <a:t>.</a:t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59" name="Google Shape;159;g27de90c42bd_0_26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g1c3648a13aa_0_42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5" name="Google Shape;165;g1c3648a13aa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1c3648a13aa_0_42"/>
          <p:cNvSpPr txBox="1"/>
          <p:nvPr/>
        </p:nvSpPr>
        <p:spPr>
          <a:xfrm>
            <a:off x="326450" y="242575"/>
            <a:ext cx="2658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Animación: Matrix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67" name="Google Shape;167;g1c3648a13aa_0_42"/>
          <p:cNvSpPr txBox="1"/>
          <p:nvPr/>
        </p:nvSpPr>
        <p:spPr>
          <a:xfrm>
            <a:off x="1498800" y="1275896"/>
            <a:ext cx="6146400" cy="25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Las transformaciones son modificaciones a los ejes que modifican la posición de los dibujos que hagamos. Estas modificaciones se guardan en algo llamado matriz. A continuación veremos las principales transformaciones posibles. Para contener una transformación a un conjunto de acciones (líneas de código), la podemos encerrar entre las funciones pushMatrix() y popMatrix() las cuales inicializan y finalizan matrices modificadas respectivamente.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68" name="Google Shape;168;g1c3648a13aa_0_42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g1c3648a13aa_0_53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4" name="Google Shape;174;g1c3648a13aa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1c3648a13aa_0_53"/>
          <p:cNvSpPr txBox="1"/>
          <p:nvPr/>
        </p:nvSpPr>
        <p:spPr>
          <a:xfrm>
            <a:off x="326450" y="242575"/>
            <a:ext cx="2658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Animación: Traslación 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76" name="Google Shape;176;g1c3648a13aa_0_53"/>
          <p:cNvSpPr txBox="1"/>
          <p:nvPr/>
        </p:nvSpPr>
        <p:spPr>
          <a:xfrm>
            <a:off x="1498800" y="1413000"/>
            <a:ext cx="6146400" cy="2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Podemos (o no) iniciar un push y pop de matrix sin embargo la </a:t>
            </a:r>
            <a:r>
              <a:rPr lang="es" sz="1600">
                <a:solidFill>
                  <a:srgbClr val="556271"/>
                </a:solidFill>
              </a:rPr>
              <a:t>traslación</a:t>
            </a:r>
            <a:r>
              <a:rPr lang="es" sz="1600">
                <a:solidFill>
                  <a:srgbClr val="556271"/>
                </a:solidFill>
              </a:rPr>
              <a:t> en </a:t>
            </a:r>
            <a:r>
              <a:rPr lang="es" sz="1600">
                <a:solidFill>
                  <a:srgbClr val="556271"/>
                </a:solidFill>
              </a:rPr>
              <a:t>sí</a:t>
            </a:r>
            <a:r>
              <a:rPr lang="es" sz="1600">
                <a:solidFill>
                  <a:srgbClr val="556271"/>
                </a:solidFill>
              </a:rPr>
              <a:t> se realiza a </a:t>
            </a:r>
            <a:r>
              <a:rPr lang="es" sz="1600">
                <a:solidFill>
                  <a:srgbClr val="556271"/>
                </a:solidFill>
              </a:rPr>
              <a:t>través</a:t>
            </a:r>
            <a:r>
              <a:rPr lang="es" sz="1600">
                <a:solidFill>
                  <a:srgbClr val="556271"/>
                </a:solidFill>
              </a:rPr>
              <a:t> de: </a:t>
            </a:r>
            <a:r>
              <a:rPr b="1" lang="es" sz="1600">
                <a:solidFill>
                  <a:srgbClr val="556271"/>
                </a:solidFill>
              </a:rPr>
              <a:t>translate(float x, float y)</a:t>
            </a:r>
            <a:r>
              <a:rPr lang="es" sz="1600">
                <a:solidFill>
                  <a:srgbClr val="556271"/>
                </a:solidFill>
              </a:rPr>
              <a:t> la cual modifica el eje de dibujo. Es decir, cambia el origen de coordenadas. Nos servirá mucho cuando por ejemplo queramos mover un objeto sin modificar los valores iniciales del mismo.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También podemos modificar la escala de un dibujo con la función void scale(float aumento).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77" name="Google Shape;177;g1c3648a13aa_0_53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g1c3648a13aa_0_65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3" name="Google Shape;183;g1c3648a13aa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1c3648a13aa_0_65"/>
          <p:cNvSpPr txBox="1"/>
          <p:nvPr/>
        </p:nvSpPr>
        <p:spPr>
          <a:xfrm>
            <a:off x="326450" y="242575"/>
            <a:ext cx="2658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Animación: Rotación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85" name="Google Shape;185;g1c3648a13aa_0_65"/>
          <p:cNvSpPr txBox="1"/>
          <p:nvPr/>
        </p:nvSpPr>
        <p:spPr>
          <a:xfrm>
            <a:off x="1498800" y="1296023"/>
            <a:ext cx="6146400" cy="1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También</a:t>
            </a:r>
            <a:r>
              <a:rPr lang="es" sz="1600">
                <a:solidFill>
                  <a:srgbClr val="556271"/>
                </a:solidFill>
              </a:rPr>
              <a:t> p</a:t>
            </a:r>
            <a:r>
              <a:rPr lang="es" sz="1600">
                <a:solidFill>
                  <a:srgbClr val="556271"/>
                </a:solidFill>
              </a:rPr>
              <a:t>odemos rotar el eje de dibujo con la función rotate(ángulo) que recibe un parámetro en radianes.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anguloEnRadian=radians(ángulo);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 Es recomendable trasladar el sistema antes de rotar, ya que sino, nos quedará parte del dibujo afuera.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pic>
        <p:nvPicPr>
          <p:cNvPr id="186" name="Google Shape;186;g1c3648a13aa_0_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9775" y="2834725"/>
            <a:ext cx="222885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1c3648a13aa_0_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8800" y="2867025"/>
            <a:ext cx="2495550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1c3648a13aa_0_65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1dcd01fe766_1_0"/>
          <p:cNvPicPr preferRelativeResize="0"/>
          <p:nvPr/>
        </p:nvPicPr>
        <p:blipFill rotWithShape="1">
          <a:blip r:embed="rId3">
            <a:alphaModFix/>
          </a:blip>
          <a:srcRect b="4050" l="0" r="0" t="12442"/>
          <a:stretch/>
        </p:blipFill>
        <p:spPr>
          <a:xfrm>
            <a:off x="0" y="0"/>
            <a:ext cx="9144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1dcd01fe766_1_0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556271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1dcd01fe766_1_0"/>
          <p:cNvSpPr txBox="1"/>
          <p:nvPr>
            <p:ph idx="4294967295" type="ctrTitle"/>
          </p:nvPr>
        </p:nvSpPr>
        <p:spPr>
          <a:xfrm>
            <a:off x="4368975" y="261625"/>
            <a:ext cx="28509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lt1"/>
                </a:solidFill>
              </a:rPr>
              <a:t>Animación y periféricos: Conceptos y aplicaciones</a:t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196" name="Google Shape;196;g1dcd01fe766_1_0"/>
          <p:cNvCxnSpPr/>
          <p:nvPr/>
        </p:nvCxnSpPr>
        <p:spPr>
          <a:xfrm flipH="1">
            <a:off x="7259850" y="309275"/>
            <a:ext cx="132000" cy="272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7" name="Google Shape;197;g1dcd01fe766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2238" y="256888"/>
            <a:ext cx="13620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1dcd01fe766_1_0"/>
          <p:cNvSpPr txBox="1"/>
          <p:nvPr>
            <p:ph idx="4294967295" type="ctrTitle"/>
          </p:nvPr>
        </p:nvSpPr>
        <p:spPr>
          <a:xfrm>
            <a:off x="1086150" y="2041414"/>
            <a:ext cx="54291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600">
                <a:solidFill>
                  <a:schemeClr val="lt1"/>
                </a:solidFill>
              </a:rPr>
              <a:t>Periféricos de la computadora: Manejo de mouse, teclado y otros</a:t>
            </a:r>
            <a:endParaRPr b="1"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Google Shape;203;p6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 txBox="1"/>
          <p:nvPr/>
        </p:nvSpPr>
        <p:spPr>
          <a:xfrm>
            <a:off x="326450" y="242575"/>
            <a:ext cx="35169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Periféricos</a:t>
            </a:r>
            <a:r>
              <a:rPr b="1" lang="es" sz="3000">
                <a:solidFill>
                  <a:srgbClr val="434343"/>
                </a:solidFill>
              </a:rPr>
              <a:t>: Mouse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1498800" y="1400700"/>
            <a:ext cx="6146400" cy="23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Processing </a:t>
            </a:r>
            <a:r>
              <a:rPr lang="es" sz="1600">
                <a:solidFill>
                  <a:srgbClr val="556271"/>
                </a:solidFill>
              </a:rPr>
              <a:t>también</a:t>
            </a:r>
            <a:r>
              <a:rPr lang="es" sz="1600">
                <a:solidFill>
                  <a:srgbClr val="556271"/>
                </a:solidFill>
              </a:rPr>
              <a:t> nos da herramientas como para poder utilizar elementos de la computadora tales como el mouse, el teclado, la </a:t>
            </a:r>
            <a:r>
              <a:rPr lang="es" sz="1600">
                <a:solidFill>
                  <a:srgbClr val="556271"/>
                </a:solidFill>
              </a:rPr>
              <a:t>cámara</a:t>
            </a:r>
            <a:r>
              <a:rPr lang="es" sz="1600">
                <a:solidFill>
                  <a:srgbClr val="556271"/>
                </a:solidFill>
              </a:rPr>
              <a:t>, etc.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Para manejar el mouse, vamos a poder recibir las coordenadas del mismo. Esto se hará con las variables “mouseX” y “mouseY”.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También podemos guardar la última posición con la constante “pmouseX” y “pmouseY”.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g1c3648a13aa_0_30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3" name="Google Shape;213;g1c3648a13aa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1c3648a13aa_0_30"/>
          <p:cNvSpPr txBox="1"/>
          <p:nvPr/>
        </p:nvSpPr>
        <p:spPr>
          <a:xfrm>
            <a:off x="326450" y="242575"/>
            <a:ext cx="35661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Periféricos: Mouse 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215" name="Google Shape;215;g1c3648a13aa_0_30"/>
          <p:cNvSpPr txBox="1"/>
          <p:nvPr/>
        </p:nvSpPr>
        <p:spPr>
          <a:xfrm>
            <a:off x="1498800" y="1259250"/>
            <a:ext cx="6146400" cy="29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La ubicación del mouse no es lo único que podemos utilizar, podemos manejar ciertos eventos como cuando se aprieta, cuando se suelta, cuando se mueve, etc.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mouseDragged(): arrastre de mouse.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mousePressed(): mouse apretado.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mouseClicked(): mouse clickeado (luego de que se aprieta Y suelta).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mouseMoved(): movimiento del mouse.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56271"/>
                </a:solidFill>
              </a:rPr>
              <a:t>Todos estos eventos tienen un atributo equivalente del tipo bool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216" name="Google Shape;216;g1c3648a13aa_0_30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" name="Google Shape;221;g1c3648a13aa_0_76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2" name="Google Shape;222;g1c3648a13aa_0_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1c3648a13aa_0_76"/>
          <p:cNvSpPr txBox="1"/>
          <p:nvPr/>
        </p:nvSpPr>
        <p:spPr>
          <a:xfrm>
            <a:off x="326450" y="242575"/>
            <a:ext cx="3664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rgbClr val="434343"/>
                </a:solidFill>
              </a:rPr>
              <a:t>Periféricos: Teclado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224" name="Google Shape;224;g1c3648a13aa_0_76"/>
          <p:cNvSpPr txBox="1"/>
          <p:nvPr/>
        </p:nvSpPr>
        <p:spPr>
          <a:xfrm>
            <a:off x="1498800" y="1239750"/>
            <a:ext cx="6146400" cy="26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556271"/>
                </a:solidFill>
              </a:rPr>
              <a:t>Para manejar el teclado, el funcionamiento es </a:t>
            </a:r>
            <a:r>
              <a:rPr lang="es" sz="1600">
                <a:solidFill>
                  <a:srgbClr val="556271"/>
                </a:solidFill>
              </a:rPr>
              <a:t>idéntico</a:t>
            </a:r>
            <a:r>
              <a:rPr lang="es" sz="1600">
                <a:solidFill>
                  <a:srgbClr val="556271"/>
                </a:solidFill>
              </a:rPr>
              <a:t> con los siguientes eventos siendo los principales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keyPressed(): tecla apretada.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keyReleased(): tecla soltada.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keyCode(): </a:t>
            </a:r>
            <a:r>
              <a:rPr lang="es" sz="1600">
                <a:solidFill>
                  <a:srgbClr val="556271"/>
                </a:solidFill>
              </a:rPr>
              <a:t>UP, DOWN, LEFT, RIGHT arrow keys and ALT, CONTROL, SHIFT.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s" sz="1600">
                <a:solidFill>
                  <a:srgbClr val="556271"/>
                </a:solidFill>
              </a:rPr>
              <a:t>key: palabra reservada para tecla perteneciente a la tabla ASCII.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225" name="Google Shape;225;g1c3648a13aa_0_76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556271"/>
                </a:solidFill>
              </a:rPr>
              <a:t>Interfaces Gráficas y Procesamiento de Datos  / Módulo 1 / Unidad 3  / Animación y periféricos: Conceptos y aplicaciones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2"/>
          <p:cNvPicPr preferRelativeResize="0"/>
          <p:nvPr/>
        </p:nvPicPr>
        <p:blipFill rotWithShape="1">
          <a:blip r:embed="rId3">
            <a:alphaModFix/>
          </a:blip>
          <a:srcRect b="10202" l="9" r="1028" t="629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2"/>
          <p:cNvSpPr/>
          <p:nvPr/>
        </p:nvSpPr>
        <p:spPr>
          <a:xfrm>
            <a:off x="-75" y="0"/>
            <a:ext cx="9144000" cy="5153100"/>
          </a:xfrm>
          <a:prstGeom prst="rect">
            <a:avLst/>
          </a:prstGeom>
          <a:solidFill>
            <a:srgbClr val="556271">
              <a:alpha val="5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 txBox="1"/>
          <p:nvPr>
            <p:ph idx="4294967295" type="ctrTitle"/>
          </p:nvPr>
        </p:nvSpPr>
        <p:spPr>
          <a:xfrm>
            <a:off x="5505750" y="261625"/>
            <a:ext cx="1714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0" i="0" sz="3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12"/>
          <p:cNvCxnSpPr/>
          <p:nvPr/>
        </p:nvCxnSpPr>
        <p:spPr>
          <a:xfrm flipH="1">
            <a:off x="7259850" y="309275"/>
            <a:ext cx="132000" cy="272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4" name="Google Shape;23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2238" y="256888"/>
            <a:ext cx="13620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2"/>
          <p:cNvSpPr txBox="1"/>
          <p:nvPr>
            <p:ph idx="4294967295" type="ctrTitle"/>
          </p:nvPr>
        </p:nvSpPr>
        <p:spPr>
          <a:xfrm>
            <a:off x="1086150" y="2041425"/>
            <a:ext cx="68145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